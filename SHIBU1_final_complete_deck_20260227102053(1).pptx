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 id="272" r:id="rId15"/>
    <p:sldId id="273" r:id="rId16"/>
    <p:sldId id="274" r:id="rId17"/>
    <p:sldId id="275" r:id="rId18"/>
    <p:sldId id="276" r:id="rId19"/>
    <p:sldId id="277"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7"/>
    <p:restoredTop sz="94610"/>
  </p:normalViewPr>
  <p:slideViewPr>
    <p:cSldViewPr snapToGrid="0" snapToObjects="1">
      <p:cViewPr varScale="1">
        <p:scale>
          <a:sx n="115" d="100"/>
          <a:sy n="115" d="100"/>
        </p:scale>
        <p:origin x="26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1720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5.png"/><Relationship Id="rId10"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4.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4.pn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4.png"/><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4.png"/><Relationship Id="rId10" Type="http://schemas.openxmlformats.org/officeDocument/2006/relationships/image" Target="../media/image57.png"/><Relationship Id="rId4" Type="http://schemas.openxmlformats.org/officeDocument/2006/relationships/image" Target="../media/image5.png"/><Relationship Id="rId9"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4.png"/><Relationship Id="rId9" Type="http://schemas.openxmlformats.org/officeDocument/2006/relationships/image" Target="../media/image6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4.png"/><Relationship Id="rId7" Type="http://schemas.openxmlformats.org/officeDocument/2006/relationships/image" Target="../media/image7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6.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4.png"/><Relationship Id="rId7" Type="http://schemas.openxmlformats.org/officeDocument/2006/relationships/image" Target="../media/image7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4.png"/><Relationship Id="rId4" Type="http://schemas.openxmlformats.org/officeDocument/2006/relationships/image" Target="../media/image7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6705295" y="0"/>
            <a:ext cx="5486400" cy="6858000"/>
          </a:xfrm>
          <a:custGeom>
            <a:avLst/>
            <a:gdLst/>
            <a:ahLst/>
            <a:cxnLst/>
            <a:rect l="l" t="t" r="r" b="b"/>
            <a:pathLst>
              <a:path w="5486400" h="6858000">
                <a:moveTo>
                  <a:pt x="1371600" y="0"/>
                </a:moveTo>
                <a:lnTo>
                  <a:pt x="5486400" y="0"/>
                </a:lnTo>
                <a:lnTo>
                  <a:pt x="5486400" y="6858000"/>
                </a:lnTo>
                <a:lnTo>
                  <a:pt x="0" y="6858000"/>
                </a:lnTo>
                <a:close/>
              </a:path>
            </a:pathLst>
          </a:custGeom>
          <a:solidFill>
            <a:srgbClr val="1A3A8A"/>
          </a:solidFill>
          <a:ln/>
        </p:spPr>
        <p:txBody>
          <a:bodyPr/>
          <a:lstStyle/>
          <a:p>
            <a:endParaRPr lang="ja-JP" altLang="en-US"/>
          </a:p>
        </p:txBody>
      </p:sp>
      <p:sp>
        <p:nvSpPr>
          <p:cNvPr id="4" name="Shape 2"/>
          <p:cNvSpPr/>
          <p:nvPr/>
        </p:nvSpPr>
        <p:spPr>
          <a:xfrm>
            <a:off x="9334195" y="4000500"/>
            <a:ext cx="3810305" cy="3810305"/>
          </a:xfrm>
          <a:prstGeom prst="ellipse">
            <a:avLst/>
          </a:prstGeom>
          <a:noFill/>
          <a:ln w="25400">
            <a:solidFill>
              <a:srgbClr val="FFFFFF">
                <a:alpha val="10000"/>
              </a:srgbClr>
            </a:solidFill>
            <a:prstDash val="solid"/>
          </a:ln>
        </p:spPr>
        <p:txBody>
          <a:bodyPr/>
          <a:lstStyle/>
          <a:p>
            <a:endParaRPr lang="ja-JP" altLang="en-US"/>
          </a:p>
        </p:txBody>
      </p:sp>
      <p:pic>
        <p:nvPicPr>
          <p:cNvPr id="5" name="Image 0" descr="preencoded.png"/>
          <p:cNvPicPr>
            <a:picLocks noChangeAspect="1"/>
          </p:cNvPicPr>
          <p:nvPr/>
        </p:nvPicPr>
        <p:blipFill>
          <a:blip r:embed="rId3"/>
          <a:srcRect l="-400" r="-400"/>
          <a:stretch/>
        </p:blipFill>
        <p:spPr>
          <a:xfrm>
            <a:off x="11350447" y="0"/>
            <a:ext cx="19202" cy="6858000"/>
          </a:xfrm>
          <a:prstGeom prst="rect">
            <a:avLst/>
          </a:prstGeom>
        </p:spPr>
      </p:pic>
      <p:sp>
        <p:nvSpPr>
          <p:cNvPr id="6" name="Text 3"/>
          <p:cNvSpPr txBox="1"/>
          <p:nvPr/>
        </p:nvSpPr>
        <p:spPr>
          <a:xfrm>
            <a:off x="8878824" y="2743200"/>
            <a:ext cx="2744114" cy="1143000"/>
          </a:xfrm>
          <a:prstGeom prst="rect">
            <a:avLst/>
          </a:prstGeom>
          <a:noFill/>
          <a:ln/>
        </p:spPr>
        <p:txBody>
          <a:bodyPr wrap="square" lIns="0" tIns="0" rIns="0" bIns="0" rtlCol="0" anchor="t"/>
          <a:lstStyle/>
          <a:p>
            <a:pPr marL="0" indent="0" algn="r">
              <a:buNone/>
            </a:pPr>
            <a:r>
              <a:rPr lang="en-US" sz="4500" b="1" dirty="0">
                <a:solidFill>
                  <a:srgbClr val="FFFFFF">
                    <a:alpha val="20000"/>
                  </a:srgbClr>
                </a:solidFill>
                <a:latin typeface="Noto Sans JP" pitchFamily="34" charset="0"/>
                <a:ea typeface="Noto Sans JP" pitchFamily="34" charset="-122"/>
                <a:cs typeface="Noto Sans JP" pitchFamily="34" charset="-120"/>
              </a:rPr>
              <a:t>2026</a:t>
            </a:r>
            <a:endParaRPr lang="en-US" sz="4500" dirty="0"/>
          </a:p>
          <a:p>
            <a:pPr marL="0" indent="0" algn="r">
              <a:buNone/>
            </a:pPr>
            <a:r>
              <a:rPr lang="en-US" sz="4500" b="1" dirty="0">
                <a:solidFill>
                  <a:srgbClr val="FFFFFF">
                    <a:alpha val="20000"/>
                  </a:srgbClr>
                </a:solidFill>
                <a:latin typeface="Noto Sans JP" pitchFamily="34" charset="0"/>
                <a:ea typeface="Noto Sans JP" pitchFamily="34" charset="-122"/>
                <a:cs typeface="Noto Sans JP" pitchFamily="34" charset="-120"/>
              </a:rPr>
              <a:t>PROJECT</a:t>
            </a:r>
            <a:endParaRPr lang="en-US" sz="4500" dirty="0"/>
          </a:p>
        </p:txBody>
      </p:sp>
      <p:pic>
        <p:nvPicPr>
          <p:cNvPr id="7" name="Image 1" descr="preencoded.png"/>
          <p:cNvPicPr>
            <a:picLocks noChangeAspect="1"/>
          </p:cNvPicPr>
          <p:nvPr/>
        </p:nvPicPr>
        <p:blipFill>
          <a:blip r:embed="rId4"/>
          <a:srcRect l="-181" r="-181"/>
          <a:stretch/>
        </p:blipFill>
        <p:spPr>
          <a:xfrm>
            <a:off x="761695" y="1802282"/>
            <a:ext cx="761695" cy="75895"/>
          </a:xfrm>
          <a:prstGeom prst="rect">
            <a:avLst/>
          </a:prstGeom>
        </p:spPr>
      </p:pic>
      <p:sp>
        <p:nvSpPr>
          <p:cNvPr id="8" name="Text 4"/>
          <p:cNvSpPr txBox="1"/>
          <p:nvPr/>
        </p:nvSpPr>
        <p:spPr>
          <a:xfrm>
            <a:off x="761695" y="2164385"/>
            <a:ext cx="6591910" cy="819302"/>
          </a:xfrm>
          <a:prstGeom prst="rect">
            <a:avLst/>
          </a:prstGeom>
          <a:noFill/>
          <a:ln/>
        </p:spPr>
        <p:txBody>
          <a:bodyPr wrap="square" lIns="0" tIns="0" rIns="0" bIns="0" rtlCol="0" anchor="ctr"/>
          <a:lstStyle/>
          <a:p>
            <a:pPr marL="0" indent="0" algn="l">
              <a:buNone/>
            </a:pPr>
            <a:r>
              <a:rPr lang="en-US" sz="6400" b="1" kern="0" spc="-150" dirty="0" err="1">
                <a:solidFill>
                  <a:srgbClr val="1A3A8A"/>
                </a:solidFill>
                <a:latin typeface="Noto Sans JP" pitchFamily="34" charset="0"/>
                <a:ea typeface="Noto Sans JP" pitchFamily="34" charset="-122"/>
              </a:rPr>
              <a:t>渋一（シブワン</a:t>
            </a:r>
            <a:r>
              <a:rPr lang="en-US" sz="6400" b="1" kern="0" spc="-150" dirty="0">
                <a:solidFill>
                  <a:srgbClr val="1A3A8A"/>
                </a:solidFill>
                <a:latin typeface="Noto Sans JP" pitchFamily="34" charset="0"/>
                <a:ea typeface="Noto Sans JP" pitchFamily="34" charset="-122"/>
              </a:rPr>
              <a:t>）</a:t>
            </a:r>
            <a:endParaRPr lang="en-US" sz="6400" dirty="0"/>
          </a:p>
        </p:txBody>
      </p:sp>
      <p:sp>
        <p:nvSpPr>
          <p:cNvPr id="9" name="Text 5"/>
          <p:cNvSpPr txBox="1"/>
          <p:nvPr/>
        </p:nvSpPr>
        <p:spPr>
          <a:xfrm>
            <a:off x="761695" y="3078785"/>
            <a:ext cx="6591910" cy="457200"/>
          </a:xfrm>
          <a:prstGeom prst="rect">
            <a:avLst/>
          </a:prstGeom>
          <a:noFill/>
          <a:ln/>
        </p:spPr>
        <p:txBody>
          <a:bodyPr wrap="square" lIns="0" tIns="0" rIns="0" bIns="0" rtlCol="0" anchor="ctr"/>
          <a:lstStyle/>
          <a:p>
            <a:pPr marL="0" indent="0" algn="l">
              <a:buNone/>
            </a:pPr>
            <a:r>
              <a:rPr lang="en-US" sz="2400" b="1" kern="0" spc="75" dirty="0">
                <a:solidFill>
                  <a:srgbClr val="1A3A8A"/>
                </a:solidFill>
                <a:latin typeface="Noto Sans JP" pitchFamily="34" charset="0"/>
                <a:ea typeface="Noto Sans JP" pitchFamily="34" charset="-122"/>
                <a:cs typeface="Noto Sans JP" pitchFamily="34" charset="-120"/>
              </a:rPr>
              <a:t>私立渋谷第一高等学校</a:t>
            </a:r>
            <a:endParaRPr lang="en-US" sz="2400" dirty="0"/>
          </a:p>
        </p:txBody>
      </p:sp>
      <p:sp>
        <p:nvSpPr>
          <p:cNvPr id="10" name="Shape 6"/>
          <p:cNvSpPr/>
          <p:nvPr/>
        </p:nvSpPr>
        <p:spPr>
          <a:xfrm>
            <a:off x="761695" y="3764585"/>
            <a:ext cx="38405" cy="590702"/>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11" name="Text 7"/>
          <p:cNvSpPr txBox="1"/>
          <p:nvPr/>
        </p:nvSpPr>
        <p:spPr>
          <a:xfrm>
            <a:off x="952805" y="3764585"/>
            <a:ext cx="6324905" cy="305410"/>
          </a:xfrm>
          <a:prstGeom prst="rect">
            <a:avLst/>
          </a:prstGeom>
          <a:noFill/>
          <a:ln/>
        </p:spPr>
        <p:txBody>
          <a:bodyPr wrap="square" lIns="0" tIns="0" rIns="0" bIns="0" rtlCol="0" anchor="ctr"/>
          <a:lstStyle/>
          <a:p>
            <a:pPr marL="0" indent="0" algn="l">
              <a:buNone/>
            </a:pPr>
            <a:r>
              <a:rPr lang="en-US" sz="1500" kern="0" spc="38" dirty="0">
                <a:solidFill>
                  <a:srgbClr val="555555"/>
                </a:solidFill>
                <a:latin typeface="Noto Sans JP" pitchFamily="34" charset="0"/>
                <a:ea typeface="Noto Sans JP" pitchFamily="34" charset="-122"/>
                <a:cs typeface="Noto Sans JP" pitchFamily="34" charset="-120"/>
              </a:rPr>
              <a:t>Shibuya Ikemen No.1 Project</a:t>
            </a:r>
            <a:endParaRPr lang="en-US" sz="1500" dirty="0"/>
          </a:p>
        </p:txBody>
      </p:sp>
      <p:sp>
        <p:nvSpPr>
          <p:cNvPr id="12" name="Text 8"/>
          <p:cNvSpPr txBox="1"/>
          <p:nvPr/>
        </p:nvSpPr>
        <p:spPr>
          <a:xfrm>
            <a:off x="952805" y="4107485"/>
            <a:ext cx="6324905" cy="247802"/>
          </a:xfrm>
          <a:prstGeom prst="rect">
            <a:avLst/>
          </a:prstGeom>
          <a:noFill/>
          <a:ln/>
        </p:spPr>
        <p:txBody>
          <a:bodyPr wrap="square" lIns="0" tIns="0" rIns="0" bIns="0" rtlCol="0" anchor="ctr"/>
          <a:lstStyle/>
          <a:p>
            <a:pPr marL="0" indent="0" algn="l">
              <a:buNone/>
            </a:pPr>
            <a:r>
              <a:rPr lang="en-US" sz="1200" kern="0" spc="38" dirty="0">
                <a:solidFill>
                  <a:srgbClr val="777777"/>
                </a:solidFill>
                <a:latin typeface="Noto Sans JP" pitchFamily="34" charset="0"/>
                <a:ea typeface="Noto Sans JP" pitchFamily="34" charset="-122"/>
                <a:cs typeface="Noto Sans JP" pitchFamily="34" charset="-120"/>
              </a:rPr>
              <a:t>メンズ版 “Kawaii Lab” × コムドットのアイドルver</a:t>
            </a:r>
            <a:endParaRPr lang="en-US" sz="1200" dirty="0"/>
          </a:p>
        </p:txBody>
      </p:sp>
      <p:sp>
        <p:nvSpPr>
          <p:cNvPr id="13" name="Text 9"/>
          <p:cNvSpPr txBox="1"/>
          <p:nvPr/>
        </p:nvSpPr>
        <p:spPr>
          <a:xfrm>
            <a:off x="761695" y="5113325"/>
            <a:ext cx="6591910" cy="200254"/>
          </a:xfrm>
          <a:prstGeom prst="rect">
            <a:avLst/>
          </a:prstGeom>
          <a:noFill/>
          <a:ln/>
        </p:spPr>
        <p:txBody>
          <a:bodyPr wrap="square" lIns="0" tIns="0" rIns="0" bIns="0" rtlCol="0" anchor="ctr"/>
          <a:lstStyle/>
          <a:p>
            <a:pPr marL="0" indent="0" algn="l">
              <a:buNone/>
            </a:pPr>
            <a:r>
              <a:rPr lang="en-US" sz="1000" dirty="0">
                <a:solidFill>
                  <a:srgbClr val="888888"/>
                </a:solidFill>
                <a:latin typeface="Noto Sans JP" pitchFamily="34" charset="0"/>
                <a:ea typeface="Noto Sans JP" pitchFamily="34" charset="-122"/>
                <a:cs typeface="Noto Sans JP" pitchFamily="34" charset="-120"/>
              </a:rPr>
              <a:t>企画書 最終完全版</a:t>
            </a:r>
            <a:endParaRPr lang="en-US" sz="1000" dirty="0"/>
          </a:p>
        </p:txBody>
      </p:sp>
      <p:sp>
        <p:nvSpPr>
          <p:cNvPr id="14" name="Text 10"/>
          <p:cNvSpPr txBox="1"/>
          <p:nvPr/>
        </p:nvSpPr>
        <p:spPr>
          <a:xfrm>
            <a:off x="761695" y="5360213"/>
            <a:ext cx="6515100" cy="200254"/>
          </a:xfrm>
          <a:prstGeom prst="rect">
            <a:avLst/>
          </a:prstGeom>
          <a:noFill/>
          <a:ln/>
        </p:spPr>
        <p:txBody>
          <a:bodyPr wrap="square" lIns="0" tIns="0" rIns="0" bIns="0" rtlCol="0" anchor="ctr"/>
          <a:lstStyle/>
          <a:p>
            <a:pPr marL="0" indent="0" algn="l">
              <a:buNone/>
            </a:pPr>
            <a:r>
              <a:rPr lang="en-US" sz="1000" dirty="0">
                <a:solidFill>
                  <a:srgbClr val="888888"/>
                </a:solidFill>
                <a:latin typeface="Noto Sans JP" pitchFamily="34" charset="0"/>
                <a:ea typeface="Noto Sans JP" pitchFamily="34" charset="-122"/>
                <a:cs typeface="Noto Sans JP" pitchFamily="34" charset="-120"/>
              </a:rPr>
              <a:t>2026.02</a:t>
            </a:r>
            <a:endParaRPr lang="en-US" sz="1000" dirty="0"/>
          </a:p>
        </p:txBody>
      </p:sp>
      <p:sp>
        <p:nvSpPr>
          <p:cNvPr id="15" name="Shape 11"/>
          <p:cNvSpPr/>
          <p:nvPr/>
        </p:nvSpPr>
        <p:spPr>
          <a:xfrm>
            <a:off x="761695" y="1297534"/>
            <a:ext cx="1324051" cy="314554"/>
          </a:xfrm>
          <a:prstGeom prst="roundRect">
            <a:avLst>
              <a:gd name="adj" fmla="val 70472"/>
            </a:avLst>
          </a:prstGeom>
          <a:solidFill>
            <a:srgbClr val="F0F4F8"/>
          </a:solidFill>
          <a:ln/>
        </p:spPr>
        <p:txBody>
          <a:bodyPr/>
          <a:lstStyle/>
          <a:p>
            <a:endParaRPr lang="ja-JP" altLang="en-US"/>
          </a:p>
        </p:txBody>
      </p:sp>
      <p:sp>
        <p:nvSpPr>
          <p:cNvPr id="16" name="Shape 12"/>
          <p:cNvSpPr/>
          <p:nvPr/>
        </p:nvSpPr>
        <p:spPr>
          <a:xfrm>
            <a:off x="761695" y="1297534"/>
            <a:ext cx="38405" cy="314554"/>
          </a:xfrm>
          <a:prstGeom prst="roundRect">
            <a:avLst>
              <a:gd name="adj" fmla="val 577198"/>
            </a:avLst>
          </a:prstGeom>
          <a:solidFill>
            <a:srgbClr val="1E8CA6"/>
          </a:solidFill>
          <a:ln w="12700">
            <a:solidFill>
              <a:srgbClr val="1E8CA6">
                <a:alpha val="0"/>
              </a:srgbClr>
            </a:solidFill>
            <a:prstDash val="solid"/>
          </a:ln>
        </p:spPr>
        <p:txBody>
          <a:bodyPr/>
          <a:lstStyle/>
          <a:p>
            <a:endParaRPr lang="ja-JP" altLang="en-US"/>
          </a:p>
        </p:txBody>
      </p:sp>
      <p:sp>
        <p:nvSpPr>
          <p:cNvPr id="17" name="Text 13"/>
          <p:cNvSpPr txBox="1"/>
          <p:nvPr/>
        </p:nvSpPr>
        <p:spPr>
          <a:xfrm>
            <a:off x="761695" y="1297534"/>
            <a:ext cx="1381658" cy="314554"/>
          </a:xfrm>
          <a:prstGeom prst="rect">
            <a:avLst/>
          </a:prstGeom>
          <a:solidFill>
            <a:srgbClr val="FFFFFF">
              <a:alpha val="0"/>
            </a:srgbClr>
          </a:solidFill>
          <a:ln>
            <a:solidFill>
              <a:srgbClr val="FFFFFF">
                <a:alpha val="0"/>
              </a:srgbClr>
            </a:solidFill>
          </a:ln>
        </p:spPr>
        <p:txBody>
          <a:bodyPr wrap="square" lIns="152400" tIns="63500" rIns="152400" bIns="63500" rtlCol="0" anchor="t"/>
          <a:lstStyle/>
          <a:p>
            <a:pPr marL="0" indent="0" algn="l">
              <a:buNone/>
            </a:pPr>
            <a:r>
              <a:rPr lang="en-US" sz="1000" b="1" dirty="0">
                <a:solidFill>
                  <a:srgbClr val="1A3A8A"/>
                </a:solidFill>
                <a:latin typeface="Noto Sans JP" pitchFamily="34" charset="0"/>
                <a:ea typeface="Noto Sans JP" pitchFamily="34" charset="-122"/>
                <a:cs typeface="Noto Sans JP" pitchFamily="34" charset="-120"/>
              </a:rPr>
              <a:t>CONFIDENTIAL</a:t>
            </a:r>
            <a:endParaRPr lang="en-US" sz="1000" dirty="0"/>
          </a:p>
        </p:txBody>
      </p:sp>
      <p:sp>
        <p:nvSpPr>
          <p:cNvPr id="18" name="Text 14"/>
          <p:cNvSpPr txBox="1"/>
          <p:nvPr/>
        </p:nvSpPr>
        <p:spPr>
          <a:xfrm>
            <a:off x="476402" y="390449"/>
            <a:ext cx="305410" cy="438912"/>
          </a:xfrm>
          <a:prstGeom prst="rect">
            <a:avLst/>
          </a:prstGeom>
          <a:noFill/>
          <a:ln/>
        </p:spPr>
        <p:txBody>
          <a:bodyPr wrap="square" lIns="0" tIns="0" rIns="0" bIns="0" rtlCol="0" anchor="ctr"/>
          <a:lstStyle/>
          <a:p>
            <a:pPr marL="0" indent="0" algn="l">
              <a:buNone/>
            </a:pPr>
            <a:r>
              <a:rPr lang="en-US" sz="2400" b="1" kern="0" spc="-75" dirty="0">
                <a:solidFill>
                  <a:srgbClr val="1E8CA6"/>
                </a:solidFill>
                <a:latin typeface="Noto Sans JP" pitchFamily="34" charset="0"/>
                <a:ea typeface="Noto Sans JP" pitchFamily="34" charset="-122"/>
                <a:cs typeface="Noto Sans JP" pitchFamily="34" charset="-120"/>
              </a:rPr>
              <a:t>H</a:t>
            </a:r>
            <a:endParaRPr lang="en-US" sz="2400" dirty="0"/>
          </a:p>
        </p:txBody>
      </p:sp>
      <p:sp>
        <p:nvSpPr>
          <p:cNvPr id="19" name="Text 15"/>
          <p:cNvSpPr txBox="1"/>
          <p:nvPr/>
        </p:nvSpPr>
        <p:spPr>
          <a:xfrm>
            <a:off x="703174" y="390449"/>
            <a:ext cx="247802" cy="438912"/>
          </a:xfrm>
          <a:prstGeom prst="rect">
            <a:avLst/>
          </a:prstGeom>
          <a:noFill/>
          <a:ln/>
        </p:spPr>
        <p:txBody>
          <a:bodyPr wrap="square" lIns="0" tIns="0" rIns="0" bIns="0" rtlCol="0" anchor="ctr"/>
          <a:lstStyle/>
          <a:p>
            <a:pPr marL="0" indent="0" algn="l">
              <a:buNone/>
            </a:pPr>
            <a:r>
              <a:rPr lang="en-US" sz="2400" b="1" kern="0" spc="-75" dirty="0">
                <a:solidFill>
                  <a:srgbClr val="1A3A8A"/>
                </a:solidFill>
                <a:latin typeface="Noto Sans JP" pitchFamily="34" charset="0"/>
                <a:ea typeface="Noto Sans JP" pitchFamily="34" charset="-122"/>
                <a:cs typeface="Noto Sans JP" pitchFamily="34" charset="-120"/>
              </a:rPr>
              <a:t>J</a:t>
            </a:r>
            <a:endParaRPr lang="en-US" sz="2400" dirty="0"/>
          </a:p>
        </p:txBody>
      </p:sp>
      <p:sp>
        <p:nvSpPr>
          <p:cNvPr id="20" name="Shape 16"/>
          <p:cNvSpPr/>
          <p:nvPr/>
        </p:nvSpPr>
        <p:spPr>
          <a:xfrm>
            <a:off x="476402" y="6324905"/>
            <a:ext cx="1123980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21" name="Text 17"/>
          <p:cNvSpPr txBox="1"/>
          <p:nvPr/>
        </p:nvSpPr>
        <p:spPr>
          <a:xfrm>
            <a:off x="476402" y="6429146"/>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22" name="Text 18"/>
          <p:cNvSpPr txBox="1"/>
          <p:nvPr/>
        </p:nvSpPr>
        <p:spPr>
          <a:xfrm>
            <a:off x="10680192" y="6429146"/>
            <a:ext cx="1038758" cy="143561"/>
          </a:xfrm>
          <a:prstGeom prst="rect">
            <a:avLst/>
          </a:prstGeom>
          <a:noFill/>
          <a:ln/>
        </p:spPr>
        <p:txBody>
          <a:bodyPr wrap="square" lIns="0" tIns="0" rIns="0" bIns="0" rtlCol="0" anchor="ctr"/>
          <a:lstStyle/>
          <a:p>
            <a:pPr marL="0" indent="0" algn="r">
              <a:buNone/>
            </a:pPr>
            <a:r>
              <a:rPr lang="en-US" sz="800" dirty="0">
                <a:solidFill>
                  <a:srgbClr val="FFFFFF">
                    <a:alpha val="70000"/>
                  </a:srgbClr>
                </a:solidFill>
                <a:latin typeface="Noto Sans JP" pitchFamily="34" charset="0"/>
                <a:ea typeface="Noto Sans JP" pitchFamily="34" charset="-122"/>
                <a:cs typeface="Noto Sans JP" pitchFamily="34" charset="-120"/>
              </a:rPr>
              <a:t>SHIBU1 PROJECT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6705295" y="0"/>
            <a:ext cx="5486400" cy="6858000"/>
          </a:xfrm>
          <a:custGeom>
            <a:avLst/>
            <a:gdLst/>
            <a:ahLst/>
            <a:cxnLst/>
            <a:rect l="l" t="t" r="r" b="b"/>
            <a:pathLst>
              <a:path w="5486400" h="6858000">
                <a:moveTo>
                  <a:pt x="1371600" y="0"/>
                </a:moveTo>
                <a:lnTo>
                  <a:pt x="5486400" y="0"/>
                </a:lnTo>
                <a:lnTo>
                  <a:pt x="5486400" y="6858000"/>
                </a:lnTo>
                <a:lnTo>
                  <a:pt x="0" y="6858000"/>
                </a:lnTo>
                <a:close/>
              </a:path>
            </a:pathLst>
          </a:custGeom>
          <a:solidFill>
            <a:srgbClr val="1A3A8A"/>
          </a:solidFill>
          <a:ln/>
        </p:spPr>
        <p:txBody>
          <a:bodyPr/>
          <a:lstStyle/>
          <a:p>
            <a:endParaRPr lang="ja-JP" altLang="en-US"/>
          </a:p>
        </p:txBody>
      </p:sp>
      <p:sp>
        <p:nvSpPr>
          <p:cNvPr id="4" name="Shape 2"/>
          <p:cNvSpPr/>
          <p:nvPr/>
        </p:nvSpPr>
        <p:spPr>
          <a:xfrm>
            <a:off x="9334195" y="4000500"/>
            <a:ext cx="3810305" cy="3810305"/>
          </a:xfrm>
          <a:prstGeom prst="ellipse">
            <a:avLst/>
          </a:prstGeom>
          <a:noFill/>
          <a:ln w="25400">
            <a:solidFill>
              <a:srgbClr val="FFFFFF">
                <a:alpha val="10000"/>
              </a:srgbClr>
            </a:solidFill>
            <a:prstDash val="solid"/>
          </a:ln>
        </p:spPr>
        <p:txBody>
          <a:bodyPr/>
          <a:lstStyle/>
          <a:p>
            <a:endParaRPr lang="ja-JP" altLang="en-US"/>
          </a:p>
        </p:txBody>
      </p:sp>
      <p:pic>
        <p:nvPicPr>
          <p:cNvPr id="5" name="Image 0" descr="preencoded.png"/>
          <p:cNvPicPr>
            <a:picLocks noChangeAspect="1"/>
          </p:cNvPicPr>
          <p:nvPr/>
        </p:nvPicPr>
        <p:blipFill>
          <a:blip r:embed="rId3"/>
          <a:srcRect l="-400" r="-400"/>
          <a:stretch/>
        </p:blipFill>
        <p:spPr>
          <a:xfrm>
            <a:off x="11350447" y="0"/>
            <a:ext cx="19202" cy="6858000"/>
          </a:xfrm>
          <a:prstGeom prst="rect">
            <a:avLst/>
          </a:prstGeom>
        </p:spPr>
      </p:pic>
      <p:sp>
        <p:nvSpPr>
          <p:cNvPr id="6" name="Text 3"/>
          <p:cNvSpPr txBox="1"/>
          <p:nvPr/>
        </p:nvSpPr>
        <p:spPr>
          <a:xfrm>
            <a:off x="9098280" y="2400300"/>
            <a:ext cx="2531059" cy="609905"/>
          </a:xfrm>
          <a:prstGeom prst="rect">
            <a:avLst/>
          </a:prstGeom>
          <a:noFill/>
          <a:ln/>
        </p:spPr>
        <p:txBody>
          <a:bodyPr wrap="square" lIns="0" tIns="0" rIns="0" bIns="0" rtlCol="0" anchor="ctr"/>
          <a:lstStyle/>
          <a:p>
            <a:pPr marL="0" indent="0" algn="r">
              <a:buNone/>
            </a:pPr>
            <a:r>
              <a:rPr lang="en-US" sz="4800" b="1" dirty="0">
                <a:solidFill>
                  <a:srgbClr val="FFFFFF"/>
                </a:solidFill>
                <a:latin typeface="Noto Sans JP" pitchFamily="34" charset="0"/>
                <a:ea typeface="Noto Sans JP" pitchFamily="34" charset="-122"/>
                <a:cs typeface="Noto Sans JP" pitchFamily="34" charset="-120"/>
              </a:rPr>
              <a:t>SHIBU1</a:t>
            </a:r>
            <a:endParaRPr lang="en-US" sz="4800" dirty="0"/>
          </a:p>
        </p:txBody>
      </p:sp>
      <p:sp>
        <p:nvSpPr>
          <p:cNvPr id="7" name="Text 4"/>
          <p:cNvSpPr txBox="1"/>
          <p:nvPr/>
        </p:nvSpPr>
        <p:spPr>
          <a:xfrm>
            <a:off x="9066276" y="3105302"/>
            <a:ext cx="2563063" cy="228600"/>
          </a:xfrm>
          <a:prstGeom prst="rect">
            <a:avLst/>
          </a:prstGeom>
          <a:noFill/>
          <a:ln/>
        </p:spPr>
        <p:txBody>
          <a:bodyPr wrap="square" lIns="0" tIns="0" rIns="0" bIns="0" rtlCol="0" anchor="ctr"/>
          <a:lstStyle/>
          <a:p>
            <a:pPr marL="0" indent="0" algn="r">
              <a:buNone/>
            </a:pPr>
            <a:r>
              <a:rPr lang="en-US" sz="1200" dirty="0">
                <a:solidFill>
                  <a:srgbClr val="FFFFFF">
                    <a:alpha val="80000"/>
                  </a:srgbClr>
                </a:solidFill>
                <a:latin typeface="Noto Sans JP" pitchFamily="34" charset="0"/>
                <a:ea typeface="Noto Sans JP" pitchFamily="34" charset="-122"/>
                <a:cs typeface="Noto Sans JP" pitchFamily="34" charset="-120"/>
              </a:rPr>
              <a:t>Shibuya Ikemen No.1 Project</a:t>
            </a:r>
            <a:endParaRPr lang="en-US" sz="1200" dirty="0"/>
          </a:p>
        </p:txBody>
      </p:sp>
      <p:sp>
        <p:nvSpPr>
          <p:cNvPr id="8" name="Text 5"/>
          <p:cNvSpPr txBox="1"/>
          <p:nvPr/>
        </p:nvSpPr>
        <p:spPr>
          <a:xfrm>
            <a:off x="9191549" y="3715207"/>
            <a:ext cx="2436876" cy="762610"/>
          </a:xfrm>
          <a:prstGeom prst="rect">
            <a:avLst/>
          </a:prstGeom>
          <a:noFill/>
          <a:ln/>
        </p:spPr>
        <p:txBody>
          <a:bodyPr wrap="square" lIns="0" tIns="0" rIns="0" bIns="0" rtlCol="0" anchor="t"/>
          <a:lstStyle/>
          <a:p>
            <a:pPr marL="0" indent="0" algn="r">
              <a:buNone/>
            </a:pPr>
            <a:r>
              <a:rPr lang="en-US" sz="3000" b="1" dirty="0">
                <a:solidFill>
                  <a:srgbClr val="FFFFFF">
                    <a:alpha val="20000"/>
                  </a:srgbClr>
                </a:solidFill>
                <a:latin typeface="Noto Sans JP" pitchFamily="34" charset="0"/>
                <a:ea typeface="Noto Sans JP" pitchFamily="34" charset="-122"/>
                <a:cs typeface="Noto Sans JP" pitchFamily="34" charset="-120"/>
              </a:rPr>
              <a:t>私立渋谷</a:t>
            </a:r>
            <a:endParaRPr lang="en-US" sz="3000" dirty="0"/>
          </a:p>
          <a:p>
            <a:pPr marL="0" indent="0" algn="r">
              <a:buNone/>
            </a:pPr>
            <a:r>
              <a:rPr lang="en-US" sz="3000" b="1" dirty="0">
                <a:solidFill>
                  <a:srgbClr val="FFFFFF">
                    <a:alpha val="20000"/>
                  </a:srgbClr>
                </a:solidFill>
                <a:latin typeface="Noto Sans JP" pitchFamily="34" charset="0"/>
                <a:ea typeface="Noto Sans JP" pitchFamily="34" charset="-122"/>
                <a:cs typeface="Noto Sans JP" pitchFamily="34" charset="-120"/>
              </a:rPr>
              <a:t>第一高等学校</a:t>
            </a:r>
            <a:endParaRPr lang="en-US" sz="3000" dirty="0"/>
          </a:p>
        </p:txBody>
      </p:sp>
      <p:pic>
        <p:nvPicPr>
          <p:cNvPr id="9" name="Image 1" descr="preencoded.png"/>
          <p:cNvPicPr>
            <a:picLocks noChangeAspect="1"/>
          </p:cNvPicPr>
          <p:nvPr/>
        </p:nvPicPr>
        <p:blipFill>
          <a:blip r:embed="rId4"/>
          <a:srcRect l="-181" r="-181"/>
          <a:stretch/>
        </p:blipFill>
        <p:spPr>
          <a:xfrm>
            <a:off x="761695" y="1358798"/>
            <a:ext cx="761695" cy="75895"/>
          </a:xfrm>
          <a:prstGeom prst="rect">
            <a:avLst/>
          </a:prstGeom>
        </p:spPr>
      </p:pic>
      <p:sp>
        <p:nvSpPr>
          <p:cNvPr id="10" name="Text 6"/>
          <p:cNvSpPr txBox="1"/>
          <p:nvPr/>
        </p:nvSpPr>
        <p:spPr>
          <a:xfrm>
            <a:off x="761695" y="1720901"/>
            <a:ext cx="6572707" cy="1305763"/>
          </a:xfrm>
          <a:prstGeom prst="rect">
            <a:avLst/>
          </a:prstGeom>
          <a:noFill/>
          <a:ln/>
        </p:spPr>
        <p:txBody>
          <a:bodyPr wrap="square" lIns="0" tIns="0" rIns="0" bIns="0" rtlCol="0" anchor="t"/>
          <a:lstStyle/>
          <a:p>
            <a:pPr marL="0" indent="0" algn="l">
              <a:buNone/>
            </a:pPr>
            <a:r>
              <a:rPr lang="en-US" sz="4200" b="1" kern="0" spc="-75" dirty="0">
                <a:solidFill>
                  <a:srgbClr val="1A3A8A"/>
                </a:solidFill>
                <a:latin typeface="Noto Sans JP" pitchFamily="34" charset="0"/>
                <a:ea typeface="Noto Sans JP" pitchFamily="34" charset="-122"/>
                <a:cs typeface="Noto Sans JP" pitchFamily="34" charset="-120"/>
              </a:rPr>
              <a:t> メンズアイドルPJを発足。</a:t>
            </a:r>
            <a:endParaRPr lang="en-US" sz="4200" dirty="0"/>
          </a:p>
          <a:p>
            <a:pPr marL="0" indent="0" algn="l">
              <a:buNone/>
            </a:pPr>
            <a:r>
              <a:rPr lang="en-US" sz="900" b="1" kern="0" spc="-75" dirty="0">
                <a:solidFill>
                  <a:srgbClr val="555555"/>
                </a:solidFill>
                <a:latin typeface="Noto Sans JP" pitchFamily="34" charset="0"/>
                <a:ea typeface="Noto Sans JP" pitchFamily="34" charset="-122"/>
                <a:cs typeface="Noto Sans JP" pitchFamily="34" charset="-120"/>
              </a:rPr>
              <a:t>men's ver “Kawaii Lab”</a:t>
            </a:r>
            <a:endParaRPr lang="en-US" sz="4200" dirty="0"/>
          </a:p>
        </p:txBody>
      </p:sp>
      <p:sp>
        <p:nvSpPr>
          <p:cNvPr id="11" name="Shape 7"/>
          <p:cNvSpPr/>
          <p:nvPr/>
        </p:nvSpPr>
        <p:spPr>
          <a:xfrm>
            <a:off x="761695" y="3501238"/>
            <a:ext cx="6400800"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12" name="Text 8"/>
          <p:cNvSpPr txBox="1"/>
          <p:nvPr/>
        </p:nvSpPr>
        <p:spPr>
          <a:xfrm>
            <a:off x="761695" y="3796589"/>
            <a:ext cx="6515100" cy="200254"/>
          </a:xfrm>
          <a:prstGeom prst="rect">
            <a:avLst/>
          </a:prstGeom>
          <a:noFill/>
          <a:ln/>
        </p:spPr>
        <p:txBody>
          <a:bodyPr wrap="square" lIns="0" tIns="0" rIns="0" bIns="0" rtlCol="0" anchor="ctr"/>
          <a:lstStyle/>
          <a:p>
            <a:pPr marL="0" indent="0" algn="l">
              <a:buNone/>
            </a:pPr>
            <a:r>
              <a:rPr lang="en-US" sz="1000" b="1" kern="0" spc="75" dirty="0">
                <a:solidFill>
                  <a:srgbClr val="888888"/>
                </a:solidFill>
                <a:latin typeface="Noto Sans JP" pitchFamily="34" charset="0"/>
                <a:ea typeface="Noto Sans JP" pitchFamily="34" charset="-122"/>
                <a:cs typeface="Noto Sans JP" pitchFamily="34" charset="-120"/>
              </a:rPr>
              <a:t>THEMA</a:t>
            </a:r>
            <a:endParaRPr lang="en-US" sz="1000" dirty="0"/>
          </a:p>
        </p:txBody>
      </p:sp>
      <p:sp>
        <p:nvSpPr>
          <p:cNvPr id="13" name="Text 9"/>
          <p:cNvSpPr txBox="1"/>
          <p:nvPr/>
        </p:nvSpPr>
        <p:spPr>
          <a:xfrm>
            <a:off x="761695" y="4035247"/>
            <a:ext cx="6479438" cy="638251"/>
          </a:xfrm>
          <a:prstGeom prst="rect">
            <a:avLst/>
          </a:prstGeom>
          <a:noFill/>
          <a:ln/>
        </p:spPr>
        <p:txBody>
          <a:bodyPr wrap="square" lIns="0" tIns="0" rIns="0" bIns="0" rtlCol="0" anchor="t"/>
          <a:lstStyle/>
          <a:p>
            <a:pPr marL="0" indent="0" algn="l">
              <a:buNone/>
            </a:pPr>
            <a:r>
              <a:rPr lang="en-US" sz="1600" dirty="0">
                <a:solidFill>
                  <a:srgbClr val="333333"/>
                </a:solidFill>
                <a:latin typeface="Noto Sans JP" pitchFamily="34" charset="0"/>
                <a:ea typeface="Noto Sans JP" pitchFamily="34" charset="-122"/>
                <a:cs typeface="Noto Sans JP" pitchFamily="34" charset="-120"/>
              </a:rPr>
              <a:t> メンズ版の </a:t>
            </a:r>
            <a:r>
              <a:rPr lang="en-US" sz="1600" b="1" dirty="0">
                <a:solidFill>
                  <a:srgbClr val="1A3A8A"/>
                </a:solidFill>
                <a:latin typeface="Noto Sans JP" pitchFamily="34" charset="0"/>
                <a:ea typeface="Noto Sans JP" pitchFamily="34" charset="-122"/>
                <a:cs typeface="Noto Sans JP" pitchFamily="34" charset="-120"/>
              </a:rPr>
              <a:t>“Kawaii Lab”</a:t>
            </a:r>
            <a:endParaRPr lang="en-US" sz="1600" dirty="0"/>
          </a:p>
          <a:p>
            <a:pPr marL="0" indent="0" algn="l">
              <a:buNone/>
            </a:pPr>
            <a:r>
              <a:rPr lang="en-US" sz="1000" dirty="0">
                <a:solidFill>
                  <a:srgbClr val="555555"/>
                </a:solidFill>
                <a:latin typeface="Noto Sans JP" pitchFamily="34" charset="0"/>
                <a:ea typeface="Noto Sans JP" pitchFamily="34" charset="-122"/>
                <a:cs typeface="Noto Sans JP" pitchFamily="34" charset="-120"/>
              </a:rPr>
              <a:t>コムドット アイドルバージョン</a:t>
            </a:r>
            <a:endParaRPr lang="en-US" sz="1600" dirty="0"/>
          </a:p>
        </p:txBody>
      </p:sp>
      <p:sp>
        <p:nvSpPr>
          <p:cNvPr id="14" name="Text 10"/>
          <p:cNvSpPr txBox="1"/>
          <p:nvPr/>
        </p:nvSpPr>
        <p:spPr>
          <a:xfrm>
            <a:off x="761695" y="4860950"/>
            <a:ext cx="6515100" cy="200254"/>
          </a:xfrm>
          <a:prstGeom prst="rect">
            <a:avLst/>
          </a:prstGeom>
          <a:noFill/>
          <a:ln/>
        </p:spPr>
        <p:txBody>
          <a:bodyPr wrap="square" lIns="0" tIns="0" rIns="0" bIns="0" rtlCol="0" anchor="ctr"/>
          <a:lstStyle/>
          <a:p>
            <a:pPr marL="0" indent="0" algn="l">
              <a:buNone/>
            </a:pPr>
            <a:r>
              <a:rPr lang="en-US" sz="1000" b="1" kern="0" spc="75" dirty="0">
                <a:solidFill>
                  <a:srgbClr val="888888"/>
                </a:solidFill>
                <a:latin typeface="Noto Sans JP" pitchFamily="34" charset="0"/>
                <a:ea typeface="Noto Sans JP" pitchFamily="34" charset="-122"/>
                <a:cs typeface="Noto Sans JP" pitchFamily="34" charset="-120"/>
              </a:rPr>
              <a:t>MISSION</a:t>
            </a:r>
            <a:endParaRPr lang="en-US" sz="1000" dirty="0"/>
          </a:p>
        </p:txBody>
      </p:sp>
      <p:sp>
        <p:nvSpPr>
          <p:cNvPr id="15" name="Text 11"/>
          <p:cNvSpPr txBox="1"/>
          <p:nvPr/>
        </p:nvSpPr>
        <p:spPr>
          <a:xfrm>
            <a:off x="761695" y="5098694"/>
            <a:ext cx="6479438" cy="629107"/>
          </a:xfrm>
          <a:prstGeom prst="rect">
            <a:avLst/>
          </a:prstGeom>
          <a:noFill/>
          <a:ln/>
        </p:spPr>
        <p:txBody>
          <a:bodyPr wrap="square" lIns="0" tIns="0" rIns="0" bIns="0" rtlCol="0" anchor="t"/>
          <a:lstStyle/>
          <a:p>
            <a:pPr marL="0" indent="0" algn="l">
              <a:buNone/>
            </a:pPr>
            <a:r>
              <a:rPr lang="en-US" sz="1600" dirty="0">
                <a:solidFill>
                  <a:srgbClr val="333333"/>
                </a:solidFill>
                <a:latin typeface="Noto Sans JP" pitchFamily="34" charset="0"/>
                <a:ea typeface="Noto Sans JP" pitchFamily="34" charset="-122"/>
                <a:cs typeface="Noto Sans JP" pitchFamily="34" charset="-120"/>
              </a:rPr>
              <a:t> 渋谷発の新しいメンズIPを創出し、</a:t>
            </a:r>
            <a:endParaRPr lang="en-US" sz="1600" dirty="0"/>
          </a:p>
          <a:p>
            <a:pPr marL="0" indent="0" algn="l">
              <a:buNone/>
            </a:pPr>
            <a:r>
              <a:rPr lang="en-US" sz="1600" dirty="0">
                <a:solidFill>
                  <a:srgbClr val="333333"/>
                </a:solidFill>
                <a:latin typeface="Noto Sans JP" pitchFamily="34" charset="0"/>
                <a:ea typeface="Noto Sans JP" pitchFamily="34" charset="-122"/>
                <a:cs typeface="Noto Sans JP" pitchFamily="34" charset="-120"/>
              </a:rPr>
              <a:t> 毎年</a:t>
            </a:r>
            <a:r>
              <a:rPr lang="en-US" sz="1600" b="1" dirty="0">
                <a:solidFill>
                  <a:srgbClr val="1A3A8A"/>
                </a:solidFill>
                <a:latin typeface="Noto Sans JP" pitchFamily="34" charset="0"/>
                <a:ea typeface="Noto Sans JP" pitchFamily="34" charset="-122"/>
                <a:cs typeface="Noto Sans JP" pitchFamily="34" charset="-120"/>
              </a:rPr>
              <a:t>“最初に推される”スター</a:t>
            </a:r>
            <a:r>
              <a:rPr lang="en-US" sz="1600" dirty="0">
                <a:solidFill>
                  <a:srgbClr val="333333"/>
                </a:solidFill>
                <a:latin typeface="Noto Sans JP" pitchFamily="34" charset="0"/>
                <a:ea typeface="Noto Sans JP" pitchFamily="34" charset="-122"/>
                <a:cs typeface="Noto Sans JP" pitchFamily="34" charset="-120"/>
              </a:rPr>
              <a:t>を輩出する。 </a:t>
            </a:r>
            <a:endParaRPr lang="en-US" sz="1600" dirty="0"/>
          </a:p>
        </p:txBody>
      </p:sp>
      <p:sp>
        <p:nvSpPr>
          <p:cNvPr id="16" name="Shape 12"/>
          <p:cNvSpPr/>
          <p:nvPr/>
        </p:nvSpPr>
        <p:spPr>
          <a:xfrm>
            <a:off x="761695" y="940003"/>
            <a:ext cx="38405" cy="228600"/>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17" name="Text 13"/>
          <p:cNvSpPr txBox="1"/>
          <p:nvPr/>
        </p:nvSpPr>
        <p:spPr>
          <a:xfrm>
            <a:off x="914400" y="940003"/>
            <a:ext cx="771754" cy="2286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200" b="1" kern="0" spc="150" dirty="0">
                <a:solidFill>
                  <a:srgbClr val="1A3A8A"/>
                </a:solidFill>
                <a:latin typeface="Noto Sans JP" pitchFamily="34" charset="0"/>
                <a:ea typeface="Noto Sans JP" pitchFamily="34" charset="-122"/>
                <a:cs typeface="Noto Sans JP" pitchFamily="34" charset="-120"/>
              </a:rPr>
              <a:t>発足宣言</a:t>
            </a:r>
            <a:endParaRPr lang="en-US" sz="1200" dirty="0"/>
          </a:p>
        </p:txBody>
      </p:sp>
      <p:sp>
        <p:nvSpPr>
          <p:cNvPr id="18" name="Text 14"/>
          <p:cNvSpPr txBox="1"/>
          <p:nvPr/>
        </p:nvSpPr>
        <p:spPr>
          <a:xfrm>
            <a:off x="476402" y="390449"/>
            <a:ext cx="305410" cy="438912"/>
          </a:xfrm>
          <a:prstGeom prst="rect">
            <a:avLst/>
          </a:prstGeom>
          <a:noFill/>
          <a:ln/>
        </p:spPr>
        <p:txBody>
          <a:bodyPr wrap="square" lIns="0" tIns="0" rIns="0" bIns="0" rtlCol="0" anchor="ctr"/>
          <a:lstStyle/>
          <a:p>
            <a:pPr marL="0" indent="0" algn="l">
              <a:buNone/>
            </a:pPr>
            <a:r>
              <a:rPr lang="en-US" sz="2400" b="1" kern="0" spc="-75" dirty="0">
                <a:solidFill>
                  <a:srgbClr val="1E8CA6"/>
                </a:solidFill>
                <a:latin typeface="Noto Sans JP" pitchFamily="34" charset="0"/>
                <a:ea typeface="Noto Sans JP" pitchFamily="34" charset="-122"/>
                <a:cs typeface="Noto Sans JP" pitchFamily="34" charset="-120"/>
              </a:rPr>
              <a:t>H</a:t>
            </a:r>
            <a:endParaRPr lang="en-US" sz="2400" dirty="0"/>
          </a:p>
        </p:txBody>
      </p:sp>
      <p:sp>
        <p:nvSpPr>
          <p:cNvPr id="19" name="Text 15"/>
          <p:cNvSpPr txBox="1"/>
          <p:nvPr/>
        </p:nvSpPr>
        <p:spPr>
          <a:xfrm>
            <a:off x="703174" y="390449"/>
            <a:ext cx="247802" cy="438912"/>
          </a:xfrm>
          <a:prstGeom prst="rect">
            <a:avLst/>
          </a:prstGeom>
          <a:noFill/>
          <a:ln/>
        </p:spPr>
        <p:txBody>
          <a:bodyPr wrap="square" lIns="0" tIns="0" rIns="0" bIns="0" rtlCol="0" anchor="ctr"/>
          <a:lstStyle/>
          <a:p>
            <a:pPr marL="0" indent="0" algn="l">
              <a:buNone/>
            </a:pPr>
            <a:r>
              <a:rPr lang="en-US" sz="2400" b="1" kern="0" spc="-75" dirty="0">
                <a:solidFill>
                  <a:srgbClr val="1A3A8A"/>
                </a:solidFill>
                <a:latin typeface="Noto Sans JP" pitchFamily="34" charset="0"/>
                <a:ea typeface="Noto Sans JP" pitchFamily="34" charset="-122"/>
                <a:cs typeface="Noto Sans JP" pitchFamily="34" charset="-120"/>
              </a:rPr>
              <a:t>J</a:t>
            </a:r>
            <a:endParaRPr lang="en-US" sz="2400" dirty="0"/>
          </a:p>
        </p:txBody>
      </p:sp>
      <p:sp>
        <p:nvSpPr>
          <p:cNvPr id="20" name="Shape 16"/>
          <p:cNvSpPr/>
          <p:nvPr/>
        </p:nvSpPr>
        <p:spPr>
          <a:xfrm>
            <a:off x="476402" y="6324905"/>
            <a:ext cx="1123980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21" name="Text 17"/>
          <p:cNvSpPr txBox="1"/>
          <p:nvPr/>
        </p:nvSpPr>
        <p:spPr>
          <a:xfrm>
            <a:off x="476402" y="6429146"/>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22" name="Text 18"/>
          <p:cNvSpPr txBox="1"/>
          <p:nvPr/>
        </p:nvSpPr>
        <p:spPr>
          <a:xfrm>
            <a:off x="10680192" y="6429146"/>
            <a:ext cx="1038758" cy="143561"/>
          </a:xfrm>
          <a:prstGeom prst="rect">
            <a:avLst/>
          </a:prstGeom>
          <a:noFill/>
          <a:ln/>
        </p:spPr>
        <p:txBody>
          <a:bodyPr wrap="square" lIns="0" tIns="0" rIns="0" bIns="0" rtlCol="0" anchor="ctr"/>
          <a:lstStyle/>
          <a:p>
            <a:pPr marL="0" indent="0" algn="r">
              <a:buNone/>
            </a:pPr>
            <a:r>
              <a:rPr lang="en-US" sz="800" dirty="0">
                <a:solidFill>
                  <a:srgbClr val="FFFFFF">
                    <a:alpha val="70000"/>
                  </a:srgbClr>
                </a:solidFill>
                <a:latin typeface="Noto Sans JP" pitchFamily="34" charset="0"/>
                <a:ea typeface="Noto Sans JP" pitchFamily="34" charset="-122"/>
                <a:cs typeface="Noto Sans JP" pitchFamily="34" charset="-120"/>
              </a:rPr>
              <a:t>SHIBU1 PROJECT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401" b="-401"/>
          <a:stretch/>
        </p:blipFill>
        <p:spPr>
          <a:xfrm>
            <a:off x="0" y="0"/>
            <a:ext cx="12191695" cy="38405"/>
          </a:xfrm>
          <a:prstGeom prst="rect">
            <a:avLst/>
          </a:prstGeom>
        </p:spPr>
      </p:pic>
      <p:sp>
        <p:nvSpPr>
          <p:cNvPr id="4" name="Shape 1"/>
          <p:cNvSpPr/>
          <p:nvPr/>
        </p:nvSpPr>
        <p:spPr>
          <a:xfrm>
            <a:off x="0" y="6476695"/>
            <a:ext cx="12191695" cy="381305"/>
          </a:xfrm>
          <a:prstGeom prst="rect">
            <a:avLst/>
          </a:prstGeom>
          <a:solidFill>
            <a:srgbClr val="FFFFFF"/>
          </a:solidFill>
          <a:ln/>
        </p:spPr>
        <p:txBody>
          <a:bodyPr/>
          <a:lstStyle/>
          <a:p>
            <a:endParaRPr lang="ja-JP" altLang="en-US"/>
          </a:p>
        </p:txBody>
      </p:sp>
      <p:sp>
        <p:nvSpPr>
          <p:cNvPr id="5" name="Shape 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6" name="Text 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7" name="Text 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03</a:t>
            </a:r>
            <a:endParaRPr lang="en-US" sz="800" dirty="0"/>
          </a:p>
        </p:txBody>
      </p:sp>
      <p:pic>
        <p:nvPicPr>
          <p:cNvPr id="8" name="Image 1" descr="preencoded.png"/>
          <p:cNvPicPr>
            <a:picLocks noChangeAspect="1"/>
          </p:cNvPicPr>
          <p:nvPr/>
        </p:nvPicPr>
        <p:blipFill>
          <a:blip r:embed="rId4"/>
          <a:srcRect l="-400" r="-400"/>
          <a:stretch/>
        </p:blipFill>
        <p:spPr>
          <a:xfrm>
            <a:off x="571500" y="814730"/>
            <a:ext cx="38405" cy="228600"/>
          </a:xfrm>
          <a:prstGeom prst="rect">
            <a:avLst/>
          </a:prstGeom>
        </p:spPr>
      </p:pic>
      <p:sp>
        <p:nvSpPr>
          <p:cNvPr id="9" name="Text 5"/>
          <p:cNvSpPr txBox="1"/>
          <p:nvPr/>
        </p:nvSpPr>
        <p:spPr>
          <a:xfrm>
            <a:off x="724205" y="800100"/>
            <a:ext cx="438912"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目標</a:t>
            </a:r>
            <a:endParaRPr lang="en-US" sz="1300" dirty="0"/>
          </a:p>
        </p:txBody>
      </p:sp>
      <p:sp>
        <p:nvSpPr>
          <p:cNvPr id="10" name="Text 6"/>
          <p:cNvSpPr txBox="1"/>
          <p:nvPr/>
        </p:nvSpPr>
        <p:spPr>
          <a:xfrm>
            <a:off x="5885993" y="609905"/>
            <a:ext cx="6804965" cy="2667305"/>
          </a:xfrm>
          <a:prstGeom prst="rect">
            <a:avLst/>
          </a:prstGeom>
          <a:noFill/>
          <a:ln/>
        </p:spPr>
        <p:txBody>
          <a:bodyPr wrap="square" lIns="0" tIns="0" rIns="0" bIns="0" rtlCol="0" anchor="ctr"/>
          <a:lstStyle/>
          <a:p>
            <a:pPr marL="0" indent="0" algn="l">
              <a:buNone/>
            </a:pPr>
            <a:r>
              <a:rPr lang="en-US" sz="21000" b="1" dirty="0">
                <a:solidFill>
                  <a:srgbClr val="1A3A8A">
                    <a:alpha val="4000"/>
                  </a:srgbClr>
                </a:solidFill>
                <a:latin typeface="Noto Sans JP" pitchFamily="34" charset="0"/>
                <a:ea typeface="Noto Sans JP" pitchFamily="34" charset="-122"/>
                <a:cs typeface="Noto Sans JP" pitchFamily="34" charset="-120"/>
              </a:rPr>
              <a:t>2028</a:t>
            </a:r>
            <a:endParaRPr lang="en-US" sz="21000" dirty="0"/>
          </a:p>
        </p:txBody>
      </p:sp>
      <p:pic>
        <p:nvPicPr>
          <p:cNvPr id="11" name="Image 2" descr="preencoded.png"/>
          <p:cNvPicPr>
            <a:picLocks noChangeAspect="1"/>
          </p:cNvPicPr>
          <p:nvPr/>
        </p:nvPicPr>
        <p:blipFill>
          <a:blip r:embed="rId5">
            <a:alphaModFix amt="3000"/>
          </a:blip>
          <a:srcRect/>
          <a:stretch/>
        </p:blipFill>
        <p:spPr>
          <a:xfrm>
            <a:off x="9334195" y="3619195"/>
            <a:ext cx="2857500" cy="2857500"/>
          </a:xfrm>
          <a:prstGeom prst="rect">
            <a:avLst/>
          </a:prstGeom>
        </p:spPr>
      </p:pic>
      <p:sp>
        <p:nvSpPr>
          <p:cNvPr id="12" name="Text 7"/>
          <p:cNvSpPr txBox="1"/>
          <p:nvPr/>
        </p:nvSpPr>
        <p:spPr>
          <a:xfrm>
            <a:off x="571500" y="1628546"/>
            <a:ext cx="9563710" cy="1467612"/>
          </a:xfrm>
          <a:prstGeom prst="rect">
            <a:avLst/>
          </a:prstGeom>
          <a:noFill/>
          <a:ln/>
        </p:spPr>
        <p:txBody>
          <a:bodyPr wrap="square" lIns="0" tIns="0" rIns="0" bIns="0" rtlCol="0" anchor="t"/>
          <a:lstStyle/>
          <a:p>
            <a:pPr marL="0" indent="0" algn="l">
              <a:buNone/>
            </a:pPr>
            <a:r>
              <a:rPr lang="en-US" sz="4800" b="1" kern="0" spc="-75" dirty="0">
                <a:solidFill>
                  <a:srgbClr val="1A3A8A"/>
                </a:solidFill>
                <a:latin typeface="Noto Sans JP" pitchFamily="34" charset="0"/>
                <a:ea typeface="Noto Sans JP" pitchFamily="34" charset="-122"/>
                <a:cs typeface="Noto Sans JP" pitchFamily="34" charset="-120"/>
              </a:rPr>
              <a:t>2028年、メンズ芸能部門で</a:t>
            </a:r>
            <a:endParaRPr lang="en-US" sz="4800" dirty="0"/>
          </a:p>
          <a:p>
            <a:pPr marL="0" indent="0" algn="l">
              <a:buNone/>
            </a:pPr>
            <a:r>
              <a:rPr lang="en-US" sz="4800" b="1" kern="0" spc="-75" dirty="0">
                <a:solidFill>
                  <a:srgbClr val="1A3A8A"/>
                </a:solidFill>
                <a:latin typeface="Noto Sans JP" pitchFamily="34" charset="0"/>
                <a:ea typeface="Noto Sans JP" pitchFamily="34" charset="-122"/>
                <a:cs typeface="Noto Sans JP" pitchFamily="34" charset="-120"/>
              </a:rPr>
              <a:t>１位を獲得。</a:t>
            </a:r>
            <a:endParaRPr lang="en-US" sz="4800" dirty="0"/>
          </a:p>
        </p:txBody>
      </p:sp>
      <p:sp>
        <p:nvSpPr>
          <p:cNvPr id="13" name="Shape 8"/>
          <p:cNvSpPr/>
          <p:nvPr/>
        </p:nvSpPr>
        <p:spPr>
          <a:xfrm>
            <a:off x="571500" y="3320186"/>
            <a:ext cx="571500" cy="19202"/>
          </a:xfrm>
          <a:prstGeom prst="rect">
            <a:avLst/>
          </a:prstGeom>
          <a:solidFill>
            <a:srgbClr val="1E8CA6"/>
          </a:solidFill>
          <a:ln w="12700">
            <a:solidFill>
              <a:srgbClr val="FFFFFF">
                <a:alpha val="0"/>
              </a:srgbClr>
            </a:solidFill>
            <a:prstDash val="solid"/>
          </a:ln>
        </p:spPr>
        <p:txBody>
          <a:bodyPr/>
          <a:lstStyle/>
          <a:p>
            <a:endParaRPr lang="ja-JP" altLang="en-US"/>
          </a:p>
        </p:txBody>
      </p:sp>
      <p:sp>
        <p:nvSpPr>
          <p:cNvPr id="14" name="Text 9"/>
          <p:cNvSpPr txBox="1"/>
          <p:nvPr/>
        </p:nvSpPr>
        <p:spPr>
          <a:xfrm>
            <a:off x="1333195" y="3320186"/>
            <a:ext cx="5364785" cy="514807"/>
          </a:xfrm>
          <a:prstGeom prst="rect">
            <a:avLst/>
          </a:prstGeom>
          <a:noFill/>
          <a:ln/>
        </p:spPr>
        <p:txBody>
          <a:bodyPr wrap="square" lIns="0" tIns="0" rIns="0" bIns="0" rtlCol="0" anchor="ctr"/>
          <a:lstStyle/>
          <a:p>
            <a:pPr marL="0" indent="0" algn="l">
              <a:buNone/>
            </a:pPr>
            <a:r>
              <a:rPr lang="en-US" sz="2700" b="1" dirty="0">
                <a:solidFill>
                  <a:srgbClr val="1E8CA6"/>
                </a:solidFill>
                <a:latin typeface="Noto Sans JP" pitchFamily="34" charset="0"/>
                <a:ea typeface="Noto Sans JP" pitchFamily="34" charset="-122"/>
                <a:cs typeface="Noto Sans JP" pitchFamily="34" charset="-120"/>
              </a:rPr>
              <a:t>次世代のジャニーズを創る。</a:t>
            </a:r>
            <a:endParaRPr lang="en-US" sz="2700" dirty="0"/>
          </a:p>
        </p:txBody>
      </p:sp>
      <p:pic>
        <p:nvPicPr>
          <p:cNvPr id="15" name="Image 3" descr="preencoded.png"/>
          <p:cNvPicPr>
            <a:picLocks noChangeAspect="1"/>
          </p:cNvPicPr>
          <p:nvPr/>
        </p:nvPicPr>
        <p:blipFill>
          <a:blip r:embed="rId6"/>
          <a:srcRect l="-14" r="-14"/>
          <a:stretch/>
        </p:blipFill>
        <p:spPr>
          <a:xfrm>
            <a:off x="571500" y="4215384"/>
            <a:ext cx="3429000" cy="1468526"/>
          </a:xfrm>
          <a:prstGeom prst="rect">
            <a:avLst/>
          </a:prstGeom>
        </p:spPr>
      </p:pic>
      <p:pic>
        <p:nvPicPr>
          <p:cNvPr id="16" name="Image 4" descr="preencoded.png"/>
          <p:cNvPicPr>
            <a:picLocks noChangeAspect="1"/>
          </p:cNvPicPr>
          <p:nvPr/>
        </p:nvPicPr>
        <p:blipFill>
          <a:blip r:embed="rId7"/>
          <a:srcRect t="-842" b="-842"/>
          <a:stretch/>
        </p:blipFill>
        <p:spPr>
          <a:xfrm>
            <a:off x="838505" y="4486961"/>
            <a:ext cx="190195" cy="171907"/>
          </a:xfrm>
          <a:prstGeom prst="rect">
            <a:avLst/>
          </a:prstGeom>
        </p:spPr>
      </p:pic>
      <p:sp>
        <p:nvSpPr>
          <p:cNvPr id="17" name="Text 10"/>
          <p:cNvSpPr txBox="1"/>
          <p:nvPr/>
        </p:nvSpPr>
        <p:spPr>
          <a:xfrm>
            <a:off x="1123798" y="4443984"/>
            <a:ext cx="1852574" cy="257861"/>
          </a:xfrm>
          <a:prstGeom prst="rect">
            <a:avLst/>
          </a:prstGeom>
          <a:noFill/>
          <a:ln/>
        </p:spPr>
        <p:txBody>
          <a:bodyPr wrap="square" lIns="0" tIns="0" rIns="0" bIns="0" rtlCol="0" anchor="ctr"/>
          <a:lstStyle/>
          <a:p>
            <a:pPr marL="0" indent="0" algn="l">
              <a:buNone/>
            </a:pPr>
            <a:r>
              <a:rPr lang="en-US" sz="1300" b="1" dirty="0">
                <a:solidFill>
                  <a:srgbClr val="1A3A8A"/>
                </a:solidFill>
                <a:latin typeface="Noto Sans JP" pitchFamily="34" charset="0"/>
                <a:ea typeface="Noto Sans JP" pitchFamily="34" charset="-122"/>
                <a:cs typeface="Noto Sans JP" pitchFamily="34" charset="-120"/>
              </a:rPr>
              <a:t>No.1 ポジション確立</a:t>
            </a:r>
            <a:endParaRPr lang="en-US" sz="1300" dirty="0"/>
          </a:p>
        </p:txBody>
      </p:sp>
      <p:sp>
        <p:nvSpPr>
          <p:cNvPr id="18" name="Text 11"/>
          <p:cNvSpPr txBox="1"/>
          <p:nvPr/>
        </p:nvSpPr>
        <p:spPr>
          <a:xfrm>
            <a:off x="838505" y="4816145"/>
            <a:ext cx="3010205" cy="648310"/>
          </a:xfrm>
          <a:prstGeom prst="rect">
            <a:avLst/>
          </a:prstGeom>
          <a:noFill/>
          <a:ln/>
        </p:spPr>
        <p:txBody>
          <a:bodyPr wrap="square" lIns="0" tIns="0" rIns="0" bIns="0" rtlCol="0" anchor="t"/>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メンズアイドル市場における圧倒的なシェアを獲得し、名実ともにトップランナーとしての地位を確立する。</a:t>
            </a:r>
            <a:endParaRPr lang="en-US" sz="1000" dirty="0"/>
          </a:p>
        </p:txBody>
      </p:sp>
      <p:pic>
        <p:nvPicPr>
          <p:cNvPr id="19" name="Image 5" descr="preencoded.png"/>
          <p:cNvPicPr>
            <a:picLocks noChangeAspect="1"/>
          </p:cNvPicPr>
          <p:nvPr/>
        </p:nvPicPr>
        <p:blipFill>
          <a:blip r:embed="rId6"/>
          <a:srcRect l="-14" r="-14"/>
          <a:stretch/>
        </p:blipFill>
        <p:spPr>
          <a:xfrm>
            <a:off x="4381805" y="4215384"/>
            <a:ext cx="3429000" cy="1468526"/>
          </a:xfrm>
          <a:prstGeom prst="rect">
            <a:avLst/>
          </a:prstGeom>
        </p:spPr>
      </p:pic>
      <p:pic>
        <p:nvPicPr>
          <p:cNvPr id="20" name="Image 6" descr="preencoded.png"/>
          <p:cNvPicPr>
            <a:picLocks noChangeAspect="1"/>
          </p:cNvPicPr>
          <p:nvPr/>
        </p:nvPicPr>
        <p:blipFill>
          <a:blip r:embed="rId8"/>
          <a:srcRect/>
          <a:stretch/>
        </p:blipFill>
        <p:spPr>
          <a:xfrm>
            <a:off x="4647895" y="4486961"/>
            <a:ext cx="171907" cy="171907"/>
          </a:xfrm>
          <a:prstGeom prst="rect">
            <a:avLst/>
          </a:prstGeom>
        </p:spPr>
      </p:pic>
      <p:sp>
        <p:nvSpPr>
          <p:cNvPr id="21" name="Text 12"/>
          <p:cNvSpPr txBox="1"/>
          <p:nvPr/>
        </p:nvSpPr>
        <p:spPr>
          <a:xfrm>
            <a:off x="4914900" y="4443984"/>
            <a:ext cx="1296619" cy="257861"/>
          </a:xfrm>
          <a:prstGeom prst="rect">
            <a:avLst/>
          </a:prstGeom>
          <a:noFill/>
          <a:ln/>
        </p:spPr>
        <p:txBody>
          <a:bodyPr wrap="square" lIns="0" tIns="0" rIns="0" bIns="0" rtlCol="0" anchor="ctr"/>
          <a:lstStyle/>
          <a:p>
            <a:pPr marL="0" indent="0" algn="l">
              <a:buNone/>
            </a:pPr>
            <a:r>
              <a:rPr lang="en-US" sz="1300" b="1" dirty="0">
                <a:solidFill>
                  <a:srgbClr val="1A3A8A"/>
                </a:solidFill>
                <a:latin typeface="Noto Sans JP" pitchFamily="34" charset="0"/>
                <a:ea typeface="Noto Sans JP" pitchFamily="34" charset="-122"/>
                <a:cs typeface="Noto Sans JP" pitchFamily="34" charset="-120"/>
              </a:rPr>
              <a:t>圧倒的な話題性</a:t>
            </a:r>
            <a:endParaRPr lang="en-US" sz="1300" dirty="0"/>
          </a:p>
        </p:txBody>
      </p:sp>
      <p:sp>
        <p:nvSpPr>
          <p:cNvPr id="22" name="Text 13"/>
          <p:cNvSpPr txBox="1"/>
          <p:nvPr/>
        </p:nvSpPr>
        <p:spPr>
          <a:xfrm>
            <a:off x="4647895" y="4816145"/>
            <a:ext cx="3010205" cy="428854"/>
          </a:xfrm>
          <a:prstGeom prst="rect">
            <a:avLst/>
          </a:prstGeom>
          <a:noFill/>
          <a:ln/>
        </p:spPr>
        <p:txBody>
          <a:bodyPr wrap="square" lIns="0" tIns="0" rIns="0" bIns="0" rtlCol="0" anchor="t"/>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SNSでのバズ、メディア露出、トレンド入りを常態化させ、国民的な認知度を獲得する。</a:t>
            </a:r>
            <a:endParaRPr lang="en-US" sz="1000" dirty="0"/>
          </a:p>
        </p:txBody>
      </p:sp>
      <p:pic>
        <p:nvPicPr>
          <p:cNvPr id="23" name="Image 7" descr="preencoded.png"/>
          <p:cNvPicPr>
            <a:picLocks noChangeAspect="1"/>
          </p:cNvPicPr>
          <p:nvPr/>
        </p:nvPicPr>
        <p:blipFill>
          <a:blip r:embed="rId6"/>
          <a:srcRect l="-14" r="-14"/>
          <a:stretch/>
        </p:blipFill>
        <p:spPr>
          <a:xfrm>
            <a:off x="8191195" y="4215384"/>
            <a:ext cx="3429000" cy="1468526"/>
          </a:xfrm>
          <a:prstGeom prst="rect">
            <a:avLst/>
          </a:prstGeom>
        </p:spPr>
      </p:pic>
      <p:pic>
        <p:nvPicPr>
          <p:cNvPr id="24" name="Image 8" descr="preencoded.png"/>
          <p:cNvPicPr>
            <a:picLocks noChangeAspect="1"/>
          </p:cNvPicPr>
          <p:nvPr/>
        </p:nvPicPr>
        <p:blipFill>
          <a:blip r:embed="rId9"/>
          <a:srcRect l="-1064" r="-1064"/>
          <a:stretch/>
        </p:blipFill>
        <p:spPr>
          <a:xfrm>
            <a:off x="8458200" y="4486961"/>
            <a:ext cx="219456" cy="171907"/>
          </a:xfrm>
          <a:prstGeom prst="rect">
            <a:avLst/>
          </a:prstGeom>
        </p:spPr>
      </p:pic>
      <p:sp>
        <p:nvSpPr>
          <p:cNvPr id="25" name="Text 14"/>
          <p:cNvSpPr txBox="1"/>
          <p:nvPr/>
        </p:nvSpPr>
        <p:spPr>
          <a:xfrm>
            <a:off x="8772754" y="4443984"/>
            <a:ext cx="1481328" cy="257861"/>
          </a:xfrm>
          <a:prstGeom prst="rect">
            <a:avLst/>
          </a:prstGeom>
          <a:noFill/>
          <a:ln/>
        </p:spPr>
        <p:txBody>
          <a:bodyPr wrap="square" lIns="0" tIns="0" rIns="0" bIns="0" rtlCol="0" anchor="ctr"/>
          <a:lstStyle/>
          <a:p>
            <a:pPr marL="0" indent="0" algn="l">
              <a:buNone/>
            </a:pPr>
            <a:r>
              <a:rPr lang="en-US" sz="1300" b="1" dirty="0">
                <a:solidFill>
                  <a:srgbClr val="1A3A8A"/>
                </a:solidFill>
                <a:latin typeface="Noto Sans JP" pitchFamily="34" charset="0"/>
                <a:ea typeface="Noto Sans JP" pitchFamily="34" charset="-122"/>
                <a:cs typeface="Noto Sans JP" pitchFamily="34" charset="-120"/>
              </a:rPr>
              <a:t>最強のファンダム</a:t>
            </a:r>
            <a:endParaRPr lang="en-US" sz="1300" dirty="0"/>
          </a:p>
        </p:txBody>
      </p:sp>
      <p:sp>
        <p:nvSpPr>
          <p:cNvPr id="26" name="Text 15"/>
          <p:cNvSpPr txBox="1"/>
          <p:nvPr/>
        </p:nvSpPr>
        <p:spPr>
          <a:xfrm>
            <a:off x="8458200" y="4816145"/>
            <a:ext cx="3010205" cy="428854"/>
          </a:xfrm>
          <a:prstGeom prst="rect">
            <a:avLst/>
          </a:prstGeom>
          <a:noFill/>
          <a:ln/>
        </p:spPr>
        <p:txBody>
          <a:bodyPr wrap="square" lIns="0" tIns="0" rIns="0" bIns="0" rtlCol="0" anchor="t"/>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熱量の高いファンコミュニティを形成し、継続的な支持と経済圏を創出する。</a:t>
            </a:r>
            <a:endParaRPr lang="en-US" sz="1000" dirty="0"/>
          </a:p>
        </p:txBody>
      </p:sp>
      <p:sp>
        <p:nvSpPr>
          <p:cNvPr id="27" name="Text 16"/>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28" name="Text 17"/>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6476695"/>
            <a:ext cx="12191695" cy="381305"/>
          </a:xfrm>
          <a:prstGeom prst="rect">
            <a:avLst/>
          </a:prstGeom>
          <a:solidFill>
            <a:srgbClr val="FFFFFF"/>
          </a:solidFill>
          <a:ln/>
        </p:spPr>
        <p:txBody>
          <a:bodyPr/>
          <a:lstStyle/>
          <a:p>
            <a:endParaRPr lang="ja-JP" altLang="en-US"/>
          </a:p>
        </p:txBody>
      </p:sp>
      <p:sp>
        <p:nvSpPr>
          <p:cNvPr id="4" name="Shape 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5" name="Text 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6" name="Text 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04</a:t>
            </a:r>
            <a:endParaRPr lang="en-US" sz="800" dirty="0"/>
          </a:p>
        </p:txBody>
      </p:sp>
      <p:pic>
        <p:nvPicPr>
          <p:cNvPr id="7" name="Image 0" descr="preencoded.png"/>
          <p:cNvPicPr>
            <a:picLocks noChangeAspect="1"/>
          </p:cNvPicPr>
          <p:nvPr/>
        </p:nvPicPr>
        <p:blipFill>
          <a:blip r:embed="rId3"/>
          <a:srcRect l="-400" r="-400"/>
          <a:stretch/>
        </p:blipFill>
        <p:spPr>
          <a:xfrm>
            <a:off x="571500" y="776326"/>
            <a:ext cx="38405" cy="228600"/>
          </a:xfrm>
          <a:prstGeom prst="rect">
            <a:avLst/>
          </a:prstGeom>
        </p:spPr>
      </p:pic>
      <p:sp>
        <p:nvSpPr>
          <p:cNvPr id="8" name="Text 5"/>
          <p:cNvSpPr txBox="1"/>
          <p:nvPr/>
        </p:nvSpPr>
        <p:spPr>
          <a:xfrm>
            <a:off x="724205" y="761695"/>
            <a:ext cx="438912"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前提</a:t>
            </a:r>
            <a:endParaRPr lang="en-US" sz="1300" dirty="0"/>
          </a:p>
        </p:txBody>
      </p:sp>
      <p:sp>
        <p:nvSpPr>
          <p:cNvPr id="9" name="Text 6"/>
          <p:cNvSpPr txBox="1"/>
          <p:nvPr/>
        </p:nvSpPr>
        <p:spPr>
          <a:xfrm>
            <a:off x="2168042" y="381305"/>
            <a:ext cx="10411358" cy="2667305"/>
          </a:xfrm>
          <a:prstGeom prst="rect">
            <a:avLst/>
          </a:prstGeom>
          <a:noFill/>
          <a:ln/>
        </p:spPr>
        <p:txBody>
          <a:bodyPr wrap="square" lIns="0" tIns="0" rIns="0" bIns="0" rtlCol="0" anchor="ctr"/>
          <a:lstStyle/>
          <a:p>
            <a:pPr marL="0" indent="0" algn="l">
              <a:buNone/>
            </a:pPr>
            <a:r>
              <a:rPr lang="en-US" sz="21000" b="1" dirty="0">
                <a:solidFill>
                  <a:srgbClr val="1A3A8A">
                    <a:alpha val="3000"/>
                  </a:srgbClr>
                </a:solidFill>
                <a:latin typeface="Noto Sans JP" pitchFamily="34" charset="0"/>
                <a:ea typeface="Noto Sans JP" pitchFamily="34" charset="-122"/>
                <a:cs typeface="Noto Sans JP" pitchFamily="34" charset="-120"/>
              </a:rPr>
              <a:t>SHIBU1</a:t>
            </a:r>
            <a:endParaRPr lang="en-US" sz="21000" dirty="0"/>
          </a:p>
        </p:txBody>
      </p:sp>
      <p:pic>
        <p:nvPicPr>
          <p:cNvPr id="10" name="Image 1" descr="preencoded.png"/>
          <p:cNvPicPr>
            <a:picLocks noChangeAspect="1"/>
          </p:cNvPicPr>
          <p:nvPr/>
        </p:nvPicPr>
        <p:blipFill>
          <a:blip r:embed="rId4">
            <a:alphaModFix amt="3000"/>
          </a:blip>
          <a:srcRect/>
          <a:stretch/>
        </p:blipFill>
        <p:spPr>
          <a:xfrm>
            <a:off x="8382305" y="3126334"/>
            <a:ext cx="3810305" cy="3810305"/>
          </a:xfrm>
          <a:prstGeom prst="rect">
            <a:avLst/>
          </a:prstGeom>
        </p:spPr>
      </p:pic>
      <p:sp>
        <p:nvSpPr>
          <p:cNvPr id="11" name="Text 7"/>
          <p:cNvSpPr txBox="1"/>
          <p:nvPr/>
        </p:nvSpPr>
        <p:spPr>
          <a:xfrm>
            <a:off x="571500" y="1399946"/>
            <a:ext cx="11239805" cy="734263"/>
          </a:xfrm>
          <a:prstGeom prst="rect">
            <a:avLst/>
          </a:prstGeom>
          <a:noFill/>
          <a:ln/>
        </p:spPr>
        <p:txBody>
          <a:bodyPr wrap="square" lIns="0" tIns="0" rIns="0" bIns="0" rtlCol="0" anchor="ctr"/>
          <a:lstStyle/>
          <a:p>
            <a:pPr marL="0" indent="0" algn="l">
              <a:buNone/>
            </a:pPr>
            <a:r>
              <a:rPr lang="en-US" sz="4800" b="1" kern="0" spc="-75" dirty="0" err="1">
                <a:solidFill>
                  <a:srgbClr val="1A3A8A"/>
                </a:solidFill>
                <a:latin typeface="Noto Sans JP" pitchFamily="34" charset="0"/>
                <a:ea typeface="Noto Sans JP" pitchFamily="34" charset="-122"/>
                <a:cs typeface="Noto Sans JP" pitchFamily="34" charset="-120"/>
              </a:rPr>
              <a:t>渋一</a:t>
            </a:r>
            <a:r>
              <a:rPr lang="en-US" sz="4800" b="1" kern="0" spc="-75" dirty="0">
                <a:solidFill>
                  <a:srgbClr val="1A3A8A"/>
                </a:solidFill>
                <a:latin typeface="Noto Sans JP" pitchFamily="34" charset="0"/>
                <a:ea typeface="Noto Sans JP" pitchFamily="34" charset="-122"/>
                <a:cs typeface="Noto Sans JP" pitchFamily="34" charset="-120"/>
              </a:rPr>
              <a:t>(</a:t>
            </a:r>
            <a:r>
              <a:rPr lang="en-US" sz="4800" b="1" kern="0" spc="-75" dirty="0" err="1">
                <a:solidFill>
                  <a:srgbClr val="1A3A8A"/>
                </a:solidFill>
                <a:latin typeface="Noto Sans JP" pitchFamily="34" charset="0"/>
                <a:ea typeface="Noto Sans JP" pitchFamily="34" charset="-122"/>
                <a:cs typeface="Noto Sans JP" pitchFamily="34" charset="-120"/>
              </a:rPr>
              <a:t>シブワン</a:t>
            </a:r>
            <a:r>
              <a:rPr lang="en-US" sz="4800" b="1" kern="0" spc="-75" dirty="0">
                <a:solidFill>
                  <a:srgbClr val="1A3A8A"/>
                </a:solidFill>
                <a:latin typeface="Noto Sans JP" pitchFamily="34" charset="0"/>
                <a:ea typeface="Noto Sans JP" pitchFamily="34" charset="-122"/>
                <a:cs typeface="Noto Sans JP" pitchFamily="34" charset="-120"/>
              </a:rPr>
              <a:t>)</a:t>
            </a:r>
            <a:r>
              <a:rPr lang="en-US" sz="4800" b="1" kern="0" spc="-75" dirty="0" err="1">
                <a:solidFill>
                  <a:srgbClr val="1A3A8A"/>
                </a:solidFill>
                <a:latin typeface="Noto Sans JP" pitchFamily="34" charset="0"/>
                <a:ea typeface="Noto Sans JP" pitchFamily="34" charset="-122"/>
                <a:cs typeface="Noto Sans JP" pitchFamily="34" charset="-120"/>
              </a:rPr>
              <a:t>は</a:t>
            </a:r>
            <a:endParaRPr lang="en-US" sz="4800" dirty="0"/>
          </a:p>
        </p:txBody>
      </p:sp>
      <p:sp>
        <p:nvSpPr>
          <p:cNvPr id="12" name="Text 8"/>
          <p:cNvSpPr txBox="1"/>
          <p:nvPr/>
        </p:nvSpPr>
        <p:spPr>
          <a:xfrm>
            <a:off x="571500" y="2131466"/>
            <a:ext cx="11220602" cy="1467612"/>
          </a:xfrm>
          <a:prstGeom prst="rect">
            <a:avLst/>
          </a:prstGeom>
          <a:noFill/>
          <a:ln/>
        </p:spPr>
        <p:txBody>
          <a:bodyPr wrap="square" lIns="0" tIns="0" rIns="0" bIns="0" rtlCol="0" anchor="t"/>
          <a:lstStyle/>
          <a:p>
            <a:pPr marL="0" indent="0" algn="l">
              <a:buNone/>
            </a:pPr>
            <a:r>
              <a:rPr lang="en-US" sz="4800" b="1" kern="0" spc="-75" dirty="0">
                <a:solidFill>
                  <a:srgbClr val="1A3A8A"/>
                </a:solidFill>
                <a:latin typeface="Noto Sans JP" pitchFamily="34" charset="0"/>
                <a:ea typeface="Noto Sans JP" pitchFamily="34" charset="-122"/>
                <a:cs typeface="Noto Sans JP" pitchFamily="34" charset="-120"/>
              </a:rPr>
              <a:t>“アイドルを育てるプロジェクト”</a:t>
            </a:r>
            <a:r>
              <a:rPr lang="en-US" sz="4800" b="1" kern="0" spc="-75" dirty="0">
                <a:solidFill>
                  <a:srgbClr val="1E8CA6"/>
                </a:solidFill>
                <a:latin typeface="Noto Sans JP" pitchFamily="34" charset="0"/>
                <a:ea typeface="Noto Sans JP" pitchFamily="34" charset="-122"/>
                <a:cs typeface="Noto Sans JP" pitchFamily="34" charset="-120"/>
              </a:rPr>
              <a:t>ではない。</a:t>
            </a:r>
            <a:endParaRPr lang="en-US" sz="4800" dirty="0"/>
          </a:p>
        </p:txBody>
      </p:sp>
      <p:sp>
        <p:nvSpPr>
          <p:cNvPr id="13" name="Shape 9"/>
          <p:cNvSpPr/>
          <p:nvPr/>
        </p:nvSpPr>
        <p:spPr>
          <a:xfrm>
            <a:off x="571500" y="5938114"/>
            <a:ext cx="19202" cy="619049"/>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14" name="Text 10"/>
          <p:cNvSpPr txBox="1"/>
          <p:nvPr/>
        </p:nvSpPr>
        <p:spPr>
          <a:xfrm>
            <a:off x="1028700" y="5938114"/>
            <a:ext cx="10668305" cy="619963"/>
          </a:xfrm>
          <a:prstGeom prst="rect">
            <a:avLst/>
          </a:prstGeom>
          <a:noFill/>
          <a:ln/>
        </p:spPr>
        <p:txBody>
          <a:bodyPr wrap="square" lIns="0" tIns="0" rIns="0" bIns="0" rtlCol="0" anchor="ctr"/>
          <a:lstStyle/>
          <a:p>
            <a:pPr marL="0" indent="0" algn="l">
              <a:buNone/>
            </a:pPr>
            <a:r>
              <a:rPr lang="en-US" sz="1300" dirty="0">
                <a:solidFill>
                  <a:srgbClr val="555555"/>
                </a:solidFill>
                <a:latin typeface="Noto Sans JP" pitchFamily="34" charset="0"/>
                <a:ea typeface="Noto Sans JP" pitchFamily="34" charset="-122"/>
                <a:cs typeface="Noto Sans JP" pitchFamily="34" charset="-120"/>
              </a:rPr>
              <a:t>HJのプロダクトから未来を発掘するプロジェクト</a:t>
            </a:r>
            <a:endParaRPr lang="en-US" sz="1300" dirty="0"/>
          </a:p>
          <a:p>
            <a:pPr marL="0" indent="0" algn="l">
              <a:buNone/>
            </a:pPr>
            <a:r>
              <a:rPr lang="en-US" sz="1300" dirty="0">
                <a:solidFill>
                  <a:srgbClr val="555555"/>
                </a:solidFill>
                <a:latin typeface="Noto Sans JP" pitchFamily="34" charset="0"/>
                <a:ea typeface="Noto Sans JP" pitchFamily="34" charset="-122"/>
                <a:cs typeface="Noto Sans JP" pitchFamily="34" charset="-120"/>
              </a:rPr>
              <a:t>ミスターコンテスト(DC,DK)とも連携し、相互にシナジーを創出する。 </a:t>
            </a:r>
            <a:endParaRPr lang="en-US" sz="1300" dirty="0"/>
          </a:p>
        </p:txBody>
      </p:sp>
      <p:pic>
        <p:nvPicPr>
          <p:cNvPr id="15" name="Image 2" descr="preencoded.png"/>
          <p:cNvPicPr>
            <a:picLocks noChangeAspect="1"/>
          </p:cNvPicPr>
          <p:nvPr/>
        </p:nvPicPr>
        <p:blipFill>
          <a:blip r:embed="rId5"/>
          <a:srcRect/>
          <a:stretch/>
        </p:blipFill>
        <p:spPr>
          <a:xfrm>
            <a:off x="780898" y="6016752"/>
            <a:ext cx="171907" cy="171907"/>
          </a:xfrm>
          <a:prstGeom prst="rect">
            <a:avLst/>
          </a:prstGeom>
        </p:spPr>
      </p:pic>
      <p:pic>
        <p:nvPicPr>
          <p:cNvPr id="16" name="Image 3" descr="preencoded.png"/>
          <p:cNvPicPr>
            <a:picLocks noChangeAspect="1"/>
          </p:cNvPicPr>
          <p:nvPr/>
        </p:nvPicPr>
        <p:blipFill>
          <a:blip r:embed="rId5"/>
          <a:srcRect/>
          <a:stretch/>
        </p:blipFill>
        <p:spPr>
          <a:xfrm>
            <a:off x="780898" y="6324905"/>
            <a:ext cx="171907" cy="171907"/>
          </a:xfrm>
          <a:prstGeom prst="rect">
            <a:avLst/>
          </a:prstGeom>
        </p:spPr>
      </p:pic>
      <p:pic>
        <p:nvPicPr>
          <p:cNvPr id="17" name="Image 4" descr="preencoded.png"/>
          <p:cNvPicPr>
            <a:picLocks noChangeAspect="1"/>
          </p:cNvPicPr>
          <p:nvPr/>
        </p:nvPicPr>
        <p:blipFill>
          <a:blip r:embed="rId6"/>
          <a:srcRect l="-8" r="-8"/>
          <a:stretch/>
        </p:blipFill>
        <p:spPr>
          <a:xfrm>
            <a:off x="571500" y="3975811"/>
            <a:ext cx="11048695" cy="1676095"/>
          </a:xfrm>
          <a:prstGeom prst="rect">
            <a:avLst/>
          </a:prstGeom>
        </p:spPr>
      </p:pic>
      <p:sp>
        <p:nvSpPr>
          <p:cNvPr id="18" name="Text 11"/>
          <p:cNvSpPr txBox="1"/>
          <p:nvPr/>
        </p:nvSpPr>
        <p:spPr>
          <a:xfrm>
            <a:off x="1047902" y="4356202"/>
            <a:ext cx="10306202" cy="914400"/>
          </a:xfrm>
          <a:prstGeom prst="rect">
            <a:avLst/>
          </a:prstGeom>
          <a:noFill/>
          <a:ln/>
        </p:spPr>
        <p:txBody>
          <a:bodyPr wrap="square" lIns="0" tIns="0" rIns="0" bIns="0" rtlCol="0" anchor="t"/>
          <a:lstStyle/>
          <a:p>
            <a:pPr marL="0" indent="0" algn="l">
              <a:buNone/>
            </a:pPr>
            <a:r>
              <a:rPr lang="en-US" sz="2400" b="1" kern="0" spc="38" dirty="0">
                <a:solidFill>
                  <a:srgbClr val="FFFFFF"/>
                </a:solidFill>
                <a:latin typeface="Noto Sans JP" pitchFamily="34" charset="0"/>
                <a:ea typeface="Noto Sans JP" pitchFamily="34" charset="-122"/>
                <a:cs typeface="Noto Sans JP" pitchFamily="34" charset="-120"/>
              </a:rPr>
              <a:t> Z・α世代女性が「最初に推した男性スター」が</a:t>
            </a:r>
            <a:endParaRPr lang="en-US" sz="2400" dirty="0"/>
          </a:p>
          <a:p>
            <a:pPr marL="0" indent="0" algn="l">
              <a:buNone/>
            </a:pPr>
            <a:r>
              <a:rPr lang="en-US" sz="2400" b="1" kern="0" spc="38" dirty="0">
                <a:solidFill>
                  <a:srgbClr val="FFFFFF"/>
                </a:solidFill>
                <a:latin typeface="Noto Sans JP" pitchFamily="34" charset="0"/>
                <a:ea typeface="Noto Sans JP" pitchFamily="34" charset="-122"/>
                <a:cs typeface="Noto Sans JP" pitchFamily="34" charset="-120"/>
              </a:rPr>
              <a:t> 毎年生まれ続ける日本最大のメンズIP創出装置である。 </a:t>
            </a:r>
            <a:endParaRPr lang="en-US" sz="2400" dirty="0"/>
          </a:p>
        </p:txBody>
      </p:sp>
      <p:sp>
        <p:nvSpPr>
          <p:cNvPr id="19" name="Text 12"/>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20" name="Text 13"/>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401" b="-401"/>
          <a:stretch/>
        </p:blipFill>
        <p:spPr>
          <a:xfrm>
            <a:off x="0" y="0"/>
            <a:ext cx="12191695" cy="38405"/>
          </a:xfrm>
          <a:prstGeom prst="rect">
            <a:avLst/>
          </a:prstGeom>
        </p:spPr>
      </p:pic>
      <p:pic>
        <p:nvPicPr>
          <p:cNvPr id="4" name="Image 1" descr="preencoded.png"/>
          <p:cNvPicPr>
            <a:picLocks noChangeAspect="1"/>
          </p:cNvPicPr>
          <p:nvPr/>
        </p:nvPicPr>
        <p:blipFill>
          <a:blip r:embed="rId4"/>
          <a:srcRect l="-400" r="-400"/>
          <a:stretch/>
        </p:blipFill>
        <p:spPr>
          <a:xfrm>
            <a:off x="571500" y="814730"/>
            <a:ext cx="38405" cy="228600"/>
          </a:xfrm>
          <a:prstGeom prst="rect">
            <a:avLst/>
          </a:prstGeom>
        </p:spPr>
      </p:pic>
      <p:sp>
        <p:nvSpPr>
          <p:cNvPr id="5" name="Text 1"/>
          <p:cNvSpPr txBox="1"/>
          <p:nvPr/>
        </p:nvSpPr>
        <p:spPr>
          <a:xfrm>
            <a:off x="724205" y="800100"/>
            <a:ext cx="581558"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GOAL</a:t>
            </a:r>
            <a:endParaRPr lang="en-US" sz="1300" dirty="0"/>
          </a:p>
        </p:txBody>
      </p:sp>
      <p:sp>
        <p:nvSpPr>
          <p:cNvPr id="6" name="Shape 2"/>
          <p:cNvSpPr/>
          <p:nvPr/>
        </p:nvSpPr>
        <p:spPr>
          <a:xfrm>
            <a:off x="7715707" y="990295"/>
            <a:ext cx="190195" cy="190195"/>
          </a:xfrm>
          <a:prstGeom prst="ellipse">
            <a:avLst/>
          </a:prstGeom>
          <a:solidFill>
            <a:srgbClr val="1E8CA6">
              <a:alpha val="20000"/>
            </a:srgbClr>
          </a:solidFill>
          <a:ln w="12700">
            <a:solidFill>
              <a:srgbClr val="FFFFFF">
                <a:alpha val="0"/>
              </a:srgbClr>
            </a:solidFill>
            <a:prstDash val="solid"/>
          </a:ln>
        </p:spPr>
        <p:txBody>
          <a:bodyPr/>
          <a:lstStyle/>
          <a:p>
            <a:endParaRPr lang="ja-JP" altLang="en-US"/>
          </a:p>
        </p:txBody>
      </p:sp>
      <p:sp>
        <p:nvSpPr>
          <p:cNvPr id="7" name="Shape 3"/>
          <p:cNvSpPr/>
          <p:nvPr/>
        </p:nvSpPr>
        <p:spPr>
          <a:xfrm>
            <a:off x="7429500" y="1466698"/>
            <a:ext cx="3810305" cy="3810305"/>
          </a:xfrm>
          <a:prstGeom prst="ellipse">
            <a:avLst/>
          </a:prstGeom>
          <a:noFill/>
          <a:ln w="25400">
            <a:solidFill>
              <a:srgbClr val="EEF2F6"/>
            </a:solidFill>
            <a:prstDash val="solid"/>
          </a:ln>
        </p:spPr>
        <p:txBody>
          <a:bodyPr/>
          <a:lstStyle/>
          <a:p>
            <a:endParaRPr lang="ja-JP" altLang="en-US"/>
          </a:p>
        </p:txBody>
      </p:sp>
      <p:sp>
        <p:nvSpPr>
          <p:cNvPr id="8" name="Text 4"/>
          <p:cNvSpPr txBox="1"/>
          <p:nvPr/>
        </p:nvSpPr>
        <p:spPr>
          <a:xfrm>
            <a:off x="571500" y="1438351"/>
            <a:ext cx="11220602" cy="1343254"/>
          </a:xfrm>
          <a:prstGeom prst="rect">
            <a:avLst/>
          </a:prstGeom>
          <a:noFill/>
          <a:ln/>
        </p:spPr>
        <p:txBody>
          <a:bodyPr wrap="square" lIns="0" tIns="0" rIns="0" bIns="0" rtlCol="0" anchor="t"/>
          <a:lstStyle/>
          <a:p>
            <a:pPr marL="0" indent="0" algn="l">
              <a:buNone/>
            </a:pPr>
            <a:r>
              <a:rPr lang="en-US" sz="4800" b="1" kern="0" spc="-150" dirty="0">
                <a:solidFill>
                  <a:srgbClr val="1A3A8A"/>
                </a:solidFill>
                <a:latin typeface="Noto Sans JP" pitchFamily="34" charset="0"/>
                <a:ea typeface="Noto Sans JP" pitchFamily="34" charset="-122"/>
                <a:cs typeface="Noto Sans JP" pitchFamily="34" charset="-120"/>
              </a:rPr>
              <a:t>アイドル産業のTOPへ。</a:t>
            </a:r>
            <a:endParaRPr lang="en-US" sz="4800" dirty="0"/>
          </a:p>
          <a:p>
            <a:pPr marL="0" indent="0" algn="l">
              <a:buNone/>
            </a:pPr>
            <a:r>
              <a:rPr lang="en-US" sz="4800" b="1" kern="0" spc="-150" dirty="0">
                <a:solidFill>
                  <a:srgbClr val="1E8CA6"/>
                </a:solidFill>
                <a:latin typeface="Noto Sans JP" pitchFamily="34" charset="0"/>
                <a:ea typeface="Noto Sans JP" pitchFamily="34" charset="-122"/>
                <a:cs typeface="Noto Sans JP" pitchFamily="34" charset="-120"/>
              </a:rPr>
              <a:t>100億円プロジェクトへ。</a:t>
            </a:r>
            <a:endParaRPr lang="en-US" sz="4800" dirty="0"/>
          </a:p>
        </p:txBody>
      </p:sp>
      <p:pic>
        <p:nvPicPr>
          <p:cNvPr id="9" name="Image 2" descr="preencoded.png"/>
          <p:cNvPicPr>
            <a:picLocks noChangeAspect="1"/>
          </p:cNvPicPr>
          <p:nvPr/>
        </p:nvPicPr>
        <p:blipFill>
          <a:blip r:embed="rId5"/>
          <a:srcRect t="-1" b="-1"/>
          <a:stretch/>
        </p:blipFill>
        <p:spPr>
          <a:xfrm>
            <a:off x="571500" y="3351276"/>
            <a:ext cx="7181698" cy="1943100"/>
          </a:xfrm>
          <a:prstGeom prst="rect">
            <a:avLst/>
          </a:prstGeom>
        </p:spPr>
      </p:pic>
      <p:sp>
        <p:nvSpPr>
          <p:cNvPr id="10" name="Shape 5"/>
          <p:cNvSpPr/>
          <p:nvPr/>
        </p:nvSpPr>
        <p:spPr>
          <a:xfrm>
            <a:off x="571500" y="3351276"/>
            <a:ext cx="57607" cy="1943100"/>
          </a:xfrm>
          <a:prstGeom prst="roundRect">
            <a:avLst>
              <a:gd name="adj" fmla="val 186742"/>
            </a:avLst>
          </a:prstGeom>
          <a:solidFill>
            <a:srgbClr val="1E8CA6"/>
          </a:solidFill>
          <a:ln w="12700">
            <a:solidFill>
              <a:srgbClr val="1E8CA6">
                <a:alpha val="0"/>
              </a:srgbClr>
            </a:solidFill>
            <a:prstDash val="solid"/>
          </a:ln>
        </p:spPr>
        <p:txBody>
          <a:bodyPr/>
          <a:lstStyle/>
          <a:p>
            <a:endParaRPr lang="ja-JP" altLang="en-US"/>
          </a:p>
        </p:txBody>
      </p:sp>
      <p:sp>
        <p:nvSpPr>
          <p:cNvPr id="11" name="Text 6"/>
          <p:cNvSpPr txBox="1"/>
          <p:nvPr/>
        </p:nvSpPr>
        <p:spPr>
          <a:xfrm>
            <a:off x="915314" y="3351276"/>
            <a:ext cx="6914693" cy="194310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l">
              <a:buNone/>
            </a:pPr>
            <a:r>
              <a:rPr lang="en-US" sz="1500" dirty="0">
                <a:solidFill>
                  <a:srgbClr val="444444"/>
                </a:solidFill>
                <a:latin typeface="Noto Sans JP" pitchFamily="34" charset="0"/>
                <a:ea typeface="Noto Sans JP" pitchFamily="34" charset="-122"/>
                <a:cs typeface="Noto Sans JP" pitchFamily="34" charset="-120"/>
              </a:rPr>
              <a:t> SNSから始まる</a:t>
            </a:r>
            <a:r>
              <a:rPr lang="en-US" sz="1500" b="1" dirty="0">
                <a:solidFill>
                  <a:srgbClr val="1A3A8A"/>
                </a:solidFill>
                <a:latin typeface="Noto Sans JP" pitchFamily="34" charset="0"/>
                <a:ea typeface="Noto Sans JP" pitchFamily="34" charset="-122"/>
                <a:cs typeface="Noto Sans JP" pitchFamily="34" charset="-120"/>
              </a:rPr>
              <a:t>“ストーリー/物語”</a:t>
            </a:r>
            <a:r>
              <a:rPr lang="en-US" sz="1500" dirty="0">
                <a:solidFill>
                  <a:srgbClr val="444444"/>
                </a:solidFill>
                <a:latin typeface="Noto Sans JP" pitchFamily="34" charset="0"/>
                <a:ea typeface="Noto Sans JP" pitchFamily="34" charset="-122"/>
                <a:cs typeface="Noto Sans JP" pitchFamily="34" charset="-120"/>
              </a:rPr>
              <a:t>が狼煙をあげ、</a:t>
            </a:r>
            <a:endParaRPr lang="en-US" sz="1500" dirty="0"/>
          </a:p>
          <a:p>
            <a:pPr marL="0" indent="0" algn="l">
              <a:buNone/>
            </a:pPr>
            <a:r>
              <a:rPr lang="en-US" sz="1500" dirty="0">
                <a:solidFill>
                  <a:srgbClr val="444444"/>
                </a:solidFill>
                <a:latin typeface="Noto Sans JP" pitchFamily="34" charset="0"/>
                <a:ea typeface="Noto Sans JP" pitchFamily="34" charset="-122"/>
                <a:cs typeface="Noto Sans JP" pitchFamily="34" charset="-120"/>
              </a:rPr>
              <a:t> Shibuyaを起点に、女性が虜になるコンテンツを</a:t>
            </a:r>
            <a:endParaRPr lang="en-US" sz="1500" dirty="0"/>
          </a:p>
          <a:p>
            <a:pPr marL="0" indent="0" algn="l">
              <a:buNone/>
            </a:pPr>
            <a:r>
              <a:rPr lang="en-US" sz="1500" b="1" dirty="0">
                <a:solidFill>
                  <a:srgbClr val="1A3A8A"/>
                </a:solidFill>
                <a:latin typeface="Noto Sans JP" pitchFamily="34" charset="0"/>
                <a:ea typeface="Noto Sans JP" pitchFamily="34" charset="-122"/>
                <a:cs typeface="Noto Sans JP" pitchFamily="34" charset="-120"/>
              </a:rPr>
              <a:t>男子高校(男子校)</a:t>
            </a:r>
            <a:r>
              <a:rPr lang="en-US" sz="1500" dirty="0">
                <a:solidFill>
                  <a:srgbClr val="444444"/>
                </a:solidFill>
                <a:latin typeface="Noto Sans JP" pitchFamily="34" charset="0"/>
                <a:ea typeface="Noto Sans JP" pitchFamily="34" charset="-122"/>
                <a:cs typeface="Noto Sans JP" pitchFamily="34" charset="-120"/>
              </a:rPr>
              <a:t>というカテゴリーの中で投下し、</a:t>
            </a:r>
            <a:endParaRPr lang="en-US" sz="1500" dirty="0"/>
          </a:p>
          <a:p>
            <a:pPr marL="0" indent="0" algn="l">
              <a:buNone/>
            </a:pPr>
            <a:r>
              <a:rPr lang="en-US" sz="1500" dirty="0">
                <a:solidFill>
                  <a:srgbClr val="444444"/>
                </a:solidFill>
                <a:latin typeface="Noto Sans JP" pitchFamily="34" charset="0"/>
                <a:ea typeface="Noto Sans JP" pitchFamily="34" charset="-122"/>
                <a:cs typeface="Noto Sans JP" pitchFamily="34" charset="-120"/>
              </a:rPr>
              <a:t> 令和版の</a:t>
            </a:r>
            <a:r>
              <a:rPr lang="en-US" sz="1500" b="1" dirty="0">
                <a:solidFill>
                  <a:srgbClr val="1A3A8A"/>
                </a:solidFill>
                <a:latin typeface="Noto Sans JP" pitchFamily="34" charset="0"/>
                <a:ea typeface="Noto Sans JP" pitchFamily="34" charset="-122"/>
                <a:cs typeface="Noto Sans JP" pitchFamily="34" charset="-120"/>
              </a:rPr>
              <a:t>コムドットのアイドルver</a:t>
            </a:r>
            <a:r>
              <a:rPr lang="en-US" sz="1500" dirty="0">
                <a:solidFill>
                  <a:srgbClr val="444444"/>
                </a:solidFill>
                <a:latin typeface="Noto Sans JP" pitchFamily="34" charset="0"/>
                <a:ea typeface="Noto Sans JP" pitchFamily="34" charset="-122"/>
                <a:cs typeface="Noto Sans JP" pitchFamily="34" charset="-120"/>
              </a:rPr>
              <a:t>を立ち上げる。 </a:t>
            </a:r>
            <a:endParaRPr lang="en-US" sz="1500" dirty="0"/>
          </a:p>
        </p:txBody>
      </p:sp>
      <p:sp>
        <p:nvSpPr>
          <p:cNvPr id="12" name="Text 7"/>
          <p:cNvSpPr txBox="1"/>
          <p:nvPr/>
        </p:nvSpPr>
        <p:spPr>
          <a:xfrm>
            <a:off x="5787238" y="4476902"/>
            <a:ext cx="5838444" cy="1371600"/>
          </a:xfrm>
          <a:prstGeom prst="rect">
            <a:avLst/>
          </a:prstGeom>
          <a:noFill/>
          <a:ln/>
        </p:spPr>
        <p:txBody>
          <a:bodyPr wrap="square" lIns="0" tIns="0" rIns="0" bIns="0" rtlCol="0" anchor="ctr"/>
          <a:lstStyle/>
          <a:p>
            <a:pPr marL="0" indent="0" algn="r">
              <a:buNone/>
            </a:pPr>
            <a:r>
              <a:rPr lang="en-US" sz="13500" b="1" kern="0" spc="-600" dirty="0">
                <a:solidFill>
                  <a:srgbClr val="1A3A8A"/>
                </a:solidFill>
                <a:latin typeface="Noto Sans JP" pitchFamily="34" charset="0"/>
                <a:ea typeface="Noto Sans JP" pitchFamily="34" charset="-122"/>
                <a:cs typeface="Noto Sans JP" pitchFamily="34" charset="-120"/>
              </a:rPr>
              <a:t>¥100億</a:t>
            </a:r>
            <a:endParaRPr lang="en-US" sz="13500" dirty="0"/>
          </a:p>
        </p:txBody>
      </p:sp>
      <p:sp>
        <p:nvSpPr>
          <p:cNvPr id="13" name="Text 8"/>
          <p:cNvSpPr txBox="1"/>
          <p:nvPr/>
        </p:nvSpPr>
        <p:spPr>
          <a:xfrm>
            <a:off x="5995721" y="5943600"/>
            <a:ext cx="5629961" cy="342900"/>
          </a:xfrm>
          <a:prstGeom prst="rect">
            <a:avLst/>
          </a:prstGeom>
          <a:noFill/>
          <a:ln/>
        </p:spPr>
        <p:txBody>
          <a:bodyPr wrap="square" lIns="0" tIns="0" rIns="0" bIns="0" rtlCol="0" anchor="ctr"/>
          <a:lstStyle/>
          <a:p>
            <a:pPr marL="0" indent="0" algn="r">
              <a:buNone/>
            </a:pPr>
            <a:r>
              <a:rPr lang="en-US" sz="1800" b="1" kern="0" spc="150" dirty="0">
                <a:solidFill>
                  <a:srgbClr val="555555"/>
                </a:solidFill>
                <a:latin typeface="Noto Sans JP" pitchFamily="34" charset="0"/>
                <a:ea typeface="Noto Sans JP" pitchFamily="34" charset="-122"/>
                <a:cs typeface="Noto Sans JP" pitchFamily="34" charset="-120"/>
              </a:rPr>
              <a:t>IP VALUE TARGET</a:t>
            </a:r>
            <a:endParaRPr lang="en-US" sz="1800" dirty="0"/>
          </a:p>
        </p:txBody>
      </p:sp>
      <p:sp>
        <p:nvSpPr>
          <p:cNvPr id="14" name="Text 9"/>
          <p:cNvSpPr txBox="1"/>
          <p:nvPr/>
        </p:nvSpPr>
        <p:spPr>
          <a:xfrm>
            <a:off x="8314639" y="3914546"/>
            <a:ext cx="3261665" cy="553212"/>
          </a:xfrm>
          <a:prstGeom prst="rect">
            <a:avLst/>
          </a:prstGeom>
          <a:noFill/>
          <a:ln/>
        </p:spPr>
        <p:txBody>
          <a:bodyPr wrap="square" lIns="0" tIns="0" rIns="0" bIns="0" rtlCol="0" anchor="ctr"/>
          <a:lstStyle/>
          <a:p>
            <a:pPr marL="0" indent="0" algn="r">
              <a:buNone/>
            </a:pPr>
            <a:r>
              <a:rPr lang="en-US" sz="3000" b="1" dirty="0">
                <a:solidFill>
                  <a:srgbClr val="1E8CA6"/>
                </a:solidFill>
                <a:latin typeface="Noto Sans JP" pitchFamily="34" charset="0"/>
                <a:ea typeface="Noto Sans JP" pitchFamily="34" charset="-122"/>
                <a:cs typeface="Noto Sans JP" pitchFamily="34" charset="-120"/>
              </a:rPr>
              <a:t>PROJECT SCALE</a:t>
            </a:r>
            <a:endParaRPr lang="en-US" sz="3000" dirty="0"/>
          </a:p>
        </p:txBody>
      </p:sp>
      <p:sp>
        <p:nvSpPr>
          <p:cNvPr id="15" name="Text 10"/>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16" name="Text 11"/>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
        <p:nvSpPr>
          <p:cNvPr id="17" name="Shape 12"/>
          <p:cNvSpPr/>
          <p:nvPr/>
        </p:nvSpPr>
        <p:spPr>
          <a:xfrm>
            <a:off x="0" y="6476695"/>
            <a:ext cx="12191695" cy="381305"/>
          </a:xfrm>
          <a:prstGeom prst="rect">
            <a:avLst/>
          </a:prstGeom>
          <a:solidFill>
            <a:srgbClr val="FFFFFF"/>
          </a:solidFill>
          <a:ln/>
        </p:spPr>
        <p:txBody>
          <a:bodyPr/>
          <a:lstStyle/>
          <a:p>
            <a:endParaRPr lang="ja-JP" altLang="en-US"/>
          </a:p>
        </p:txBody>
      </p:sp>
      <p:sp>
        <p:nvSpPr>
          <p:cNvPr id="18" name="Shape 13"/>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19" name="Text 14"/>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20" name="Text 15"/>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401" b="-401"/>
          <a:stretch/>
        </p:blipFill>
        <p:spPr>
          <a:xfrm>
            <a:off x="0" y="0"/>
            <a:ext cx="12191695" cy="38405"/>
          </a:xfrm>
          <a:prstGeom prst="rect">
            <a:avLst/>
          </a:prstGeom>
        </p:spPr>
      </p:pic>
      <p:sp>
        <p:nvSpPr>
          <p:cNvPr id="4" name="Shape 1"/>
          <p:cNvSpPr/>
          <p:nvPr/>
        </p:nvSpPr>
        <p:spPr>
          <a:xfrm>
            <a:off x="0" y="6476695"/>
            <a:ext cx="12191695" cy="381305"/>
          </a:xfrm>
          <a:prstGeom prst="rect">
            <a:avLst/>
          </a:prstGeom>
          <a:solidFill>
            <a:srgbClr val="FFFFFF"/>
          </a:solidFill>
          <a:ln/>
        </p:spPr>
        <p:txBody>
          <a:bodyPr/>
          <a:lstStyle/>
          <a:p>
            <a:endParaRPr lang="ja-JP" altLang="en-US"/>
          </a:p>
        </p:txBody>
      </p:sp>
      <p:sp>
        <p:nvSpPr>
          <p:cNvPr id="5" name="Shape 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6" name="Text 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7" name="Text 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06</a:t>
            </a:r>
            <a:endParaRPr lang="en-US" sz="800" dirty="0"/>
          </a:p>
        </p:txBody>
      </p:sp>
      <p:pic>
        <p:nvPicPr>
          <p:cNvPr id="8" name="Image 1" descr="preencoded.png"/>
          <p:cNvPicPr>
            <a:picLocks noChangeAspect="1"/>
          </p:cNvPicPr>
          <p:nvPr/>
        </p:nvPicPr>
        <p:blipFill>
          <a:blip r:embed="rId4"/>
          <a:srcRect l="-400" r="-400"/>
          <a:stretch/>
        </p:blipFill>
        <p:spPr>
          <a:xfrm>
            <a:off x="571500" y="814730"/>
            <a:ext cx="38405" cy="228600"/>
          </a:xfrm>
          <a:prstGeom prst="rect">
            <a:avLst/>
          </a:prstGeom>
        </p:spPr>
      </p:pic>
      <p:sp>
        <p:nvSpPr>
          <p:cNvPr id="9" name="Text 5"/>
          <p:cNvSpPr txBox="1"/>
          <p:nvPr/>
        </p:nvSpPr>
        <p:spPr>
          <a:xfrm>
            <a:off x="724205" y="800100"/>
            <a:ext cx="1173175"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事業フェーズ</a:t>
            </a:r>
            <a:endParaRPr lang="en-US" sz="1300" dirty="0"/>
          </a:p>
        </p:txBody>
      </p:sp>
      <p:sp>
        <p:nvSpPr>
          <p:cNvPr id="10" name="Text 6"/>
          <p:cNvSpPr txBox="1"/>
          <p:nvPr/>
        </p:nvSpPr>
        <p:spPr>
          <a:xfrm>
            <a:off x="3341218" y="609905"/>
            <a:ext cx="9240012" cy="2667305"/>
          </a:xfrm>
          <a:prstGeom prst="rect">
            <a:avLst/>
          </a:prstGeom>
          <a:noFill/>
          <a:ln/>
        </p:spPr>
        <p:txBody>
          <a:bodyPr wrap="square" lIns="0" tIns="0" rIns="0" bIns="0" rtlCol="0" anchor="ctr"/>
          <a:lstStyle/>
          <a:p>
            <a:pPr marL="0" indent="0" algn="l">
              <a:buNone/>
            </a:pPr>
            <a:r>
              <a:rPr lang="en-US" sz="21000" b="1" dirty="0">
                <a:solidFill>
                  <a:srgbClr val="1A3A8A">
                    <a:alpha val="4000"/>
                  </a:srgbClr>
                </a:solidFill>
                <a:latin typeface="Noto Sans JP" pitchFamily="34" charset="0"/>
                <a:ea typeface="Noto Sans JP" pitchFamily="34" charset="-122"/>
                <a:cs typeface="Noto Sans JP" pitchFamily="34" charset="-120"/>
              </a:rPr>
              <a:t>PHASE</a:t>
            </a:r>
            <a:endParaRPr lang="en-US" sz="21000" dirty="0"/>
          </a:p>
        </p:txBody>
      </p:sp>
      <p:pic>
        <p:nvPicPr>
          <p:cNvPr id="11" name="Image 2" descr="preencoded.png"/>
          <p:cNvPicPr>
            <a:picLocks noChangeAspect="1"/>
          </p:cNvPicPr>
          <p:nvPr/>
        </p:nvPicPr>
        <p:blipFill>
          <a:blip r:embed="rId5">
            <a:alphaModFix amt="3000"/>
          </a:blip>
          <a:srcRect/>
          <a:stretch/>
        </p:blipFill>
        <p:spPr>
          <a:xfrm>
            <a:off x="9334195" y="3619195"/>
            <a:ext cx="2857500" cy="2857500"/>
          </a:xfrm>
          <a:prstGeom prst="rect">
            <a:avLst/>
          </a:prstGeom>
        </p:spPr>
      </p:pic>
      <p:sp>
        <p:nvSpPr>
          <p:cNvPr id="12" name="Text 7"/>
          <p:cNvSpPr txBox="1"/>
          <p:nvPr/>
        </p:nvSpPr>
        <p:spPr>
          <a:xfrm>
            <a:off x="571500" y="1438351"/>
            <a:ext cx="11239805" cy="553212"/>
          </a:xfrm>
          <a:prstGeom prst="rect">
            <a:avLst/>
          </a:prstGeom>
          <a:noFill/>
          <a:ln/>
        </p:spPr>
        <p:txBody>
          <a:bodyPr wrap="square" lIns="0" tIns="0" rIns="0" bIns="0" rtlCol="0" anchor="ctr"/>
          <a:lstStyle/>
          <a:p>
            <a:pPr marL="0" indent="0" algn="l">
              <a:buNone/>
            </a:pPr>
            <a:r>
              <a:rPr lang="en-US" sz="3600" b="1" kern="0" spc="-75" dirty="0">
                <a:solidFill>
                  <a:srgbClr val="1A3A8A"/>
                </a:solidFill>
                <a:latin typeface="Noto Sans JP" pitchFamily="34" charset="0"/>
                <a:ea typeface="Noto Sans JP" pitchFamily="34" charset="-122"/>
                <a:cs typeface="Noto Sans JP" pitchFamily="34" charset="-120"/>
              </a:rPr>
              <a:t>men's ver "Kawaii Lab" 3段階展開</a:t>
            </a:r>
            <a:endParaRPr lang="en-US" sz="3600" dirty="0"/>
          </a:p>
        </p:txBody>
      </p:sp>
      <p:sp>
        <p:nvSpPr>
          <p:cNvPr id="13" name="Shape 8"/>
          <p:cNvSpPr/>
          <p:nvPr/>
        </p:nvSpPr>
        <p:spPr>
          <a:xfrm>
            <a:off x="571500" y="5227625"/>
            <a:ext cx="11048695" cy="875995"/>
          </a:xfrm>
          <a:prstGeom prst="roundRect">
            <a:avLst>
              <a:gd name="adj" fmla="val 18154"/>
            </a:avLst>
          </a:prstGeom>
          <a:solidFill>
            <a:srgbClr val="1A3A8A"/>
          </a:solidFill>
          <a:ln w="12700">
            <a:solidFill>
              <a:srgbClr val="FFFFFF">
                <a:alpha val="0"/>
              </a:srgbClr>
            </a:solidFill>
            <a:prstDash val="solid"/>
          </a:ln>
        </p:spPr>
        <p:txBody>
          <a:bodyPr/>
          <a:lstStyle/>
          <a:p>
            <a:endParaRPr lang="ja-JP" altLang="en-US"/>
          </a:p>
        </p:txBody>
      </p:sp>
      <p:sp>
        <p:nvSpPr>
          <p:cNvPr id="14" name="Text 9"/>
          <p:cNvSpPr txBox="1"/>
          <p:nvPr/>
        </p:nvSpPr>
        <p:spPr>
          <a:xfrm>
            <a:off x="857707" y="5417820"/>
            <a:ext cx="10554005" cy="495605"/>
          </a:xfrm>
          <a:prstGeom prst="rect">
            <a:avLst/>
          </a:prstGeom>
          <a:noFill/>
          <a:ln/>
        </p:spPr>
        <p:txBody>
          <a:bodyPr wrap="square" lIns="0" tIns="0" rIns="0" bIns="0" rtlCol="0" anchor="t"/>
          <a:lstStyle/>
          <a:p>
            <a:pPr marL="0" indent="0" algn="l">
              <a:buNone/>
            </a:pPr>
            <a:r>
              <a:rPr lang="en-US" sz="1200" dirty="0">
                <a:solidFill>
                  <a:srgbClr val="FFFFFF"/>
                </a:solidFill>
                <a:latin typeface="Noto Sans JP" pitchFamily="34" charset="0"/>
                <a:ea typeface="Noto Sans JP" pitchFamily="34" charset="-122"/>
                <a:cs typeface="Noto Sans JP" pitchFamily="34" charset="-120"/>
              </a:rPr>
              <a:t>横型の短尺short filmを軸にZ世代、α世代の女性ファン向けコンテンツを投下し、認知拡大、ファン形成。</a:t>
            </a:r>
            <a:endParaRPr lang="en-US" sz="1200" dirty="0"/>
          </a:p>
          <a:p>
            <a:pPr marL="0" indent="0" algn="l">
              <a:buNone/>
            </a:pPr>
            <a:r>
              <a:rPr lang="en-US" sz="1200" dirty="0">
                <a:solidFill>
                  <a:srgbClr val="FFFFFF"/>
                </a:solidFill>
                <a:latin typeface="Noto Sans JP" pitchFamily="34" charset="0"/>
                <a:ea typeface="Noto Sans JP" pitchFamily="34" charset="-122"/>
                <a:cs typeface="Noto Sans JP" pitchFamily="34" charset="-120"/>
              </a:rPr>
              <a:t>エイチジェイの強みであるミスターコンテストとTGC TEENとの連動で盛り上げを図る。</a:t>
            </a:r>
            <a:endParaRPr lang="en-US" sz="1200" dirty="0"/>
          </a:p>
        </p:txBody>
      </p:sp>
      <p:pic>
        <p:nvPicPr>
          <p:cNvPr id="15" name="Image 3" descr="preencoded.png"/>
          <p:cNvPicPr>
            <a:picLocks noChangeAspect="1"/>
          </p:cNvPicPr>
          <p:nvPr/>
        </p:nvPicPr>
        <p:blipFill>
          <a:blip r:embed="rId6"/>
          <a:srcRect t="-1" b="-1"/>
          <a:stretch/>
        </p:blipFill>
        <p:spPr>
          <a:xfrm>
            <a:off x="571500" y="2272284"/>
            <a:ext cx="3530498" cy="2669134"/>
          </a:xfrm>
          <a:prstGeom prst="rect">
            <a:avLst/>
          </a:prstGeom>
        </p:spPr>
      </p:pic>
      <p:pic>
        <p:nvPicPr>
          <p:cNvPr id="16" name="Image 4" descr="preencoded.png"/>
          <p:cNvPicPr>
            <a:picLocks noChangeAspect="1"/>
          </p:cNvPicPr>
          <p:nvPr/>
        </p:nvPicPr>
        <p:blipFill>
          <a:blip r:embed="rId7"/>
          <a:srcRect l="-50" r="-50"/>
          <a:stretch/>
        </p:blipFill>
        <p:spPr>
          <a:xfrm>
            <a:off x="3683203" y="2520086"/>
            <a:ext cx="228600" cy="304495"/>
          </a:xfrm>
          <a:prstGeom prst="rect">
            <a:avLst/>
          </a:prstGeom>
        </p:spPr>
      </p:pic>
      <p:sp>
        <p:nvSpPr>
          <p:cNvPr id="17" name="Text 10"/>
          <p:cNvSpPr txBox="1"/>
          <p:nvPr/>
        </p:nvSpPr>
        <p:spPr>
          <a:xfrm>
            <a:off x="800100" y="2558491"/>
            <a:ext cx="3191256" cy="200254"/>
          </a:xfrm>
          <a:prstGeom prst="rect">
            <a:avLst/>
          </a:prstGeom>
          <a:noFill/>
          <a:ln/>
        </p:spPr>
        <p:txBody>
          <a:bodyPr wrap="square" lIns="0" tIns="0" rIns="0" bIns="0" rtlCol="0" anchor="ctr"/>
          <a:lstStyle/>
          <a:p>
            <a:pPr marL="0" indent="0" algn="l">
              <a:buNone/>
            </a:pPr>
            <a:r>
              <a:rPr lang="en-US" sz="1000" b="1" kern="0" spc="75" dirty="0">
                <a:solidFill>
                  <a:srgbClr val="999999"/>
                </a:solidFill>
                <a:latin typeface="Noto Sans JP" pitchFamily="34" charset="0"/>
                <a:ea typeface="Noto Sans JP" pitchFamily="34" charset="-122"/>
                <a:cs typeface="Noto Sans JP" pitchFamily="34" charset="-120"/>
              </a:rPr>
              <a:t>PHASE 01</a:t>
            </a:r>
            <a:endParaRPr lang="en-US" sz="1000" dirty="0"/>
          </a:p>
        </p:txBody>
      </p:sp>
      <p:sp>
        <p:nvSpPr>
          <p:cNvPr id="18" name="Text 11"/>
          <p:cNvSpPr txBox="1"/>
          <p:nvPr/>
        </p:nvSpPr>
        <p:spPr>
          <a:xfrm>
            <a:off x="800100" y="2834640"/>
            <a:ext cx="3155594" cy="571500"/>
          </a:xfrm>
          <a:prstGeom prst="rect">
            <a:avLst/>
          </a:prstGeom>
          <a:noFill/>
          <a:ln/>
        </p:spPr>
        <p:txBody>
          <a:bodyPr wrap="square" lIns="0" tIns="0" rIns="0" bIns="0" rtlCol="0" anchor="ctr"/>
          <a:lstStyle/>
          <a:p>
            <a:pPr marL="0" indent="0" algn="l">
              <a:buNone/>
            </a:pPr>
            <a:r>
              <a:rPr lang="en-US" sz="1600" b="1" dirty="0">
                <a:solidFill>
                  <a:srgbClr val="1A3A8A"/>
                </a:solidFill>
                <a:latin typeface="Noto Sans JP" pitchFamily="34" charset="0"/>
                <a:ea typeface="Noto Sans JP" pitchFamily="34" charset="-122"/>
                <a:cs typeface="Noto Sans JP" pitchFamily="34" charset="-120"/>
              </a:rPr>
              <a:t>"学園"</a:t>
            </a:r>
            <a:endParaRPr lang="en-US" sz="1600" dirty="0"/>
          </a:p>
          <a:p>
            <a:pPr marL="0" indent="0" algn="l">
              <a:buNone/>
            </a:pPr>
            <a:r>
              <a:rPr lang="en-US" sz="1600" b="1" dirty="0">
                <a:solidFill>
                  <a:srgbClr val="1A3A8A"/>
                </a:solidFill>
                <a:latin typeface="Noto Sans JP" pitchFamily="34" charset="0"/>
                <a:ea typeface="Noto Sans JP" pitchFamily="34" charset="-122"/>
                <a:cs typeface="Noto Sans JP" pitchFamily="34" charset="-120"/>
              </a:rPr>
              <a:t>short movie</a:t>
            </a:r>
            <a:endParaRPr lang="en-US" sz="1600" dirty="0"/>
          </a:p>
        </p:txBody>
      </p:sp>
      <p:sp>
        <p:nvSpPr>
          <p:cNvPr id="19" name="Text 12"/>
          <p:cNvSpPr txBox="1"/>
          <p:nvPr/>
        </p:nvSpPr>
        <p:spPr>
          <a:xfrm>
            <a:off x="990295" y="3558845"/>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数字獲得しやすい</a:t>
            </a:r>
            <a:endParaRPr lang="en-US" sz="1000" dirty="0"/>
          </a:p>
        </p:txBody>
      </p:sp>
      <p:sp>
        <p:nvSpPr>
          <p:cNvPr id="20" name="Text 13"/>
          <p:cNvSpPr txBox="1"/>
          <p:nvPr/>
        </p:nvSpPr>
        <p:spPr>
          <a:xfrm>
            <a:off x="990295" y="3829507"/>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女性ファン獲得しやすい</a:t>
            </a:r>
            <a:endParaRPr lang="en-US" sz="1000" dirty="0"/>
          </a:p>
        </p:txBody>
      </p:sp>
      <p:sp>
        <p:nvSpPr>
          <p:cNvPr id="21" name="Text 14"/>
          <p:cNvSpPr txBox="1"/>
          <p:nvPr/>
        </p:nvSpPr>
        <p:spPr>
          <a:xfrm>
            <a:off x="990295" y="4099255"/>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SNSショート動画を軸に展開</a:t>
            </a:r>
            <a:endParaRPr lang="en-US" sz="1000" dirty="0"/>
          </a:p>
        </p:txBody>
      </p:sp>
      <p:sp>
        <p:nvSpPr>
          <p:cNvPr id="22" name="Text 15"/>
          <p:cNvSpPr txBox="1"/>
          <p:nvPr/>
        </p:nvSpPr>
        <p:spPr>
          <a:xfrm>
            <a:off x="990295" y="4369918"/>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キャラクター定着と関係性描写</a:t>
            </a:r>
            <a:endParaRPr lang="en-US" sz="1000" dirty="0"/>
          </a:p>
        </p:txBody>
      </p:sp>
      <p:pic>
        <p:nvPicPr>
          <p:cNvPr id="23" name="Image 5" descr="preencoded.png"/>
          <p:cNvPicPr>
            <a:picLocks noChangeAspect="1"/>
          </p:cNvPicPr>
          <p:nvPr/>
        </p:nvPicPr>
        <p:blipFill>
          <a:blip r:embed="rId8"/>
          <a:srcRect t="-3" b="-3"/>
          <a:stretch/>
        </p:blipFill>
        <p:spPr>
          <a:xfrm>
            <a:off x="4330598" y="2272284"/>
            <a:ext cx="3530498" cy="2669134"/>
          </a:xfrm>
          <a:prstGeom prst="rect">
            <a:avLst/>
          </a:prstGeom>
        </p:spPr>
      </p:pic>
      <p:pic>
        <p:nvPicPr>
          <p:cNvPr id="24" name="Image 6" descr="preencoded.png"/>
          <p:cNvPicPr>
            <a:picLocks noChangeAspect="1"/>
          </p:cNvPicPr>
          <p:nvPr/>
        </p:nvPicPr>
        <p:blipFill>
          <a:blip r:embed="rId9"/>
          <a:srcRect/>
          <a:stretch/>
        </p:blipFill>
        <p:spPr>
          <a:xfrm>
            <a:off x="7366406" y="2520086"/>
            <a:ext cx="304495" cy="304495"/>
          </a:xfrm>
          <a:prstGeom prst="rect">
            <a:avLst/>
          </a:prstGeom>
        </p:spPr>
      </p:pic>
      <p:sp>
        <p:nvSpPr>
          <p:cNvPr id="25" name="Text 16"/>
          <p:cNvSpPr txBox="1"/>
          <p:nvPr/>
        </p:nvSpPr>
        <p:spPr>
          <a:xfrm>
            <a:off x="4559198" y="2558491"/>
            <a:ext cx="3191256" cy="200254"/>
          </a:xfrm>
          <a:prstGeom prst="rect">
            <a:avLst/>
          </a:prstGeom>
          <a:noFill/>
          <a:ln/>
        </p:spPr>
        <p:txBody>
          <a:bodyPr wrap="square" lIns="0" tIns="0" rIns="0" bIns="0" rtlCol="0" anchor="ctr"/>
          <a:lstStyle/>
          <a:p>
            <a:pPr marL="0" indent="0" algn="l">
              <a:buNone/>
            </a:pPr>
            <a:r>
              <a:rPr lang="en-US" sz="1000" b="1" kern="0" spc="75" dirty="0">
                <a:solidFill>
                  <a:srgbClr val="999999"/>
                </a:solidFill>
                <a:latin typeface="Noto Sans JP" pitchFamily="34" charset="0"/>
                <a:ea typeface="Noto Sans JP" pitchFamily="34" charset="-122"/>
                <a:cs typeface="Noto Sans JP" pitchFamily="34" charset="-120"/>
              </a:rPr>
              <a:t>PHASE 02</a:t>
            </a:r>
            <a:endParaRPr lang="en-US" sz="1000" dirty="0"/>
          </a:p>
        </p:txBody>
      </p:sp>
      <p:sp>
        <p:nvSpPr>
          <p:cNvPr id="26" name="Text 17"/>
          <p:cNvSpPr txBox="1"/>
          <p:nvPr/>
        </p:nvSpPr>
        <p:spPr>
          <a:xfrm>
            <a:off x="4559198" y="2834640"/>
            <a:ext cx="3155594" cy="571500"/>
          </a:xfrm>
          <a:prstGeom prst="rect">
            <a:avLst/>
          </a:prstGeom>
          <a:noFill/>
          <a:ln/>
        </p:spPr>
        <p:txBody>
          <a:bodyPr wrap="square" lIns="0" tIns="0" rIns="0" bIns="0" rtlCol="0" anchor="ctr"/>
          <a:lstStyle/>
          <a:p>
            <a:pPr marL="0" indent="0" algn="l">
              <a:buNone/>
            </a:pPr>
            <a:r>
              <a:rPr lang="en-US" sz="1600" b="1" dirty="0">
                <a:solidFill>
                  <a:srgbClr val="1A3A8A"/>
                </a:solidFill>
                <a:latin typeface="Noto Sans JP" pitchFamily="34" charset="0"/>
                <a:ea typeface="Noto Sans JP" pitchFamily="34" charset="-122"/>
                <a:cs typeface="Noto Sans JP" pitchFamily="34" charset="-120"/>
              </a:rPr>
              <a:t>短編映画</a:t>
            </a:r>
            <a:endParaRPr lang="en-US" sz="1600" dirty="0"/>
          </a:p>
          <a:p>
            <a:pPr marL="0" indent="0" algn="l">
              <a:buNone/>
            </a:pPr>
            <a:r>
              <a:rPr lang="en-US" sz="1600" b="1" dirty="0">
                <a:solidFill>
                  <a:srgbClr val="1A3A8A"/>
                </a:solidFill>
                <a:latin typeface="Noto Sans JP" pitchFamily="34" charset="0"/>
                <a:ea typeface="Noto Sans JP" pitchFamily="34" charset="-122"/>
                <a:cs typeface="Noto Sans JP" pitchFamily="34" charset="-120"/>
              </a:rPr>
              <a:t>Movie Production</a:t>
            </a:r>
            <a:endParaRPr lang="en-US" sz="1600" dirty="0"/>
          </a:p>
        </p:txBody>
      </p:sp>
      <p:sp>
        <p:nvSpPr>
          <p:cNvPr id="27" name="Text 18"/>
          <p:cNvSpPr txBox="1"/>
          <p:nvPr/>
        </p:nvSpPr>
        <p:spPr>
          <a:xfrm>
            <a:off x="4749394" y="3558845"/>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ドラマ仕立て / イケメンキッチン</a:t>
            </a:r>
            <a:endParaRPr lang="en-US" sz="1000" dirty="0"/>
          </a:p>
        </p:txBody>
      </p:sp>
      <p:sp>
        <p:nvSpPr>
          <p:cNvPr id="28" name="Text 19"/>
          <p:cNvSpPr txBox="1"/>
          <p:nvPr/>
        </p:nvSpPr>
        <p:spPr>
          <a:xfrm>
            <a:off x="4749394" y="3829507"/>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切り抜き・オフショット展開</a:t>
            </a:r>
            <a:endParaRPr lang="en-US" sz="1000" dirty="0"/>
          </a:p>
        </p:txBody>
      </p:sp>
      <p:sp>
        <p:nvSpPr>
          <p:cNvPr id="29" name="Text 20"/>
          <p:cNvSpPr txBox="1"/>
          <p:nvPr/>
        </p:nvSpPr>
        <p:spPr>
          <a:xfrm>
            <a:off x="4749394" y="4099255"/>
            <a:ext cx="3001061"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東映 × SHIBU1 PJ</a:t>
            </a:r>
            <a:endParaRPr lang="en-US" sz="1000" dirty="0"/>
          </a:p>
        </p:txBody>
      </p:sp>
      <p:sp>
        <p:nvSpPr>
          <p:cNvPr id="30" name="Text 21"/>
          <p:cNvSpPr txBox="1"/>
          <p:nvPr/>
        </p:nvSpPr>
        <p:spPr>
          <a:xfrm>
            <a:off x="4749394" y="4369918"/>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東宝との連携も視野</a:t>
            </a:r>
            <a:endParaRPr lang="en-US" sz="1000" dirty="0"/>
          </a:p>
        </p:txBody>
      </p:sp>
      <p:pic>
        <p:nvPicPr>
          <p:cNvPr id="31" name="Image 7" descr="preencoded.png"/>
          <p:cNvPicPr>
            <a:picLocks noChangeAspect="1"/>
          </p:cNvPicPr>
          <p:nvPr/>
        </p:nvPicPr>
        <p:blipFill>
          <a:blip r:embed="rId10"/>
          <a:srcRect t="-3" b="-3"/>
          <a:stretch/>
        </p:blipFill>
        <p:spPr>
          <a:xfrm>
            <a:off x="8089697" y="2272284"/>
            <a:ext cx="3530498" cy="2669134"/>
          </a:xfrm>
          <a:prstGeom prst="rect">
            <a:avLst/>
          </a:prstGeom>
        </p:spPr>
      </p:pic>
      <p:pic>
        <p:nvPicPr>
          <p:cNvPr id="32" name="Image 8" descr="preencoded.png"/>
          <p:cNvPicPr>
            <a:picLocks noChangeAspect="1"/>
          </p:cNvPicPr>
          <p:nvPr/>
        </p:nvPicPr>
        <p:blipFill>
          <a:blip r:embed="rId11"/>
          <a:srcRect l="-50" r="-50"/>
          <a:stretch/>
        </p:blipFill>
        <p:spPr>
          <a:xfrm>
            <a:off x="11087100" y="2520086"/>
            <a:ext cx="342900" cy="304495"/>
          </a:xfrm>
          <a:prstGeom prst="rect">
            <a:avLst/>
          </a:prstGeom>
        </p:spPr>
      </p:pic>
      <p:sp>
        <p:nvSpPr>
          <p:cNvPr id="33" name="Text 22"/>
          <p:cNvSpPr txBox="1"/>
          <p:nvPr/>
        </p:nvSpPr>
        <p:spPr>
          <a:xfrm>
            <a:off x="8318297" y="2558491"/>
            <a:ext cx="3191256" cy="200254"/>
          </a:xfrm>
          <a:prstGeom prst="rect">
            <a:avLst/>
          </a:prstGeom>
          <a:noFill/>
          <a:ln/>
        </p:spPr>
        <p:txBody>
          <a:bodyPr wrap="square" lIns="0" tIns="0" rIns="0" bIns="0" rtlCol="0" anchor="ctr"/>
          <a:lstStyle/>
          <a:p>
            <a:pPr marL="0" indent="0" algn="l">
              <a:buNone/>
            </a:pPr>
            <a:r>
              <a:rPr lang="en-US" sz="1000" b="1" kern="0" spc="75" dirty="0">
                <a:solidFill>
                  <a:srgbClr val="999999"/>
                </a:solidFill>
                <a:latin typeface="Noto Sans JP" pitchFamily="34" charset="0"/>
                <a:ea typeface="Noto Sans JP" pitchFamily="34" charset="-122"/>
                <a:cs typeface="Noto Sans JP" pitchFamily="34" charset="-120"/>
              </a:rPr>
              <a:t>PHASE 03</a:t>
            </a:r>
            <a:endParaRPr lang="en-US" sz="1000" dirty="0"/>
          </a:p>
        </p:txBody>
      </p:sp>
      <p:sp>
        <p:nvSpPr>
          <p:cNvPr id="34" name="Text 23"/>
          <p:cNvSpPr txBox="1"/>
          <p:nvPr/>
        </p:nvSpPr>
        <p:spPr>
          <a:xfrm>
            <a:off x="8318297" y="2834640"/>
            <a:ext cx="3155594" cy="571500"/>
          </a:xfrm>
          <a:prstGeom prst="rect">
            <a:avLst/>
          </a:prstGeom>
          <a:noFill/>
          <a:ln/>
        </p:spPr>
        <p:txBody>
          <a:bodyPr wrap="square" lIns="0" tIns="0" rIns="0" bIns="0" rtlCol="0" anchor="ctr"/>
          <a:lstStyle/>
          <a:p>
            <a:pPr marL="0" indent="0" algn="l">
              <a:buNone/>
            </a:pPr>
            <a:r>
              <a:rPr lang="en-US" sz="1600" b="1" dirty="0">
                <a:solidFill>
                  <a:srgbClr val="1A3A8A"/>
                </a:solidFill>
                <a:latin typeface="Noto Sans JP" pitchFamily="34" charset="0"/>
                <a:ea typeface="Noto Sans JP" pitchFamily="34" charset="-122"/>
                <a:cs typeface="Noto Sans JP" pitchFamily="34" charset="-120"/>
              </a:rPr>
              <a:t>地上波連動</a:t>
            </a:r>
            <a:endParaRPr lang="en-US" sz="1600" dirty="0"/>
          </a:p>
          <a:p>
            <a:pPr marL="0" indent="0" algn="l">
              <a:buNone/>
            </a:pPr>
            <a:r>
              <a:rPr lang="en-US" sz="1600" b="1" dirty="0">
                <a:solidFill>
                  <a:srgbClr val="1A3A8A"/>
                </a:solidFill>
                <a:latin typeface="Noto Sans JP" pitchFamily="34" charset="0"/>
                <a:ea typeface="Noto Sans JP" pitchFamily="34" charset="-122"/>
                <a:cs typeface="Noto Sans JP" pitchFamily="34" charset="-120"/>
              </a:rPr>
              <a:t>× サブスク配信</a:t>
            </a:r>
            <a:endParaRPr lang="en-US" sz="1600" dirty="0"/>
          </a:p>
        </p:txBody>
      </p:sp>
      <p:sp>
        <p:nvSpPr>
          <p:cNvPr id="35" name="Text 24"/>
          <p:cNvSpPr txBox="1"/>
          <p:nvPr/>
        </p:nvSpPr>
        <p:spPr>
          <a:xfrm>
            <a:off x="8509406" y="3558845"/>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地上波アイドル番組の放送</a:t>
            </a:r>
            <a:endParaRPr lang="en-US" sz="1000" dirty="0"/>
          </a:p>
        </p:txBody>
      </p:sp>
      <p:sp>
        <p:nvSpPr>
          <p:cNvPr id="36" name="Text 25"/>
          <p:cNvSpPr txBox="1"/>
          <p:nvPr/>
        </p:nvSpPr>
        <p:spPr>
          <a:xfrm>
            <a:off x="8509406" y="3829507"/>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サブスクプラットフォームでの配信</a:t>
            </a:r>
            <a:endParaRPr lang="en-US" sz="1000" dirty="0"/>
          </a:p>
        </p:txBody>
      </p:sp>
      <p:sp>
        <p:nvSpPr>
          <p:cNvPr id="37" name="Text 26"/>
          <p:cNvSpPr txBox="1"/>
          <p:nvPr/>
        </p:nvSpPr>
        <p:spPr>
          <a:xfrm>
            <a:off x="8509406" y="4099255"/>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マス層への認知拡大</a:t>
            </a:r>
            <a:endParaRPr lang="en-US" sz="1000" dirty="0"/>
          </a:p>
        </p:txBody>
      </p:sp>
      <p:sp>
        <p:nvSpPr>
          <p:cNvPr id="38" name="Text 27"/>
          <p:cNvSpPr txBox="1"/>
          <p:nvPr/>
        </p:nvSpPr>
        <p:spPr>
          <a:xfrm>
            <a:off x="8509406" y="4369918"/>
            <a:ext cx="3076956" cy="219456"/>
          </a:xfrm>
          <a:prstGeom prst="rect">
            <a:avLst/>
          </a:prstGeom>
          <a:noFill/>
          <a:ln/>
        </p:spPr>
        <p:txBody>
          <a:bodyPr wrap="square" lIns="0" tIns="0" rIns="0" bIns="0" rtlCol="0" anchor="ctr"/>
          <a:lstStyle/>
          <a:p>
            <a:pPr marL="0" indent="0" algn="l">
              <a:buNone/>
            </a:pPr>
            <a:r>
              <a:rPr lang="en-US" sz="1000" dirty="0">
                <a:solidFill>
                  <a:srgbClr val="555555"/>
                </a:solidFill>
                <a:latin typeface="Noto Sans JP" pitchFamily="34" charset="0"/>
                <a:ea typeface="Noto Sans JP" pitchFamily="34" charset="-122"/>
                <a:cs typeface="Noto Sans JP" pitchFamily="34" charset="-120"/>
              </a:rPr>
              <a:t>国民的アイドルIPへ昇華</a:t>
            </a:r>
            <a:endParaRPr lang="en-US" sz="1000" dirty="0"/>
          </a:p>
        </p:txBody>
      </p:sp>
      <p:sp>
        <p:nvSpPr>
          <p:cNvPr id="39" name="Text 28"/>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40" name="Text 29"/>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l="-281" r="-281"/>
          <a:stretch/>
        </p:blipFill>
        <p:spPr>
          <a:xfrm>
            <a:off x="0" y="0"/>
            <a:ext cx="12191695" cy="25603"/>
          </a:xfrm>
          <a:prstGeom prst="rect">
            <a:avLst/>
          </a:prstGeom>
        </p:spPr>
      </p:pic>
      <p:sp>
        <p:nvSpPr>
          <p:cNvPr id="4" name="Shape 1"/>
          <p:cNvSpPr/>
          <p:nvPr/>
        </p:nvSpPr>
        <p:spPr>
          <a:xfrm>
            <a:off x="0" y="6598310"/>
            <a:ext cx="12191695" cy="267005"/>
          </a:xfrm>
          <a:prstGeom prst="rect">
            <a:avLst/>
          </a:prstGeom>
          <a:solidFill>
            <a:srgbClr val="FFFFFF"/>
          </a:solidFill>
          <a:ln/>
        </p:spPr>
        <p:txBody>
          <a:bodyPr/>
          <a:lstStyle/>
          <a:p>
            <a:endParaRPr lang="ja-JP" altLang="en-US"/>
          </a:p>
        </p:txBody>
      </p:sp>
      <p:sp>
        <p:nvSpPr>
          <p:cNvPr id="5" name="Shape 2"/>
          <p:cNvSpPr/>
          <p:nvPr/>
        </p:nvSpPr>
        <p:spPr>
          <a:xfrm>
            <a:off x="0" y="6598310"/>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6" name="Text 3"/>
          <p:cNvSpPr txBox="1"/>
          <p:nvPr/>
        </p:nvSpPr>
        <p:spPr>
          <a:xfrm>
            <a:off x="381305" y="666140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7" name="Text 4"/>
          <p:cNvSpPr txBox="1"/>
          <p:nvPr/>
        </p:nvSpPr>
        <p:spPr>
          <a:xfrm>
            <a:off x="11698834" y="666140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07</a:t>
            </a:r>
            <a:endParaRPr lang="en-US" sz="800" dirty="0"/>
          </a:p>
        </p:txBody>
      </p:sp>
      <p:pic>
        <p:nvPicPr>
          <p:cNvPr id="8" name="Image 1" descr="preencoded.png"/>
          <p:cNvPicPr>
            <a:picLocks noChangeAspect="1"/>
          </p:cNvPicPr>
          <p:nvPr/>
        </p:nvPicPr>
        <p:blipFill>
          <a:blip r:embed="rId4"/>
          <a:srcRect l="-400" r="-400"/>
          <a:stretch/>
        </p:blipFill>
        <p:spPr>
          <a:xfrm>
            <a:off x="571500" y="801929"/>
            <a:ext cx="38405" cy="228600"/>
          </a:xfrm>
          <a:prstGeom prst="rect">
            <a:avLst/>
          </a:prstGeom>
        </p:spPr>
      </p:pic>
      <p:sp>
        <p:nvSpPr>
          <p:cNvPr id="9" name="Text 5"/>
          <p:cNvSpPr txBox="1"/>
          <p:nvPr/>
        </p:nvSpPr>
        <p:spPr>
          <a:xfrm>
            <a:off x="724205" y="787298"/>
            <a:ext cx="1173175"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ロードマップ</a:t>
            </a:r>
            <a:endParaRPr lang="en-US" sz="1300" dirty="0"/>
          </a:p>
        </p:txBody>
      </p:sp>
      <p:sp>
        <p:nvSpPr>
          <p:cNvPr id="10" name="Text 6"/>
          <p:cNvSpPr txBox="1"/>
          <p:nvPr/>
        </p:nvSpPr>
        <p:spPr>
          <a:xfrm>
            <a:off x="571500" y="1330452"/>
            <a:ext cx="11239805" cy="600761"/>
          </a:xfrm>
          <a:prstGeom prst="rect">
            <a:avLst/>
          </a:prstGeom>
          <a:noFill/>
          <a:ln/>
        </p:spPr>
        <p:txBody>
          <a:bodyPr wrap="square" lIns="0" tIns="0" rIns="0" bIns="0" rtlCol="0" anchor="ctr"/>
          <a:lstStyle/>
          <a:p>
            <a:pPr marL="0" indent="0" algn="l">
              <a:buNone/>
            </a:pPr>
            <a:r>
              <a:rPr lang="en-US" sz="3100" b="1" kern="0" spc="-75" dirty="0">
                <a:solidFill>
                  <a:srgbClr val="1A3A8A"/>
                </a:solidFill>
                <a:latin typeface="Noto Sans JP" pitchFamily="34" charset="0"/>
                <a:ea typeface="Noto Sans JP" pitchFamily="34" charset="-122"/>
                <a:cs typeface="Noto Sans JP" pitchFamily="34" charset="-120"/>
              </a:rPr>
              <a:t>2026-2028 3フェーズ展開計画</a:t>
            </a:r>
            <a:endParaRPr lang="en-US" sz="3100" dirty="0"/>
          </a:p>
        </p:txBody>
      </p:sp>
      <p:pic>
        <p:nvPicPr>
          <p:cNvPr id="11" name="Image 2" descr="preencoded.png"/>
          <p:cNvPicPr>
            <a:picLocks noChangeAspect="1"/>
          </p:cNvPicPr>
          <p:nvPr/>
        </p:nvPicPr>
        <p:blipFill>
          <a:blip r:embed="rId5"/>
          <a:srcRect l="-2" r="-2"/>
          <a:stretch/>
        </p:blipFill>
        <p:spPr>
          <a:xfrm>
            <a:off x="714146" y="2597810"/>
            <a:ext cx="3396996" cy="3619195"/>
          </a:xfrm>
          <a:prstGeom prst="rect">
            <a:avLst/>
          </a:prstGeom>
        </p:spPr>
      </p:pic>
      <p:sp>
        <p:nvSpPr>
          <p:cNvPr id="12" name="Shape 7"/>
          <p:cNvSpPr/>
          <p:nvPr/>
        </p:nvSpPr>
        <p:spPr>
          <a:xfrm>
            <a:off x="914400" y="4501591"/>
            <a:ext cx="3000146" cy="19202"/>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13" name="Text 8"/>
          <p:cNvSpPr txBox="1"/>
          <p:nvPr/>
        </p:nvSpPr>
        <p:spPr>
          <a:xfrm>
            <a:off x="875995" y="3873398"/>
            <a:ext cx="3076956" cy="53401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ctr">
              <a:buNone/>
            </a:pPr>
            <a:r>
              <a:rPr lang="en-US" sz="1500" b="1" dirty="0">
                <a:solidFill>
                  <a:srgbClr val="1A3A8A"/>
                </a:solidFill>
                <a:latin typeface="Noto Sans JP" pitchFamily="34" charset="0"/>
                <a:ea typeface="Noto Sans JP" pitchFamily="34" charset="-122"/>
                <a:cs typeface="Noto Sans JP" pitchFamily="34" charset="-120"/>
              </a:rPr>
              <a:t>SNS・短尺動画</a:t>
            </a:r>
            <a:endParaRPr lang="en-US" sz="1500" dirty="0"/>
          </a:p>
          <a:p>
            <a:pPr marL="0" indent="0" algn="ctr">
              <a:buNone/>
            </a:pPr>
            <a:r>
              <a:rPr lang="en-US" sz="1500" b="1" dirty="0">
                <a:solidFill>
                  <a:srgbClr val="1A3A8A"/>
                </a:solidFill>
                <a:latin typeface="Noto Sans JP" pitchFamily="34" charset="0"/>
                <a:ea typeface="Noto Sans JP" pitchFamily="34" charset="-122"/>
                <a:cs typeface="Noto Sans JP" pitchFamily="34" charset="-120"/>
              </a:rPr>
              <a:t>認知拡大</a:t>
            </a:r>
            <a:endParaRPr lang="en-US" sz="1500" dirty="0"/>
          </a:p>
        </p:txBody>
      </p:sp>
      <p:sp>
        <p:nvSpPr>
          <p:cNvPr id="14" name="Text 9"/>
          <p:cNvSpPr txBox="1"/>
          <p:nvPr/>
        </p:nvSpPr>
        <p:spPr>
          <a:xfrm>
            <a:off x="875995" y="4711903"/>
            <a:ext cx="3076956" cy="685800"/>
          </a:xfrm>
          <a:prstGeom prst="rect">
            <a:avLst/>
          </a:prstGeom>
          <a:noFill/>
          <a:ln/>
        </p:spPr>
        <p:txBody>
          <a:bodyPr wrap="square" lIns="0" tIns="0" rIns="0" bIns="0" rtlCol="0" anchor="t"/>
          <a:lstStyle/>
          <a:p>
            <a:pPr marL="0" indent="0" algn="ctr">
              <a:buNone/>
            </a:pPr>
            <a:r>
              <a:rPr lang="en-US" sz="1100" dirty="0">
                <a:solidFill>
                  <a:srgbClr val="555555"/>
                </a:solidFill>
                <a:latin typeface="Noto Sans JP" pitchFamily="34" charset="0"/>
                <a:ea typeface="Noto Sans JP" pitchFamily="34" charset="-122"/>
                <a:cs typeface="Noto Sans JP" pitchFamily="34" charset="-120"/>
              </a:rPr>
              <a:t>「学園」ショートムービーを軸にキャラクターを定着させ、熱狂的な初期ファンダムを形成。</a:t>
            </a:r>
            <a:endParaRPr lang="en-US" sz="1100" dirty="0"/>
          </a:p>
        </p:txBody>
      </p:sp>
      <p:pic>
        <p:nvPicPr>
          <p:cNvPr id="15" name="Image 3" descr="preencoded.png"/>
          <p:cNvPicPr>
            <a:picLocks noChangeAspect="1"/>
          </p:cNvPicPr>
          <p:nvPr/>
        </p:nvPicPr>
        <p:blipFill>
          <a:blip r:embed="rId6"/>
          <a:srcRect l="-40" r="-40"/>
          <a:stretch/>
        </p:blipFill>
        <p:spPr>
          <a:xfrm>
            <a:off x="2270455" y="5587898"/>
            <a:ext cx="286207" cy="381305"/>
          </a:xfrm>
          <a:prstGeom prst="rect">
            <a:avLst/>
          </a:prstGeom>
        </p:spPr>
      </p:pic>
      <p:sp>
        <p:nvSpPr>
          <p:cNvPr id="16" name="Shape 10"/>
          <p:cNvSpPr/>
          <p:nvPr/>
        </p:nvSpPr>
        <p:spPr>
          <a:xfrm>
            <a:off x="724205" y="2606954"/>
            <a:ext cx="3381451" cy="981151"/>
          </a:xfrm>
          <a:prstGeom prst="roundRect">
            <a:avLst>
              <a:gd name="adj" fmla="val 21716"/>
            </a:avLst>
          </a:prstGeom>
          <a:solidFill>
            <a:srgbClr val="1A3A8A"/>
          </a:solidFill>
          <a:ln w="12700">
            <a:solidFill>
              <a:srgbClr val="FFFFFF">
                <a:alpha val="0"/>
              </a:srgbClr>
            </a:solidFill>
            <a:prstDash val="solid"/>
          </a:ln>
        </p:spPr>
        <p:txBody>
          <a:bodyPr/>
          <a:lstStyle/>
          <a:p>
            <a:endParaRPr lang="ja-JP" altLang="en-US"/>
          </a:p>
        </p:txBody>
      </p:sp>
      <p:sp>
        <p:nvSpPr>
          <p:cNvPr id="17" name="Shape 11"/>
          <p:cNvSpPr/>
          <p:nvPr/>
        </p:nvSpPr>
        <p:spPr>
          <a:xfrm>
            <a:off x="2028139" y="2807208"/>
            <a:ext cx="771754" cy="237744"/>
          </a:xfrm>
          <a:prstGeom prst="roundRect">
            <a:avLst>
              <a:gd name="adj" fmla="val 123077"/>
            </a:avLst>
          </a:prstGeom>
          <a:solidFill>
            <a:srgbClr val="FFFFFF">
              <a:alpha val="10000"/>
            </a:srgbClr>
          </a:solidFill>
          <a:ln w="12700">
            <a:solidFill>
              <a:srgbClr val="FFFFFF">
                <a:alpha val="0"/>
              </a:srgbClr>
            </a:solidFill>
            <a:prstDash val="solid"/>
          </a:ln>
        </p:spPr>
        <p:txBody>
          <a:bodyPr/>
          <a:lstStyle/>
          <a:p>
            <a:endParaRPr lang="ja-JP" altLang="en-US"/>
          </a:p>
        </p:txBody>
      </p:sp>
      <p:sp>
        <p:nvSpPr>
          <p:cNvPr id="18" name="Text 12"/>
          <p:cNvSpPr txBox="1"/>
          <p:nvPr/>
        </p:nvSpPr>
        <p:spPr>
          <a:xfrm>
            <a:off x="1990649" y="2807208"/>
            <a:ext cx="848563" cy="238658"/>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1000" b="1" kern="0" spc="75" dirty="0">
                <a:solidFill>
                  <a:srgbClr val="1E8CA6"/>
                </a:solidFill>
                <a:latin typeface="Noto Sans JP" pitchFamily="34" charset="0"/>
                <a:ea typeface="Noto Sans JP" pitchFamily="34" charset="-122"/>
                <a:cs typeface="Noto Sans JP" pitchFamily="34" charset="-120"/>
              </a:rPr>
              <a:t>PHASE 1</a:t>
            </a:r>
            <a:endParaRPr lang="en-US" sz="1000" dirty="0"/>
          </a:p>
        </p:txBody>
      </p:sp>
      <p:sp>
        <p:nvSpPr>
          <p:cNvPr id="19" name="Text 13"/>
          <p:cNvSpPr txBox="1"/>
          <p:nvPr/>
        </p:nvSpPr>
        <p:spPr>
          <a:xfrm>
            <a:off x="857707" y="3092501"/>
            <a:ext cx="3115361" cy="305410"/>
          </a:xfrm>
          <a:prstGeom prst="rect">
            <a:avLst/>
          </a:prstGeom>
          <a:noFill/>
          <a:ln/>
        </p:spPr>
        <p:txBody>
          <a:bodyPr wrap="square" lIns="0" tIns="0" rIns="0" bIns="0" rtlCol="0" anchor="ctr"/>
          <a:lstStyle/>
          <a:p>
            <a:pPr marL="0" indent="0" algn="ctr">
              <a:buNone/>
            </a:pPr>
            <a:r>
              <a:rPr lang="en-US" sz="2400" b="1" dirty="0">
                <a:solidFill>
                  <a:srgbClr val="FFFFFF"/>
                </a:solidFill>
                <a:latin typeface="Noto Sans JP" pitchFamily="34" charset="0"/>
                <a:ea typeface="Noto Sans JP" pitchFamily="34" charset="-122"/>
                <a:cs typeface="Noto Sans JP" pitchFamily="34" charset="-120"/>
              </a:rPr>
              <a:t>2026</a:t>
            </a:r>
            <a:endParaRPr lang="en-US" sz="2400" dirty="0"/>
          </a:p>
        </p:txBody>
      </p:sp>
      <p:pic>
        <p:nvPicPr>
          <p:cNvPr id="20" name="Image 4" descr="preencoded.png"/>
          <p:cNvPicPr>
            <a:picLocks noChangeAspect="1"/>
          </p:cNvPicPr>
          <p:nvPr/>
        </p:nvPicPr>
        <p:blipFill>
          <a:blip r:embed="rId7"/>
          <a:srcRect t="-80" b="-80"/>
          <a:stretch/>
        </p:blipFill>
        <p:spPr>
          <a:xfrm>
            <a:off x="4197096" y="4302252"/>
            <a:ext cx="142646" cy="228600"/>
          </a:xfrm>
          <a:prstGeom prst="rect">
            <a:avLst/>
          </a:prstGeom>
        </p:spPr>
      </p:pic>
      <p:pic>
        <p:nvPicPr>
          <p:cNvPr id="21" name="Image 5" descr="preencoded.png"/>
          <p:cNvPicPr>
            <a:picLocks noChangeAspect="1"/>
          </p:cNvPicPr>
          <p:nvPr/>
        </p:nvPicPr>
        <p:blipFill>
          <a:blip r:embed="rId8"/>
          <a:srcRect/>
          <a:stretch/>
        </p:blipFill>
        <p:spPr>
          <a:xfrm>
            <a:off x="4397350" y="2597810"/>
            <a:ext cx="3396996" cy="3619195"/>
          </a:xfrm>
          <a:prstGeom prst="rect">
            <a:avLst/>
          </a:prstGeom>
        </p:spPr>
      </p:pic>
      <p:sp>
        <p:nvSpPr>
          <p:cNvPr id="22" name="Shape 14"/>
          <p:cNvSpPr/>
          <p:nvPr/>
        </p:nvSpPr>
        <p:spPr>
          <a:xfrm>
            <a:off x="4597603" y="4501591"/>
            <a:ext cx="3000146" cy="19202"/>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23" name="Text 15"/>
          <p:cNvSpPr txBox="1"/>
          <p:nvPr/>
        </p:nvSpPr>
        <p:spPr>
          <a:xfrm>
            <a:off x="4559198" y="3873398"/>
            <a:ext cx="3076956" cy="53401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ctr">
              <a:buNone/>
            </a:pPr>
            <a:r>
              <a:rPr lang="en-US" sz="1500" b="1" dirty="0">
                <a:solidFill>
                  <a:srgbClr val="1A3A8A"/>
                </a:solidFill>
                <a:latin typeface="Noto Sans JP" pitchFamily="34" charset="0"/>
                <a:ea typeface="Noto Sans JP" pitchFamily="34" charset="-122"/>
                <a:cs typeface="Noto Sans JP" pitchFamily="34" charset="-120"/>
              </a:rPr>
              <a:t>短編映画制作</a:t>
            </a:r>
            <a:endParaRPr lang="en-US" sz="1500" dirty="0"/>
          </a:p>
          <a:p>
            <a:pPr marL="0" indent="0" algn="ctr">
              <a:buNone/>
            </a:pPr>
            <a:r>
              <a:rPr lang="en-US" sz="1500" b="1" dirty="0">
                <a:solidFill>
                  <a:srgbClr val="1A3A8A"/>
                </a:solidFill>
                <a:latin typeface="Noto Sans JP" pitchFamily="34" charset="0"/>
                <a:ea typeface="Noto Sans JP" pitchFamily="34" charset="-122"/>
                <a:cs typeface="Noto Sans JP" pitchFamily="34" charset="-120"/>
              </a:rPr>
              <a:t>ファン深化</a:t>
            </a:r>
            <a:endParaRPr lang="en-US" sz="1500" dirty="0"/>
          </a:p>
        </p:txBody>
      </p:sp>
      <p:sp>
        <p:nvSpPr>
          <p:cNvPr id="24" name="Text 16"/>
          <p:cNvSpPr txBox="1"/>
          <p:nvPr/>
        </p:nvSpPr>
        <p:spPr>
          <a:xfrm>
            <a:off x="4559198" y="4711903"/>
            <a:ext cx="3076956" cy="457200"/>
          </a:xfrm>
          <a:prstGeom prst="rect">
            <a:avLst/>
          </a:prstGeom>
          <a:noFill/>
          <a:ln/>
        </p:spPr>
        <p:txBody>
          <a:bodyPr wrap="square" lIns="0" tIns="0" rIns="0" bIns="0" rtlCol="0" anchor="t"/>
          <a:lstStyle/>
          <a:p>
            <a:pPr marL="0" indent="0" algn="ctr">
              <a:buNone/>
            </a:pPr>
            <a:r>
              <a:rPr lang="en-US" sz="1100" dirty="0">
                <a:solidFill>
                  <a:srgbClr val="555555"/>
                </a:solidFill>
                <a:latin typeface="Noto Sans JP" pitchFamily="34" charset="0"/>
                <a:ea typeface="Noto Sans JP" pitchFamily="34" charset="-122"/>
                <a:cs typeface="Noto Sans JP" pitchFamily="34" charset="-120"/>
              </a:rPr>
              <a:t>渋谷を舞台にしたストーリー性の高い短編映画へ展開。若者カルチャーとの融合を図る。</a:t>
            </a:r>
            <a:endParaRPr lang="en-US" sz="1100" dirty="0"/>
          </a:p>
        </p:txBody>
      </p:sp>
      <p:pic>
        <p:nvPicPr>
          <p:cNvPr id="25" name="Image 6" descr="preencoded.png"/>
          <p:cNvPicPr>
            <a:picLocks noChangeAspect="1"/>
          </p:cNvPicPr>
          <p:nvPr/>
        </p:nvPicPr>
        <p:blipFill>
          <a:blip r:embed="rId9"/>
          <a:srcRect/>
          <a:stretch/>
        </p:blipFill>
        <p:spPr>
          <a:xfrm>
            <a:off x="5905195" y="5540350"/>
            <a:ext cx="381305" cy="381305"/>
          </a:xfrm>
          <a:prstGeom prst="rect">
            <a:avLst/>
          </a:prstGeom>
        </p:spPr>
      </p:pic>
      <p:sp>
        <p:nvSpPr>
          <p:cNvPr id="26" name="Shape 17"/>
          <p:cNvSpPr/>
          <p:nvPr/>
        </p:nvSpPr>
        <p:spPr>
          <a:xfrm>
            <a:off x="4406494" y="2606954"/>
            <a:ext cx="3381451" cy="981151"/>
          </a:xfrm>
          <a:prstGeom prst="roundRect">
            <a:avLst>
              <a:gd name="adj" fmla="val 21716"/>
            </a:avLst>
          </a:prstGeom>
          <a:solidFill>
            <a:srgbClr val="2C4CB0"/>
          </a:solidFill>
          <a:ln w="12700">
            <a:solidFill>
              <a:srgbClr val="FFFFFF">
                <a:alpha val="0"/>
              </a:srgbClr>
            </a:solidFill>
            <a:prstDash val="solid"/>
          </a:ln>
        </p:spPr>
        <p:txBody>
          <a:bodyPr/>
          <a:lstStyle/>
          <a:p>
            <a:endParaRPr lang="ja-JP" altLang="en-US"/>
          </a:p>
        </p:txBody>
      </p:sp>
      <p:sp>
        <p:nvSpPr>
          <p:cNvPr id="27" name="Shape 18"/>
          <p:cNvSpPr/>
          <p:nvPr/>
        </p:nvSpPr>
        <p:spPr>
          <a:xfrm>
            <a:off x="5711342" y="2807208"/>
            <a:ext cx="771754" cy="237744"/>
          </a:xfrm>
          <a:prstGeom prst="roundRect">
            <a:avLst>
              <a:gd name="adj" fmla="val 123077"/>
            </a:avLst>
          </a:prstGeom>
          <a:solidFill>
            <a:srgbClr val="FFFFFF">
              <a:alpha val="10000"/>
            </a:srgbClr>
          </a:solidFill>
          <a:ln w="12700">
            <a:solidFill>
              <a:srgbClr val="FFFFFF">
                <a:alpha val="0"/>
              </a:srgbClr>
            </a:solidFill>
            <a:prstDash val="solid"/>
          </a:ln>
        </p:spPr>
        <p:txBody>
          <a:bodyPr/>
          <a:lstStyle/>
          <a:p>
            <a:endParaRPr lang="ja-JP" altLang="en-US"/>
          </a:p>
        </p:txBody>
      </p:sp>
      <p:sp>
        <p:nvSpPr>
          <p:cNvPr id="28" name="Text 19"/>
          <p:cNvSpPr txBox="1"/>
          <p:nvPr/>
        </p:nvSpPr>
        <p:spPr>
          <a:xfrm>
            <a:off x="5673852" y="2807208"/>
            <a:ext cx="848563" cy="238658"/>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1000" b="1" kern="0" spc="75" dirty="0">
                <a:solidFill>
                  <a:srgbClr val="1E8CA6"/>
                </a:solidFill>
                <a:latin typeface="Noto Sans JP" pitchFamily="34" charset="0"/>
                <a:ea typeface="Noto Sans JP" pitchFamily="34" charset="-122"/>
                <a:cs typeface="Noto Sans JP" pitchFamily="34" charset="-120"/>
              </a:rPr>
              <a:t>PHASE 2</a:t>
            </a:r>
            <a:endParaRPr lang="en-US" sz="1000" dirty="0"/>
          </a:p>
        </p:txBody>
      </p:sp>
      <p:sp>
        <p:nvSpPr>
          <p:cNvPr id="29" name="Text 20"/>
          <p:cNvSpPr txBox="1"/>
          <p:nvPr/>
        </p:nvSpPr>
        <p:spPr>
          <a:xfrm>
            <a:off x="4539996" y="3092501"/>
            <a:ext cx="3115361" cy="305410"/>
          </a:xfrm>
          <a:prstGeom prst="rect">
            <a:avLst/>
          </a:prstGeom>
          <a:noFill/>
          <a:ln/>
        </p:spPr>
        <p:txBody>
          <a:bodyPr wrap="square" lIns="0" tIns="0" rIns="0" bIns="0" rtlCol="0" anchor="ctr"/>
          <a:lstStyle/>
          <a:p>
            <a:pPr marL="0" indent="0" algn="ctr">
              <a:buNone/>
            </a:pPr>
            <a:r>
              <a:rPr lang="en-US" sz="2400" b="1" dirty="0">
                <a:solidFill>
                  <a:srgbClr val="FFFFFF"/>
                </a:solidFill>
                <a:latin typeface="Noto Sans JP" pitchFamily="34" charset="0"/>
                <a:ea typeface="Noto Sans JP" pitchFamily="34" charset="-122"/>
                <a:cs typeface="Noto Sans JP" pitchFamily="34" charset="-120"/>
              </a:rPr>
              <a:t>2026-27</a:t>
            </a:r>
            <a:endParaRPr lang="en-US" sz="2400" dirty="0"/>
          </a:p>
        </p:txBody>
      </p:sp>
      <p:pic>
        <p:nvPicPr>
          <p:cNvPr id="30" name="Image 7" descr="preencoded.png"/>
          <p:cNvPicPr>
            <a:picLocks noChangeAspect="1"/>
          </p:cNvPicPr>
          <p:nvPr/>
        </p:nvPicPr>
        <p:blipFill>
          <a:blip r:embed="rId7"/>
          <a:srcRect t="-80" b="-80"/>
          <a:stretch/>
        </p:blipFill>
        <p:spPr>
          <a:xfrm>
            <a:off x="7880299" y="4302252"/>
            <a:ext cx="142646" cy="228600"/>
          </a:xfrm>
          <a:prstGeom prst="rect">
            <a:avLst/>
          </a:prstGeom>
        </p:spPr>
      </p:pic>
      <p:pic>
        <p:nvPicPr>
          <p:cNvPr id="31" name="Image 8" descr="preencoded.png"/>
          <p:cNvPicPr>
            <a:picLocks noChangeAspect="1"/>
          </p:cNvPicPr>
          <p:nvPr/>
        </p:nvPicPr>
        <p:blipFill>
          <a:blip r:embed="rId8"/>
          <a:srcRect/>
          <a:stretch/>
        </p:blipFill>
        <p:spPr>
          <a:xfrm>
            <a:off x="8080553" y="2597810"/>
            <a:ext cx="3396996" cy="3619195"/>
          </a:xfrm>
          <a:prstGeom prst="rect">
            <a:avLst/>
          </a:prstGeom>
        </p:spPr>
      </p:pic>
      <p:sp>
        <p:nvSpPr>
          <p:cNvPr id="32" name="Shape 21"/>
          <p:cNvSpPr/>
          <p:nvPr/>
        </p:nvSpPr>
        <p:spPr>
          <a:xfrm>
            <a:off x="8280806" y="4501591"/>
            <a:ext cx="3000146" cy="19202"/>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33" name="Text 22"/>
          <p:cNvSpPr txBox="1"/>
          <p:nvPr/>
        </p:nvSpPr>
        <p:spPr>
          <a:xfrm>
            <a:off x="8242402" y="3873398"/>
            <a:ext cx="3076956" cy="53401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ctr">
              <a:buNone/>
            </a:pPr>
            <a:r>
              <a:rPr lang="en-US" sz="1500" b="1" dirty="0">
                <a:solidFill>
                  <a:srgbClr val="1A3A8A"/>
                </a:solidFill>
                <a:latin typeface="Noto Sans JP" pitchFamily="34" charset="0"/>
                <a:ea typeface="Noto Sans JP" pitchFamily="34" charset="-122"/>
                <a:cs typeface="Noto Sans JP" pitchFamily="34" charset="-120"/>
              </a:rPr>
              <a:t>地上波・サブスク</a:t>
            </a:r>
            <a:endParaRPr lang="en-US" sz="1500" dirty="0"/>
          </a:p>
          <a:p>
            <a:pPr marL="0" indent="0" algn="ctr">
              <a:buNone/>
            </a:pPr>
            <a:r>
              <a:rPr lang="en-US" sz="1500" b="1" dirty="0">
                <a:solidFill>
                  <a:srgbClr val="1A3A8A"/>
                </a:solidFill>
                <a:latin typeface="Noto Sans JP" pitchFamily="34" charset="0"/>
                <a:ea typeface="Noto Sans JP" pitchFamily="34" charset="-122"/>
                <a:cs typeface="Noto Sans JP" pitchFamily="34" charset="-120"/>
              </a:rPr>
              <a:t>大衆化・IP確立</a:t>
            </a:r>
            <a:endParaRPr lang="en-US" sz="1500" dirty="0"/>
          </a:p>
        </p:txBody>
      </p:sp>
      <p:sp>
        <p:nvSpPr>
          <p:cNvPr id="34" name="Text 23"/>
          <p:cNvSpPr txBox="1"/>
          <p:nvPr/>
        </p:nvSpPr>
        <p:spPr>
          <a:xfrm>
            <a:off x="8242402" y="4711903"/>
            <a:ext cx="3076956" cy="685800"/>
          </a:xfrm>
          <a:prstGeom prst="rect">
            <a:avLst/>
          </a:prstGeom>
          <a:noFill/>
          <a:ln/>
        </p:spPr>
        <p:txBody>
          <a:bodyPr wrap="square" lIns="0" tIns="0" rIns="0" bIns="0" rtlCol="0" anchor="t"/>
          <a:lstStyle/>
          <a:p>
            <a:pPr marL="0" indent="0" algn="ctr">
              <a:buNone/>
            </a:pPr>
            <a:r>
              <a:rPr lang="en-US" sz="1100" dirty="0">
                <a:solidFill>
                  <a:srgbClr val="555555"/>
                </a:solidFill>
                <a:latin typeface="Noto Sans JP" pitchFamily="34" charset="0"/>
                <a:ea typeface="Noto Sans JP" pitchFamily="34" charset="-122"/>
                <a:cs typeface="Noto Sans JP" pitchFamily="34" charset="-120"/>
              </a:rPr>
              <a:t>地上波連動番組とサブスク配信でマス層へリーチ。メンズ芸能部門No.1ポジションを確立。</a:t>
            </a:r>
            <a:endParaRPr lang="en-US" sz="1100" dirty="0"/>
          </a:p>
        </p:txBody>
      </p:sp>
      <p:pic>
        <p:nvPicPr>
          <p:cNvPr id="35" name="Image 9" descr="preencoded.png"/>
          <p:cNvPicPr>
            <a:picLocks noChangeAspect="1"/>
          </p:cNvPicPr>
          <p:nvPr/>
        </p:nvPicPr>
        <p:blipFill>
          <a:blip r:embed="rId10"/>
          <a:srcRect t="-13" b="-13"/>
          <a:stretch/>
        </p:blipFill>
        <p:spPr>
          <a:xfrm>
            <a:off x="9564624" y="5587898"/>
            <a:ext cx="428854" cy="381305"/>
          </a:xfrm>
          <a:prstGeom prst="rect">
            <a:avLst/>
          </a:prstGeom>
        </p:spPr>
      </p:pic>
      <p:sp>
        <p:nvSpPr>
          <p:cNvPr id="36" name="Shape 24"/>
          <p:cNvSpPr/>
          <p:nvPr/>
        </p:nvSpPr>
        <p:spPr>
          <a:xfrm>
            <a:off x="8089697" y="2606954"/>
            <a:ext cx="3381451" cy="981151"/>
          </a:xfrm>
          <a:prstGeom prst="roundRect">
            <a:avLst>
              <a:gd name="adj" fmla="val 21716"/>
            </a:avLst>
          </a:prstGeom>
          <a:solidFill>
            <a:srgbClr val="1E8CA6"/>
          </a:solidFill>
          <a:ln w="12700">
            <a:solidFill>
              <a:srgbClr val="FFFFFF">
                <a:alpha val="0"/>
              </a:srgbClr>
            </a:solidFill>
            <a:prstDash val="solid"/>
          </a:ln>
        </p:spPr>
        <p:txBody>
          <a:bodyPr/>
          <a:lstStyle/>
          <a:p>
            <a:endParaRPr lang="ja-JP" altLang="en-US"/>
          </a:p>
        </p:txBody>
      </p:sp>
      <p:sp>
        <p:nvSpPr>
          <p:cNvPr id="37" name="Shape 25"/>
          <p:cNvSpPr/>
          <p:nvPr/>
        </p:nvSpPr>
        <p:spPr>
          <a:xfrm>
            <a:off x="9394546" y="2807208"/>
            <a:ext cx="771754" cy="237744"/>
          </a:xfrm>
          <a:prstGeom prst="roundRect">
            <a:avLst>
              <a:gd name="adj" fmla="val 123077"/>
            </a:avLst>
          </a:prstGeom>
          <a:solidFill>
            <a:srgbClr val="FFFFFF">
              <a:alpha val="10000"/>
            </a:srgbClr>
          </a:solidFill>
          <a:ln w="12700">
            <a:solidFill>
              <a:srgbClr val="FFFFFF">
                <a:alpha val="0"/>
              </a:srgbClr>
            </a:solidFill>
            <a:prstDash val="solid"/>
          </a:ln>
        </p:spPr>
        <p:txBody>
          <a:bodyPr/>
          <a:lstStyle/>
          <a:p>
            <a:endParaRPr lang="ja-JP" altLang="en-US"/>
          </a:p>
        </p:txBody>
      </p:sp>
      <p:sp>
        <p:nvSpPr>
          <p:cNvPr id="38" name="Text 26"/>
          <p:cNvSpPr txBox="1"/>
          <p:nvPr/>
        </p:nvSpPr>
        <p:spPr>
          <a:xfrm>
            <a:off x="9356141" y="2807208"/>
            <a:ext cx="848563" cy="238658"/>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1000" b="1" kern="0" spc="75" dirty="0">
                <a:solidFill>
                  <a:srgbClr val="1E8CA6"/>
                </a:solidFill>
                <a:latin typeface="Noto Sans JP" pitchFamily="34" charset="0"/>
                <a:ea typeface="Noto Sans JP" pitchFamily="34" charset="-122"/>
                <a:cs typeface="Noto Sans JP" pitchFamily="34" charset="-120"/>
              </a:rPr>
              <a:t>PHASE 3</a:t>
            </a:r>
            <a:endParaRPr lang="en-US" sz="1000" dirty="0"/>
          </a:p>
        </p:txBody>
      </p:sp>
      <p:sp>
        <p:nvSpPr>
          <p:cNvPr id="39" name="Text 27"/>
          <p:cNvSpPr txBox="1"/>
          <p:nvPr/>
        </p:nvSpPr>
        <p:spPr>
          <a:xfrm>
            <a:off x="8223199" y="3092501"/>
            <a:ext cx="3115361" cy="305410"/>
          </a:xfrm>
          <a:prstGeom prst="rect">
            <a:avLst/>
          </a:prstGeom>
          <a:noFill/>
          <a:ln/>
        </p:spPr>
        <p:txBody>
          <a:bodyPr wrap="square" lIns="0" tIns="0" rIns="0" bIns="0" rtlCol="0" anchor="ctr"/>
          <a:lstStyle/>
          <a:p>
            <a:pPr marL="0" indent="0" algn="ctr">
              <a:buNone/>
            </a:pPr>
            <a:r>
              <a:rPr lang="en-US" sz="2400" b="1" dirty="0">
                <a:solidFill>
                  <a:srgbClr val="FFFFFF"/>
                </a:solidFill>
                <a:latin typeface="Noto Sans JP" pitchFamily="34" charset="0"/>
                <a:ea typeface="Noto Sans JP" pitchFamily="34" charset="-122"/>
                <a:cs typeface="Noto Sans JP" pitchFamily="34" charset="-120"/>
              </a:rPr>
              <a:t>2027-28</a:t>
            </a:r>
            <a:endParaRPr lang="en-US" sz="2400" dirty="0"/>
          </a:p>
        </p:txBody>
      </p:sp>
      <p:sp>
        <p:nvSpPr>
          <p:cNvPr id="40" name="Text 28"/>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41" name="Text 29"/>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l="-281" r="-281"/>
          <a:stretch/>
        </p:blipFill>
        <p:spPr>
          <a:xfrm>
            <a:off x="0" y="0"/>
            <a:ext cx="12191695" cy="25603"/>
          </a:xfrm>
          <a:prstGeom prst="rect">
            <a:avLst/>
          </a:prstGeom>
        </p:spPr>
      </p:pic>
      <p:sp>
        <p:nvSpPr>
          <p:cNvPr id="4" name="Shape 1"/>
          <p:cNvSpPr/>
          <p:nvPr/>
        </p:nvSpPr>
        <p:spPr>
          <a:xfrm>
            <a:off x="0" y="6598310"/>
            <a:ext cx="12191695" cy="267005"/>
          </a:xfrm>
          <a:prstGeom prst="rect">
            <a:avLst/>
          </a:prstGeom>
          <a:solidFill>
            <a:srgbClr val="FFFFFF"/>
          </a:solidFill>
          <a:ln/>
        </p:spPr>
        <p:txBody>
          <a:bodyPr/>
          <a:lstStyle/>
          <a:p>
            <a:endParaRPr lang="ja-JP" altLang="en-US"/>
          </a:p>
        </p:txBody>
      </p:sp>
      <p:sp>
        <p:nvSpPr>
          <p:cNvPr id="5" name="Shape 2"/>
          <p:cNvSpPr/>
          <p:nvPr/>
        </p:nvSpPr>
        <p:spPr>
          <a:xfrm>
            <a:off x="0" y="6598310"/>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6" name="Text 3"/>
          <p:cNvSpPr txBox="1"/>
          <p:nvPr/>
        </p:nvSpPr>
        <p:spPr>
          <a:xfrm>
            <a:off x="381305" y="666140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7" name="Text 4"/>
          <p:cNvSpPr txBox="1"/>
          <p:nvPr/>
        </p:nvSpPr>
        <p:spPr>
          <a:xfrm>
            <a:off x="11698834" y="666140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08</a:t>
            </a:r>
            <a:endParaRPr lang="en-US" sz="800" dirty="0"/>
          </a:p>
        </p:txBody>
      </p:sp>
      <p:pic>
        <p:nvPicPr>
          <p:cNvPr id="8" name="Image 1" descr="preencoded.png"/>
          <p:cNvPicPr>
            <a:picLocks noChangeAspect="1"/>
          </p:cNvPicPr>
          <p:nvPr/>
        </p:nvPicPr>
        <p:blipFill>
          <a:blip r:embed="rId4"/>
          <a:srcRect l="-400" r="-400"/>
          <a:stretch/>
        </p:blipFill>
        <p:spPr>
          <a:xfrm>
            <a:off x="571500" y="801929"/>
            <a:ext cx="38405" cy="228600"/>
          </a:xfrm>
          <a:prstGeom prst="rect">
            <a:avLst/>
          </a:prstGeom>
        </p:spPr>
      </p:pic>
      <p:sp>
        <p:nvSpPr>
          <p:cNvPr id="9" name="Text 5"/>
          <p:cNvSpPr txBox="1"/>
          <p:nvPr/>
        </p:nvSpPr>
        <p:spPr>
          <a:xfrm>
            <a:off x="724205" y="787298"/>
            <a:ext cx="1492301"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第1弾コンテンツ</a:t>
            </a:r>
            <a:endParaRPr lang="en-US" sz="1300" dirty="0"/>
          </a:p>
        </p:txBody>
      </p:sp>
      <p:sp>
        <p:nvSpPr>
          <p:cNvPr id="10" name="Text 6"/>
          <p:cNvSpPr txBox="1"/>
          <p:nvPr/>
        </p:nvSpPr>
        <p:spPr>
          <a:xfrm>
            <a:off x="571500" y="1235354"/>
            <a:ext cx="11354105" cy="600761"/>
          </a:xfrm>
          <a:prstGeom prst="rect">
            <a:avLst/>
          </a:prstGeom>
          <a:noFill/>
          <a:ln/>
        </p:spPr>
        <p:txBody>
          <a:bodyPr wrap="square" lIns="0" tIns="0" rIns="0" bIns="0" rtlCol="0" anchor="ctr"/>
          <a:lstStyle/>
          <a:p>
            <a:pPr marL="0" indent="0" algn="l">
              <a:buNone/>
            </a:pPr>
            <a:r>
              <a:rPr lang="en-US" sz="3100" b="1" kern="0" spc="-75" dirty="0">
                <a:solidFill>
                  <a:srgbClr val="1A3A8A"/>
                </a:solidFill>
                <a:latin typeface="Noto Sans JP" pitchFamily="34" charset="0"/>
                <a:ea typeface="Noto Sans JP" pitchFamily="34" charset="-122"/>
                <a:cs typeface="Noto Sans JP" pitchFamily="34" charset="-120"/>
              </a:rPr>
              <a:t>第1弾コンテンツ詳細</a:t>
            </a:r>
            <a:r>
              <a:rPr lang="en-US" sz="2400" b="1" kern="0" spc="-75" dirty="0">
                <a:solidFill>
                  <a:srgbClr val="1E8CA6"/>
                </a:solidFill>
                <a:latin typeface="Noto Sans JP" pitchFamily="34" charset="0"/>
                <a:ea typeface="Noto Sans JP" pitchFamily="34" charset="-122"/>
                <a:cs typeface="Noto Sans JP" pitchFamily="34" charset="-120"/>
              </a:rPr>
              <a:t>令和版：キスマイブサイク</a:t>
            </a:r>
            <a:endParaRPr lang="en-US" sz="3100" dirty="0"/>
          </a:p>
        </p:txBody>
      </p:sp>
      <p:sp>
        <p:nvSpPr>
          <p:cNvPr id="11" name="Shape 7"/>
          <p:cNvSpPr/>
          <p:nvPr/>
        </p:nvSpPr>
        <p:spPr>
          <a:xfrm>
            <a:off x="571500" y="2216506"/>
            <a:ext cx="5410505" cy="2057400"/>
          </a:xfrm>
          <a:prstGeom prst="roundRect">
            <a:avLst>
              <a:gd name="adj" fmla="val 3292"/>
            </a:avLst>
          </a:prstGeom>
          <a:solidFill>
            <a:srgbClr val="FFFFFF"/>
          </a:solidFill>
          <a:ln w="25400">
            <a:solidFill>
              <a:srgbClr val="E2E8F0"/>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2" name="Shape 8"/>
          <p:cNvSpPr/>
          <p:nvPr/>
        </p:nvSpPr>
        <p:spPr>
          <a:xfrm>
            <a:off x="571500" y="2216506"/>
            <a:ext cx="57607" cy="2057400"/>
          </a:xfrm>
          <a:prstGeom prst="roundRect">
            <a:avLst>
              <a:gd name="adj" fmla="val 117578"/>
            </a:avLst>
          </a:prstGeom>
          <a:solidFill>
            <a:srgbClr val="1A3A8A"/>
          </a:solidFill>
          <a:ln w="12700">
            <a:solidFill>
              <a:srgbClr val="1A3A8A">
                <a:alpha val="0"/>
              </a:srgbClr>
            </a:solidFill>
            <a:prstDash val="solid"/>
          </a:ln>
        </p:spPr>
        <p:txBody>
          <a:bodyPr/>
          <a:lstStyle/>
          <a:p>
            <a:endParaRPr lang="ja-JP" altLang="en-US"/>
          </a:p>
        </p:txBody>
      </p:sp>
      <p:sp>
        <p:nvSpPr>
          <p:cNvPr id="13" name="Shape 9"/>
          <p:cNvSpPr/>
          <p:nvPr/>
        </p:nvSpPr>
        <p:spPr>
          <a:xfrm>
            <a:off x="857707" y="2845613"/>
            <a:ext cx="4876495" cy="9144"/>
          </a:xfrm>
          <a:prstGeom prst="rect">
            <a:avLst/>
          </a:prstGeom>
          <a:solidFill>
            <a:srgbClr val="F0F0F0"/>
          </a:solidFill>
          <a:ln w="12700">
            <a:solidFill>
              <a:srgbClr val="F0F0F0">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5"/>
          <a:srcRect l="-80" r="-80"/>
          <a:stretch/>
        </p:blipFill>
        <p:spPr>
          <a:xfrm>
            <a:off x="857707" y="2492654"/>
            <a:ext cx="286207" cy="228600"/>
          </a:xfrm>
          <a:prstGeom prst="rect">
            <a:avLst/>
          </a:prstGeom>
        </p:spPr>
      </p:pic>
      <p:sp>
        <p:nvSpPr>
          <p:cNvPr id="15" name="Text 10"/>
          <p:cNvSpPr txBox="1"/>
          <p:nvPr/>
        </p:nvSpPr>
        <p:spPr>
          <a:xfrm>
            <a:off x="1285646" y="2464308"/>
            <a:ext cx="2648102" cy="391363"/>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ショートドラマ × エチュード</a:t>
            </a:r>
            <a:endParaRPr lang="en-US" sz="1500" dirty="0"/>
          </a:p>
        </p:txBody>
      </p:sp>
      <p:sp>
        <p:nvSpPr>
          <p:cNvPr id="16" name="Text 11"/>
          <p:cNvSpPr txBox="1"/>
          <p:nvPr/>
        </p:nvSpPr>
        <p:spPr>
          <a:xfrm>
            <a:off x="857707" y="2997403"/>
            <a:ext cx="4953305"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「令和版キスマイブサイク」をコンセプトに、台本のあるドラマパートと即興演技（エチュード）を掛け合わせた恋愛コンテンツを展開。メンバーの対応力と素の表情を引き出す。</a:t>
            </a:r>
            <a:endParaRPr lang="en-US" sz="1100" dirty="0"/>
          </a:p>
        </p:txBody>
      </p:sp>
      <p:sp>
        <p:nvSpPr>
          <p:cNvPr id="17" name="Shape 12"/>
          <p:cNvSpPr/>
          <p:nvPr/>
        </p:nvSpPr>
        <p:spPr>
          <a:xfrm>
            <a:off x="857707" y="3778301"/>
            <a:ext cx="4876495" cy="247802"/>
          </a:xfrm>
          <a:prstGeom prst="roundRect">
            <a:avLst>
              <a:gd name="adj" fmla="val 113540"/>
            </a:avLst>
          </a:prstGeom>
          <a:solidFill>
            <a:srgbClr val="F0F9FF"/>
          </a:solidFill>
          <a:ln w="12700">
            <a:solidFill>
              <a:srgbClr val="FFFFFF">
                <a:alpha val="0"/>
              </a:srgbClr>
            </a:solidFill>
            <a:prstDash val="solid"/>
          </a:ln>
        </p:spPr>
        <p:txBody>
          <a:bodyPr/>
          <a:lstStyle/>
          <a:p>
            <a:endParaRPr lang="ja-JP" altLang="en-US"/>
          </a:p>
        </p:txBody>
      </p:sp>
      <p:sp>
        <p:nvSpPr>
          <p:cNvPr id="18" name="Text 13"/>
          <p:cNvSpPr txBox="1"/>
          <p:nvPr/>
        </p:nvSpPr>
        <p:spPr>
          <a:xfrm>
            <a:off x="857707" y="3778301"/>
            <a:ext cx="4953305" cy="247802"/>
          </a:xfrm>
          <a:prstGeom prst="rect">
            <a:avLst/>
          </a:prstGeom>
          <a:solidFill>
            <a:srgbClr val="FFFFFF">
              <a:alpha val="0"/>
            </a:srgbClr>
          </a:solidFill>
          <a:ln>
            <a:solidFill>
              <a:srgbClr val="FFFFFF">
                <a:alpha val="0"/>
              </a:srgbClr>
            </a:solidFill>
          </a:ln>
        </p:spPr>
        <p:txBody>
          <a:bodyPr wrap="square" lIns="101600" tIns="38100" rIns="101600" bIns="38100" rtlCol="0" anchor="t"/>
          <a:lstStyle/>
          <a:p>
            <a:pPr marL="0" indent="0" algn="l">
              <a:buNone/>
            </a:pPr>
            <a:r>
              <a:rPr lang="en-US" sz="900" b="1" dirty="0">
                <a:solidFill>
                  <a:srgbClr val="1E8CA6"/>
                </a:solidFill>
                <a:latin typeface="Noto Sans JP" pitchFamily="34" charset="0"/>
                <a:ea typeface="Noto Sans JP" pitchFamily="34" charset="-122"/>
                <a:cs typeface="Noto Sans JP" pitchFamily="34" charset="-120"/>
              </a:rPr>
              <a:t>恋愛シチュエーション</a:t>
            </a:r>
            <a:endParaRPr lang="en-US" sz="900" dirty="0"/>
          </a:p>
        </p:txBody>
      </p:sp>
      <p:sp>
        <p:nvSpPr>
          <p:cNvPr id="19" name="Shape 14"/>
          <p:cNvSpPr/>
          <p:nvPr/>
        </p:nvSpPr>
        <p:spPr>
          <a:xfrm>
            <a:off x="6210605" y="2216506"/>
            <a:ext cx="5410505" cy="2057400"/>
          </a:xfrm>
          <a:prstGeom prst="roundRect">
            <a:avLst>
              <a:gd name="adj" fmla="val 3292"/>
            </a:avLst>
          </a:prstGeom>
          <a:solidFill>
            <a:srgbClr val="FFFFFF"/>
          </a:solidFill>
          <a:ln w="25400">
            <a:solidFill>
              <a:srgbClr val="E2E8F0"/>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20" name="Shape 15"/>
          <p:cNvSpPr/>
          <p:nvPr/>
        </p:nvSpPr>
        <p:spPr>
          <a:xfrm>
            <a:off x="6210605" y="2216506"/>
            <a:ext cx="57607" cy="2057400"/>
          </a:xfrm>
          <a:prstGeom prst="roundRect">
            <a:avLst>
              <a:gd name="adj" fmla="val 117578"/>
            </a:avLst>
          </a:prstGeom>
          <a:solidFill>
            <a:srgbClr val="1E8CA6"/>
          </a:solidFill>
          <a:ln w="12700">
            <a:solidFill>
              <a:srgbClr val="1E8CA6">
                <a:alpha val="0"/>
              </a:srgbClr>
            </a:solidFill>
            <a:prstDash val="solid"/>
          </a:ln>
        </p:spPr>
        <p:txBody>
          <a:bodyPr/>
          <a:lstStyle/>
          <a:p>
            <a:endParaRPr lang="ja-JP" altLang="en-US"/>
          </a:p>
        </p:txBody>
      </p:sp>
      <p:sp>
        <p:nvSpPr>
          <p:cNvPr id="21" name="Shape 16"/>
          <p:cNvSpPr/>
          <p:nvPr/>
        </p:nvSpPr>
        <p:spPr>
          <a:xfrm>
            <a:off x="6495898" y="2845613"/>
            <a:ext cx="4876495" cy="9144"/>
          </a:xfrm>
          <a:prstGeom prst="rect">
            <a:avLst/>
          </a:prstGeom>
          <a:solidFill>
            <a:srgbClr val="F0F0F0"/>
          </a:solidFill>
          <a:ln w="12700">
            <a:solidFill>
              <a:srgbClr val="F0F0F0">
                <a:alpha val="0"/>
              </a:srgbClr>
            </a:solidFill>
            <a:prstDash val="solid"/>
          </a:ln>
        </p:spPr>
        <p:txBody>
          <a:bodyPr/>
          <a:lstStyle/>
          <a:p>
            <a:endParaRPr lang="ja-JP" altLang="en-US"/>
          </a:p>
        </p:txBody>
      </p:sp>
      <p:pic>
        <p:nvPicPr>
          <p:cNvPr id="22" name="Image 3" descr="preencoded.png"/>
          <p:cNvPicPr>
            <a:picLocks noChangeAspect="1"/>
          </p:cNvPicPr>
          <p:nvPr/>
        </p:nvPicPr>
        <p:blipFill>
          <a:blip r:embed="rId6"/>
          <a:srcRect l="-21543" r="-21543"/>
          <a:stretch/>
        </p:blipFill>
        <p:spPr>
          <a:xfrm>
            <a:off x="6495898" y="2492654"/>
            <a:ext cx="286207" cy="228600"/>
          </a:xfrm>
          <a:prstGeom prst="rect">
            <a:avLst/>
          </a:prstGeom>
        </p:spPr>
      </p:pic>
      <p:sp>
        <p:nvSpPr>
          <p:cNvPr id="23" name="Text 17"/>
          <p:cNvSpPr txBox="1"/>
          <p:nvPr/>
        </p:nvSpPr>
        <p:spPr>
          <a:xfrm>
            <a:off x="6924751" y="2464308"/>
            <a:ext cx="1585570" cy="391363"/>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イケメンキッチン</a:t>
            </a:r>
            <a:endParaRPr lang="en-US" sz="1500" dirty="0"/>
          </a:p>
        </p:txBody>
      </p:sp>
      <p:sp>
        <p:nvSpPr>
          <p:cNvPr id="24" name="Text 18"/>
          <p:cNvSpPr txBox="1"/>
          <p:nvPr/>
        </p:nvSpPr>
        <p:spPr>
          <a:xfrm>
            <a:off x="6495898" y="2997403"/>
            <a:ext cx="4953305"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料理をする手元のアップや、調理中の何気ない会話を中心に構成。完成度の高さよりも「不器用さ」や「協力する姿」を映し出し、親近感と母性本能を刺激する。</a:t>
            </a:r>
            <a:endParaRPr lang="en-US" sz="1100" dirty="0"/>
          </a:p>
        </p:txBody>
      </p:sp>
      <p:sp>
        <p:nvSpPr>
          <p:cNvPr id="25" name="Shape 19"/>
          <p:cNvSpPr/>
          <p:nvPr/>
        </p:nvSpPr>
        <p:spPr>
          <a:xfrm>
            <a:off x="6495898" y="3778301"/>
            <a:ext cx="4876495" cy="247802"/>
          </a:xfrm>
          <a:prstGeom prst="roundRect">
            <a:avLst>
              <a:gd name="adj" fmla="val 113540"/>
            </a:avLst>
          </a:prstGeom>
          <a:solidFill>
            <a:srgbClr val="F0F9FF"/>
          </a:solidFill>
          <a:ln w="12700">
            <a:solidFill>
              <a:srgbClr val="FFFFFF">
                <a:alpha val="0"/>
              </a:srgbClr>
            </a:solidFill>
            <a:prstDash val="solid"/>
          </a:ln>
        </p:spPr>
        <p:txBody>
          <a:bodyPr/>
          <a:lstStyle/>
          <a:p>
            <a:endParaRPr lang="ja-JP" altLang="en-US"/>
          </a:p>
        </p:txBody>
      </p:sp>
      <p:sp>
        <p:nvSpPr>
          <p:cNvPr id="26" name="Text 20"/>
          <p:cNvSpPr txBox="1"/>
          <p:nvPr/>
        </p:nvSpPr>
        <p:spPr>
          <a:xfrm>
            <a:off x="6495898" y="3778301"/>
            <a:ext cx="4953305" cy="247802"/>
          </a:xfrm>
          <a:prstGeom prst="rect">
            <a:avLst/>
          </a:prstGeom>
          <a:solidFill>
            <a:srgbClr val="FFFFFF">
              <a:alpha val="0"/>
            </a:srgbClr>
          </a:solidFill>
          <a:ln>
            <a:solidFill>
              <a:srgbClr val="FFFFFF">
                <a:alpha val="0"/>
              </a:srgbClr>
            </a:solidFill>
          </a:ln>
        </p:spPr>
        <p:txBody>
          <a:bodyPr wrap="square" lIns="101600" tIns="38100" rIns="101600" bIns="38100" rtlCol="0" anchor="t"/>
          <a:lstStyle/>
          <a:p>
            <a:pPr marL="0" indent="0" algn="l">
              <a:buNone/>
            </a:pPr>
            <a:r>
              <a:rPr lang="en-US" sz="900" b="1" dirty="0">
                <a:solidFill>
                  <a:srgbClr val="1E8CA6"/>
                </a:solidFill>
                <a:latin typeface="Noto Sans JP" pitchFamily="34" charset="0"/>
                <a:ea typeface="Noto Sans JP" pitchFamily="34" charset="-122"/>
                <a:cs typeface="Noto Sans JP" pitchFamily="34" charset="-120"/>
              </a:rPr>
              <a:t>料理男子 / 素の魅力</a:t>
            </a:r>
            <a:endParaRPr lang="en-US" sz="900" dirty="0"/>
          </a:p>
        </p:txBody>
      </p:sp>
      <p:sp>
        <p:nvSpPr>
          <p:cNvPr id="27" name="Shape 21"/>
          <p:cNvSpPr/>
          <p:nvPr/>
        </p:nvSpPr>
        <p:spPr>
          <a:xfrm>
            <a:off x="571500" y="4502506"/>
            <a:ext cx="5410505" cy="2057400"/>
          </a:xfrm>
          <a:prstGeom prst="roundRect">
            <a:avLst>
              <a:gd name="adj" fmla="val 3292"/>
            </a:avLst>
          </a:prstGeom>
          <a:solidFill>
            <a:srgbClr val="FFFFFF"/>
          </a:solidFill>
          <a:ln w="25400">
            <a:solidFill>
              <a:srgbClr val="E2E8F0"/>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28" name="Shape 22"/>
          <p:cNvSpPr/>
          <p:nvPr/>
        </p:nvSpPr>
        <p:spPr>
          <a:xfrm>
            <a:off x="571500" y="4502506"/>
            <a:ext cx="57607" cy="2057400"/>
          </a:xfrm>
          <a:prstGeom prst="roundRect">
            <a:avLst>
              <a:gd name="adj" fmla="val 117578"/>
            </a:avLst>
          </a:prstGeom>
          <a:solidFill>
            <a:srgbClr val="1A3A8A"/>
          </a:solidFill>
          <a:ln w="12700">
            <a:solidFill>
              <a:srgbClr val="1A3A8A">
                <a:alpha val="0"/>
              </a:srgbClr>
            </a:solidFill>
            <a:prstDash val="solid"/>
          </a:ln>
        </p:spPr>
        <p:txBody>
          <a:bodyPr/>
          <a:lstStyle/>
          <a:p>
            <a:endParaRPr lang="ja-JP" altLang="en-US"/>
          </a:p>
        </p:txBody>
      </p:sp>
      <p:sp>
        <p:nvSpPr>
          <p:cNvPr id="29" name="Shape 23"/>
          <p:cNvSpPr/>
          <p:nvPr/>
        </p:nvSpPr>
        <p:spPr>
          <a:xfrm>
            <a:off x="857707" y="5131613"/>
            <a:ext cx="4876495" cy="9144"/>
          </a:xfrm>
          <a:prstGeom prst="rect">
            <a:avLst/>
          </a:prstGeom>
          <a:solidFill>
            <a:srgbClr val="F0F0F0"/>
          </a:solidFill>
          <a:ln w="12700">
            <a:solidFill>
              <a:srgbClr val="F0F0F0">
                <a:alpha val="0"/>
              </a:srgbClr>
            </a:solidFill>
            <a:prstDash val="solid"/>
          </a:ln>
        </p:spPr>
        <p:txBody>
          <a:bodyPr/>
          <a:lstStyle/>
          <a:p>
            <a:endParaRPr lang="ja-JP" altLang="en-US"/>
          </a:p>
        </p:txBody>
      </p:sp>
      <p:pic>
        <p:nvPicPr>
          <p:cNvPr id="30" name="Image 4" descr="preencoded.png"/>
          <p:cNvPicPr>
            <a:picLocks noChangeAspect="1"/>
          </p:cNvPicPr>
          <p:nvPr/>
        </p:nvPicPr>
        <p:blipFill>
          <a:blip r:embed="rId7"/>
          <a:srcRect l="-12600" r="-12600"/>
          <a:stretch/>
        </p:blipFill>
        <p:spPr>
          <a:xfrm>
            <a:off x="857707" y="4778654"/>
            <a:ext cx="286207" cy="228600"/>
          </a:xfrm>
          <a:prstGeom prst="rect">
            <a:avLst/>
          </a:prstGeom>
        </p:spPr>
      </p:pic>
      <p:sp>
        <p:nvSpPr>
          <p:cNvPr id="31" name="Text 24"/>
          <p:cNvSpPr txBox="1"/>
          <p:nvPr/>
        </p:nvSpPr>
        <p:spPr>
          <a:xfrm>
            <a:off x="1285646" y="4750308"/>
            <a:ext cx="1634947" cy="391363"/>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イケメン × ASMR</a:t>
            </a:r>
            <a:endParaRPr lang="en-US" sz="1500" dirty="0"/>
          </a:p>
        </p:txBody>
      </p:sp>
      <p:sp>
        <p:nvSpPr>
          <p:cNvPr id="32" name="Text 25"/>
          <p:cNvSpPr txBox="1"/>
          <p:nvPr/>
        </p:nvSpPr>
        <p:spPr>
          <a:xfrm>
            <a:off x="857707" y="5283403"/>
            <a:ext cx="4953305"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囁き声、咀嚼音、耳元での会話など、聴覚に訴える没入型コンテンツ。視聴者との「距離の近さ」を演出し、夜間帯の視聴習慣（寝る前のお供）を形成する。</a:t>
            </a:r>
            <a:endParaRPr lang="en-US" sz="1100" dirty="0"/>
          </a:p>
        </p:txBody>
      </p:sp>
      <p:sp>
        <p:nvSpPr>
          <p:cNvPr id="33" name="Shape 26"/>
          <p:cNvSpPr/>
          <p:nvPr/>
        </p:nvSpPr>
        <p:spPr>
          <a:xfrm>
            <a:off x="857707" y="6064301"/>
            <a:ext cx="4876495" cy="247802"/>
          </a:xfrm>
          <a:prstGeom prst="roundRect">
            <a:avLst>
              <a:gd name="adj" fmla="val 113540"/>
            </a:avLst>
          </a:prstGeom>
          <a:solidFill>
            <a:srgbClr val="F0F9FF"/>
          </a:solidFill>
          <a:ln w="12700">
            <a:solidFill>
              <a:srgbClr val="FFFFFF">
                <a:alpha val="0"/>
              </a:srgbClr>
            </a:solidFill>
            <a:prstDash val="solid"/>
          </a:ln>
        </p:spPr>
        <p:txBody>
          <a:bodyPr/>
          <a:lstStyle/>
          <a:p>
            <a:endParaRPr lang="ja-JP" altLang="en-US"/>
          </a:p>
        </p:txBody>
      </p:sp>
      <p:sp>
        <p:nvSpPr>
          <p:cNvPr id="34" name="Text 27"/>
          <p:cNvSpPr txBox="1"/>
          <p:nvPr/>
        </p:nvSpPr>
        <p:spPr>
          <a:xfrm>
            <a:off x="857707" y="6064301"/>
            <a:ext cx="4953305" cy="247802"/>
          </a:xfrm>
          <a:prstGeom prst="rect">
            <a:avLst/>
          </a:prstGeom>
          <a:solidFill>
            <a:srgbClr val="FFFFFF">
              <a:alpha val="0"/>
            </a:srgbClr>
          </a:solidFill>
          <a:ln>
            <a:solidFill>
              <a:srgbClr val="FFFFFF">
                <a:alpha val="0"/>
              </a:srgbClr>
            </a:solidFill>
          </a:ln>
        </p:spPr>
        <p:txBody>
          <a:bodyPr wrap="square" lIns="101600" tIns="38100" rIns="101600" bIns="38100" rtlCol="0" anchor="t"/>
          <a:lstStyle/>
          <a:p>
            <a:pPr marL="0" indent="0" algn="l">
              <a:buNone/>
            </a:pPr>
            <a:r>
              <a:rPr lang="en-US" sz="900" b="1" dirty="0">
                <a:solidFill>
                  <a:srgbClr val="1E8CA6"/>
                </a:solidFill>
                <a:latin typeface="Noto Sans JP" pitchFamily="34" charset="0"/>
                <a:ea typeface="Noto Sans JP" pitchFamily="34" charset="-122"/>
                <a:cs typeface="Noto Sans JP" pitchFamily="34" charset="-120"/>
              </a:rPr>
              <a:t>没入感 / 親密距離</a:t>
            </a:r>
            <a:endParaRPr lang="en-US" sz="900" dirty="0"/>
          </a:p>
        </p:txBody>
      </p:sp>
      <p:sp>
        <p:nvSpPr>
          <p:cNvPr id="35" name="Shape 28"/>
          <p:cNvSpPr/>
          <p:nvPr/>
        </p:nvSpPr>
        <p:spPr>
          <a:xfrm>
            <a:off x="6210605" y="4502506"/>
            <a:ext cx="5410505" cy="2057400"/>
          </a:xfrm>
          <a:prstGeom prst="roundRect">
            <a:avLst>
              <a:gd name="adj" fmla="val 3292"/>
            </a:avLst>
          </a:prstGeom>
          <a:solidFill>
            <a:srgbClr val="FFFFFF"/>
          </a:solidFill>
          <a:ln w="25400">
            <a:solidFill>
              <a:srgbClr val="E2E8F0"/>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36" name="Shape 29"/>
          <p:cNvSpPr/>
          <p:nvPr/>
        </p:nvSpPr>
        <p:spPr>
          <a:xfrm>
            <a:off x="6210605" y="4502506"/>
            <a:ext cx="57607" cy="2057400"/>
          </a:xfrm>
          <a:prstGeom prst="roundRect">
            <a:avLst>
              <a:gd name="adj" fmla="val 117578"/>
            </a:avLst>
          </a:prstGeom>
          <a:solidFill>
            <a:srgbClr val="1E8CA6"/>
          </a:solidFill>
          <a:ln w="12700">
            <a:solidFill>
              <a:srgbClr val="1E8CA6">
                <a:alpha val="0"/>
              </a:srgbClr>
            </a:solidFill>
            <a:prstDash val="solid"/>
          </a:ln>
        </p:spPr>
        <p:txBody>
          <a:bodyPr/>
          <a:lstStyle/>
          <a:p>
            <a:endParaRPr lang="ja-JP" altLang="en-US"/>
          </a:p>
        </p:txBody>
      </p:sp>
      <p:sp>
        <p:nvSpPr>
          <p:cNvPr id="37" name="Shape 30"/>
          <p:cNvSpPr/>
          <p:nvPr/>
        </p:nvSpPr>
        <p:spPr>
          <a:xfrm>
            <a:off x="6495898" y="5131613"/>
            <a:ext cx="4876495" cy="9144"/>
          </a:xfrm>
          <a:prstGeom prst="rect">
            <a:avLst/>
          </a:prstGeom>
          <a:solidFill>
            <a:srgbClr val="F0F0F0"/>
          </a:solidFill>
          <a:ln w="12700">
            <a:solidFill>
              <a:srgbClr val="F0F0F0">
                <a:alpha val="0"/>
              </a:srgbClr>
            </a:solidFill>
            <a:prstDash val="solid"/>
          </a:ln>
        </p:spPr>
        <p:txBody>
          <a:bodyPr/>
          <a:lstStyle/>
          <a:p>
            <a:endParaRPr lang="ja-JP" altLang="en-US"/>
          </a:p>
        </p:txBody>
      </p:sp>
      <p:pic>
        <p:nvPicPr>
          <p:cNvPr id="38" name="Image 5" descr="preencoded.png"/>
          <p:cNvPicPr>
            <a:picLocks noChangeAspect="1"/>
          </p:cNvPicPr>
          <p:nvPr/>
        </p:nvPicPr>
        <p:blipFill>
          <a:blip r:embed="rId8"/>
          <a:srcRect l="-21543" r="-21543"/>
          <a:stretch/>
        </p:blipFill>
        <p:spPr>
          <a:xfrm>
            <a:off x="6495898" y="4778654"/>
            <a:ext cx="286207" cy="228600"/>
          </a:xfrm>
          <a:prstGeom prst="rect">
            <a:avLst/>
          </a:prstGeom>
        </p:spPr>
      </p:pic>
      <p:sp>
        <p:nvSpPr>
          <p:cNvPr id="39" name="Text 31"/>
          <p:cNvSpPr txBox="1"/>
          <p:nvPr/>
        </p:nvSpPr>
        <p:spPr>
          <a:xfrm>
            <a:off x="6924751" y="4750308"/>
            <a:ext cx="2229307" cy="391363"/>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イケメン × 挑戦 / 企画系</a:t>
            </a:r>
            <a:endParaRPr lang="en-US" sz="1500" dirty="0"/>
          </a:p>
        </p:txBody>
      </p:sp>
      <p:sp>
        <p:nvSpPr>
          <p:cNvPr id="40" name="Text 32"/>
          <p:cNvSpPr txBox="1"/>
          <p:nvPr/>
        </p:nvSpPr>
        <p:spPr>
          <a:xfrm>
            <a:off x="6495898" y="5283403"/>
            <a:ext cx="4953305"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コムドットのような「身体を張った企画」や「ドッキリ」「24時間生活」などに挑戦。アイドルの枠を超えた等身大の姿と、困難を乗り越える成長物語を見せる。</a:t>
            </a:r>
            <a:endParaRPr lang="en-US" sz="1100" dirty="0"/>
          </a:p>
        </p:txBody>
      </p:sp>
      <p:sp>
        <p:nvSpPr>
          <p:cNvPr id="41" name="Shape 33"/>
          <p:cNvSpPr/>
          <p:nvPr/>
        </p:nvSpPr>
        <p:spPr>
          <a:xfrm>
            <a:off x="6495898" y="6064301"/>
            <a:ext cx="4876495" cy="247802"/>
          </a:xfrm>
          <a:prstGeom prst="roundRect">
            <a:avLst>
              <a:gd name="adj" fmla="val 113540"/>
            </a:avLst>
          </a:prstGeom>
          <a:solidFill>
            <a:srgbClr val="F0F9FF"/>
          </a:solidFill>
          <a:ln w="12700">
            <a:solidFill>
              <a:srgbClr val="FFFFFF">
                <a:alpha val="0"/>
              </a:srgbClr>
            </a:solidFill>
            <a:prstDash val="solid"/>
          </a:ln>
        </p:spPr>
        <p:txBody>
          <a:bodyPr/>
          <a:lstStyle/>
          <a:p>
            <a:endParaRPr lang="ja-JP" altLang="en-US"/>
          </a:p>
        </p:txBody>
      </p:sp>
      <p:sp>
        <p:nvSpPr>
          <p:cNvPr id="42" name="Text 34"/>
          <p:cNvSpPr txBox="1"/>
          <p:nvPr/>
        </p:nvSpPr>
        <p:spPr>
          <a:xfrm>
            <a:off x="6495898" y="6064301"/>
            <a:ext cx="4953305" cy="247802"/>
          </a:xfrm>
          <a:prstGeom prst="rect">
            <a:avLst/>
          </a:prstGeom>
          <a:solidFill>
            <a:srgbClr val="FFFFFF">
              <a:alpha val="0"/>
            </a:srgbClr>
          </a:solidFill>
          <a:ln>
            <a:solidFill>
              <a:srgbClr val="FFFFFF">
                <a:alpha val="0"/>
              </a:srgbClr>
            </a:solidFill>
          </a:ln>
        </p:spPr>
        <p:txBody>
          <a:bodyPr wrap="square" lIns="101600" tIns="38100" rIns="101600" bIns="38100" rtlCol="0" anchor="t"/>
          <a:lstStyle/>
          <a:p>
            <a:pPr marL="0" indent="0" algn="l">
              <a:buNone/>
            </a:pPr>
            <a:r>
              <a:rPr lang="en-US" sz="900" b="1" dirty="0">
                <a:solidFill>
                  <a:srgbClr val="1E8CA6"/>
                </a:solidFill>
                <a:latin typeface="Noto Sans JP" pitchFamily="34" charset="0"/>
                <a:ea typeface="Noto Sans JP" pitchFamily="34" charset="-122"/>
                <a:cs typeface="Noto Sans JP" pitchFamily="34" charset="-120"/>
              </a:rPr>
              <a:t>バラエティ / 成長物語</a:t>
            </a:r>
            <a:endParaRPr lang="en-US" sz="900" dirty="0"/>
          </a:p>
        </p:txBody>
      </p:sp>
      <p:pic>
        <p:nvPicPr>
          <p:cNvPr id="43" name="Image 6" descr="preencoded.png"/>
          <p:cNvPicPr>
            <a:picLocks noChangeAspect="1"/>
          </p:cNvPicPr>
          <p:nvPr/>
        </p:nvPicPr>
        <p:blipFill>
          <a:blip r:embed="rId9"/>
          <a:srcRect/>
          <a:stretch/>
        </p:blipFill>
        <p:spPr>
          <a:xfrm>
            <a:off x="5391302" y="2093062"/>
            <a:ext cx="381305" cy="381305"/>
          </a:xfrm>
          <a:prstGeom prst="rect">
            <a:avLst/>
          </a:prstGeom>
        </p:spPr>
      </p:pic>
      <p:sp>
        <p:nvSpPr>
          <p:cNvPr id="44" name="Text 35"/>
          <p:cNvSpPr/>
          <p:nvPr/>
        </p:nvSpPr>
        <p:spPr>
          <a:xfrm>
            <a:off x="5362956" y="2093062"/>
            <a:ext cx="438912" cy="381305"/>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JP" pitchFamily="34" charset="0"/>
                <a:ea typeface="Noto Sans JP" pitchFamily="34" charset="-122"/>
                <a:cs typeface="Noto Sans JP" pitchFamily="34" charset="-120"/>
              </a:rPr>
              <a:t>01</a:t>
            </a:r>
            <a:endParaRPr lang="en-US" sz="1300" dirty="0"/>
          </a:p>
        </p:txBody>
      </p:sp>
      <p:pic>
        <p:nvPicPr>
          <p:cNvPr id="45" name="Image 7" descr="preencoded.png"/>
          <p:cNvPicPr>
            <a:picLocks noChangeAspect="1"/>
          </p:cNvPicPr>
          <p:nvPr/>
        </p:nvPicPr>
        <p:blipFill>
          <a:blip r:embed="rId10"/>
          <a:srcRect/>
          <a:stretch/>
        </p:blipFill>
        <p:spPr>
          <a:xfrm>
            <a:off x="11030407" y="2093062"/>
            <a:ext cx="381305" cy="381305"/>
          </a:xfrm>
          <a:prstGeom prst="rect">
            <a:avLst/>
          </a:prstGeom>
        </p:spPr>
      </p:pic>
      <p:sp>
        <p:nvSpPr>
          <p:cNvPr id="46" name="Text 36"/>
          <p:cNvSpPr/>
          <p:nvPr/>
        </p:nvSpPr>
        <p:spPr>
          <a:xfrm>
            <a:off x="11001146" y="2093062"/>
            <a:ext cx="438912" cy="381305"/>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JP" pitchFamily="34" charset="0"/>
                <a:ea typeface="Noto Sans JP" pitchFamily="34" charset="-122"/>
                <a:cs typeface="Noto Sans JP" pitchFamily="34" charset="-120"/>
              </a:rPr>
              <a:t>02</a:t>
            </a:r>
            <a:endParaRPr lang="en-US" sz="1300" dirty="0"/>
          </a:p>
        </p:txBody>
      </p:sp>
      <p:pic>
        <p:nvPicPr>
          <p:cNvPr id="47" name="Image 8" descr="preencoded.png"/>
          <p:cNvPicPr>
            <a:picLocks noChangeAspect="1"/>
          </p:cNvPicPr>
          <p:nvPr/>
        </p:nvPicPr>
        <p:blipFill>
          <a:blip r:embed="rId9"/>
          <a:srcRect/>
          <a:stretch/>
        </p:blipFill>
        <p:spPr>
          <a:xfrm>
            <a:off x="5391302" y="4379062"/>
            <a:ext cx="381305" cy="381305"/>
          </a:xfrm>
          <a:prstGeom prst="rect">
            <a:avLst/>
          </a:prstGeom>
        </p:spPr>
      </p:pic>
      <p:sp>
        <p:nvSpPr>
          <p:cNvPr id="48" name="Text 37"/>
          <p:cNvSpPr/>
          <p:nvPr/>
        </p:nvSpPr>
        <p:spPr>
          <a:xfrm>
            <a:off x="5362956" y="4379062"/>
            <a:ext cx="438912" cy="381305"/>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JP" pitchFamily="34" charset="0"/>
                <a:ea typeface="Noto Sans JP" pitchFamily="34" charset="-122"/>
                <a:cs typeface="Noto Sans JP" pitchFamily="34" charset="-120"/>
              </a:rPr>
              <a:t>03</a:t>
            </a:r>
            <a:endParaRPr lang="en-US" sz="1300" dirty="0"/>
          </a:p>
        </p:txBody>
      </p:sp>
      <p:pic>
        <p:nvPicPr>
          <p:cNvPr id="49" name="Image 9" descr="preencoded.png"/>
          <p:cNvPicPr>
            <a:picLocks noChangeAspect="1"/>
          </p:cNvPicPr>
          <p:nvPr/>
        </p:nvPicPr>
        <p:blipFill>
          <a:blip r:embed="rId10"/>
          <a:srcRect/>
          <a:stretch/>
        </p:blipFill>
        <p:spPr>
          <a:xfrm>
            <a:off x="11030407" y="4379062"/>
            <a:ext cx="381305" cy="381305"/>
          </a:xfrm>
          <a:prstGeom prst="rect">
            <a:avLst/>
          </a:prstGeom>
        </p:spPr>
      </p:pic>
      <p:sp>
        <p:nvSpPr>
          <p:cNvPr id="50" name="Text 38"/>
          <p:cNvSpPr/>
          <p:nvPr/>
        </p:nvSpPr>
        <p:spPr>
          <a:xfrm>
            <a:off x="11001146" y="4379062"/>
            <a:ext cx="438912" cy="381305"/>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JP" pitchFamily="34" charset="0"/>
                <a:ea typeface="Noto Sans JP" pitchFamily="34" charset="-122"/>
                <a:cs typeface="Noto Sans JP" pitchFamily="34" charset="-120"/>
              </a:rPr>
              <a:t>04</a:t>
            </a:r>
            <a:endParaRPr lang="en-US" sz="1300" dirty="0"/>
          </a:p>
        </p:txBody>
      </p:sp>
      <p:sp>
        <p:nvSpPr>
          <p:cNvPr id="51" name="Text 39"/>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52" name="Text 40"/>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a:stretch/>
        </p:blipFill>
        <p:spPr>
          <a:xfrm>
            <a:off x="10287000" y="4572000"/>
            <a:ext cx="1904695" cy="1904695"/>
          </a:xfrm>
          <a:prstGeom prst="rect">
            <a:avLst/>
          </a:prstGeom>
        </p:spPr>
      </p:pic>
      <p:sp>
        <p:nvSpPr>
          <p:cNvPr id="4" name="Shape 1"/>
          <p:cNvSpPr/>
          <p:nvPr/>
        </p:nvSpPr>
        <p:spPr>
          <a:xfrm>
            <a:off x="0" y="6476695"/>
            <a:ext cx="12191695" cy="381305"/>
          </a:xfrm>
          <a:prstGeom prst="rect">
            <a:avLst/>
          </a:prstGeom>
          <a:solidFill>
            <a:srgbClr val="FFFFFF"/>
          </a:solidFill>
          <a:ln/>
        </p:spPr>
        <p:txBody>
          <a:bodyPr/>
          <a:lstStyle/>
          <a:p>
            <a:endParaRPr lang="ja-JP" altLang="en-US"/>
          </a:p>
        </p:txBody>
      </p:sp>
      <p:sp>
        <p:nvSpPr>
          <p:cNvPr id="5" name="Shape 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6" name="Text 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7" name="Text 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09</a:t>
            </a:r>
            <a:endParaRPr lang="en-US" sz="800" dirty="0"/>
          </a:p>
        </p:txBody>
      </p:sp>
      <p:pic>
        <p:nvPicPr>
          <p:cNvPr id="8" name="Image 1" descr="preencoded.png"/>
          <p:cNvPicPr>
            <a:picLocks noChangeAspect="1"/>
          </p:cNvPicPr>
          <p:nvPr/>
        </p:nvPicPr>
        <p:blipFill>
          <a:blip r:embed="rId4"/>
          <a:srcRect l="-400" r="-400"/>
          <a:stretch/>
        </p:blipFill>
        <p:spPr>
          <a:xfrm>
            <a:off x="571500" y="942746"/>
            <a:ext cx="38405" cy="228600"/>
          </a:xfrm>
          <a:prstGeom prst="rect">
            <a:avLst/>
          </a:prstGeom>
        </p:spPr>
      </p:pic>
      <p:sp>
        <p:nvSpPr>
          <p:cNvPr id="9" name="Text 5"/>
          <p:cNvSpPr txBox="1"/>
          <p:nvPr/>
        </p:nvSpPr>
        <p:spPr>
          <a:xfrm>
            <a:off x="724205" y="933602"/>
            <a:ext cx="1368857" cy="247802"/>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コンテンツ戦略</a:t>
            </a:r>
            <a:endParaRPr lang="en-US" sz="1300" dirty="0"/>
          </a:p>
        </p:txBody>
      </p:sp>
      <p:sp>
        <p:nvSpPr>
          <p:cNvPr id="10" name="Text 6"/>
          <p:cNvSpPr txBox="1"/>
          <p:nvPr/>
        </p:nvSpPr>
        <p:spPr>
          <a:xfrm>
            <a:off x="571500" y="1848917"/>
            <a:ext cx="11354105" cy="553212"/>
          </a:xfrm>
          <a:prstGeom prst="rect">
            <a:avLst/>
          </a:prstGeom>
          <a:noFill/>
          <a:ln/>
        </p:spPr>
        <p:txBody>
          <a:bodyPr wrap="square" lIns="0" tIns="0" rIns="0" bIns="0" rtlCol="0" anchor="ctr"/>
          <a:lstStyle/>
          <a:p>
            <a:pPr marL="0" indent="0" algn="l">
              <a:buNone/>
            </a:pPr>
            <a:r>
              <a:rPr lang="en-US" sz="3600" b="1" kern="0" spc="-75" dirty="0">
                <a:solidFill>
                  <a:srgbClr val="1A3A8A"/>
                </a:solidFill>
                <a:latin typeface="Noto Sans JP" pitchFamily="34" charset="0"/>
                <a:ea typeface="Noto Sans JP" pitchFamily="34" charset="-122"/>
                <a:cs typeface="Noto Sans JP" pitchFamily="34" charset="-120"/>
              </a:rPr>
              <a:t>コンテンツ二軸戦略</a:t>
            </a:r>
            <a:endParaRPr lang="en-US" sz="3600" dirty="0"/>
          </a:p>
        </p:txBody>
      </p:sp>
      <p:pic>
        <p:nvPicPr>
          <p:cNvPr id="11" name="Image 2" descr="preencoded.png"/>
          <p:cNvPicPr>
            <a:picLocks noChangeAspect="1"/>
          </p:cNvPicPr>
          <p:nvPr/>
        </p:nvPicPr>
        <p:blipFill>
          <a:blip r:embed="rId5"/>
          <a:srcRect t="-11" b="-11"/>
          <a:stretch/>
        </p:blipFill>
        <p:spPr>
          <a:xfrm>
            <a:off x="571500" y="6874459"/>
            <a:ext cx="11048695" cy="819302"/>
          </a:xfrm>
          <a:prstGeom prst="rect">
            <a:avLst/>
          </a:prstGeom>
        </p:spPr>
      </p:pic>
      <p:sp>
        <p:nvSpPr>
          <p:cNvPr id="12" name="Text 7"/>
          <p:cNvSpPr txBox="1"/>
          <p:nvPr/>
        </p:nvSpPr>
        <p:spPr>
          <a:xfrm>
            <a:off x="847649" y="7169810"/>
            <a:ext cx="10725912" cy="228600"/>
          </a:xfrm>
          <a:prstGeom prst="rect">
            <a:avLst/>
          </a:prstGeom>
          <a:noFill/>
          <a:ln/>
        </p:spPr>
        <p:txBody>
          <a:bodyPr wrap="square" lIns="0" tIns="0" rIns="0" bIns="0" rtlCol="0" anchor="ctr"/>
          <a:lstStyle/>
          <a:p>
            <a:pPr marL="0" indent="0" algn="l">
              <a:buNone/>
            </a:pPr>
            <a:r>
              <a:rPr lang="en-US" sz="1200" b="1" dirty="0">
                <a:solidFill>
                  <a:srgbClr val="333333"/>
                </a:solidFill>
                <a:latin typeface="Noto Sans JP" pitchFamily="34" charset="0"/>
                <a:ea typeface="Noto Sans JP" pitchFamily="34" charset="-122"/>
                <a:cs typeface="Noto Sans JP" pitchFamily="34" charset="-120"/>
              </a:rPr>
              <a:t>戦略の狙い：</a:t>
            </a:r>
            <a:r>
              <a:rPr lang="en-US" sz="1200" dirty="0">
                <a:solidFill>
                  <a:srgbClr val="555555"/>
                </a:solidFill>
                <a:latin typeface="Noto Sans JP" pitchFamily="34" charset="0"/>
                <a:ea typeface="Noto Sans JP" pitchFamily="34" charset="-122"/>
                <a:cs typeface="Noto Sans JP" pitchFamily="34" charset="-120"/>
              </a:rPr>
              <a:t>「身近な存在」として共感を呼びつつ、「憧れの対象」としての輝きを見せることで、深く強いエンゲージメントを生み出す。</a:t>
            </a:r>
            <a:endParaRPr lang="en-US" sz="1200" dirty="0"/>
          </a:p>
        </p:txBody>
      </p:sp>
      <p:sp>
        <p:nvSpPr>
          <p:cNvPr id="13" name="Shape 8"/>
          <p:cNvSpPr/>
          <p:nvPr/>
        </p:nvSpPr>
        <p:spPr>
          <a:xfrm>
            <a:off x="571500" y="2474366"/>
            <a:ext cx="5524805" cy="4419295"/>
          </a:xfrm>
          <a:prstGeom prst="roundRect">
            <a:avLst>
              <a:gd name="adj" fmla="val 1070"/>
            </a:avLst>
          </a:prstGeom>
          <a:solidFill>
            <a:srgbClr val="F0F9FF"/>
          </a:solidFill>
          <a:ln w="25400">
            <a:solidFill>
              <a:srgbClr val="1E8CA6"/>
            </a:solidFill>
            <a:prstDash val="solid"/>
          </a:ln>
          <a:effectLst>
            <a:outerShdw blurRad="139700" dist="38100" dir="16200000" algn="bl" rotWithShape="0">
              <a:srgbClr val="000000">
                <a:alpha val="5000"/>
              </a:srgbClr>
            </a:outerShdw>
          </a:effectLst>
        </p:spPr>
        <p:txBody>
          <a:bodyPr/>
          <a:lstStyle/>
          <a:p>
            <a:endParaRPr lang="ja-JP" altLang="en-US"/>
          </a:p>
        </p:txBody>
      </p:sp>
      <p:sp>
        <p:nvSpPr>
          <p:cNvPr id="14" name="Shape 9"/>
          <p:cNvSpPr/>
          <p:nvPr/>
        </p:nvSpPr>
        <p:spPr>
          <a:xfrm>
            <a:off x="875995" y="3503066"/>
            <a:ext cx="4914900" cy="9144"/>
          </a:xfrm>
          <a:prstGeom prst="rect">
            <a:avLst/>
          </a:prstGeom>
          <a:solidFill>
            <a:srgbClr val="000000">
              <a:alpha val="10000"/>
            </a:srgbClr>
          </a:solidFill>
          <a:ln w="12700">
            <a:solidFill>
              <a:srgbClr val="000000">
                <a:alpha val="0"/>
              </a:srgbClr>
            </a:solidFill>
            <a:prstDash val="solid"/>
          </a:ln>
        </p:spPr>
        <p:txBody>
          <a:bodyPr/>
          <a:lstStyle/>
          <a:p>
            <a:endParaRPr lang="ja-JP" altLang="en-US"/>
          </a:p>
        </p:txBody>
      </p:sp>
      <p:sp>
        <p:nvSpPr>
          <p:cNvPr id="15" name="Shape 10"/>
          <p:cNvSpPr/>
          <p:nvPr/>
        </p:nvSpPr>
        <p:spPr>
          <a:xfrm>
            <a:off x="875995" y="2778862"/>
            <a:ext cx="571500" cy="571500"/>
          </a:xfrm>
          <a:prstGeom prst="ellipse">
            <a:avLst/>
          </a:prstGeom>
          <a:solidFill>
            <a:srgbClr val="1E8CA6">
              <a:alpha val="1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6"/>
          <a:srcRect l="-685" r="-685"/>
          <a:stretch/>
        </p:blipFill>
        <p:spPr>
          <a:xfrm>
            <a:off x="1009498" y="2931566"/>
            <a:ext cx="304495" cy="267005"/>
          </a:xfrm>
          <a:prstGeom prst="rect">
            <a:avLst/>
          </a:prstGeom>
        </p:spPr>
      </p:pic>
      <p:sp>
        <p:nvSpPr>
          <p:cNvPr id="17" name="Text 11"/>
          <p:cNvSpPr txBox="1"/>
          <p:nvPr/>
        </p:nvSpPr>
        <p:spPr>
          <a:xfrm>
            <a:off x="1638605" y="2790749"/>
            <a:ext cx="1821485" cy="324612"/>
          </a:xfrm>
          <a:prstGeom prst="rect">
            <a:avLst/>
          </a:prstGeom>
          <a:noFill/>
          <a:ln/>
        </p:spPr>
        <p:txBody>
          <a:bodyPr wrap="square" lIns="0" tIns="0" rIns="0" bIns="0" rtlCol="0" anchor="ctr"/>
          <a:lstStyle/>
          <a:p>
            <a:pPr marL="0" indent="0" algn="l">
              <a:buNone/>
            </a:pPr>
            <a:r>
              <a:rPr lang="en-US" sz="2100" b="1" dirty="0">
                <a:solidFill>
                  <a:srgbClr val="1E8CA6"/>
                </a:solidFill>
                <a:latin typeface="Noto Sans JP" pitchFamily="34" charset="0"/>
                <a:ea typeface="Noto Sans JP" pitchFamily="34" charset="-122"/>
                <a:cs typeface="Noto Sans JP" pitchFamily="34" charset="-120"/>
              </a:rPr>
              <a:t>親近感 軸</a:t>
            </a:r>
            <a:endParaRPr lang="en-US" sz="2100" dirty="0"/>
          </a:p>
        </p:txBody>
      </p:sp>
      <p:sp>
        <p:nvSpPr>
          <p:cNvPr id="18" name="Text 12"/>
          <p:cNvSpPr txBox="1"/>
          <p:nvPr/>
        </p:nvSpPr>
        <p:spPr>
          <a:xfrm>
            <a:off x="1638605" y="3110789"/>
            <a:ext cx="1821485" cy="228600"/>
          </a:xfrm>
          <a:prstGeom prst="rect">
            <a:avLst/>
          </a:prstGeom>
          <a:noFill/>
          <a:ln/>
        </p:spPr>
        <p:txBody>
          <a:bodyPr wrap="square" lIns="0" tIns="0" rIns="0" bIns="0" rtlCol="0" anchor="ctr"/>
          <a:lstStyle/>
          <a:p>
            <a:pPr marL="0" indent="0" algn="l">
              <a:buNone/>
            </a:pPr>
            <a:r>
              <a:rPr lang="en-US" sz="1200" dirty="0">
                <a:solidFill>
                  <a:srgbClr val="666666"/>
                </a:solidFill>
                <a:latin typeface="Noto Sans JP" pitchFamily="34" charset="0"/>
                <a:ea typeface="Noto Sans JP" pitchFamily="34" charset="-122"/>
                <a:cs typeface="Noto Sans JP" pitchFamily="34" charset="-120"/>
              </a:rPr>
              <a:t>コムドット的アプローチ</a:t>
            </a:r>
            <a:endParaRPr lang="en-US" sz="1200" dirty="0"/>
          </a:p>
        </p:txBody>
      </p:sp>
      <p:sp>
        <p:nvSpPr>
          <p:cNvPr id="19" name="Shape 13"/>
          <p:cNvSpPr/>
          <p:nvPr/>
        </p:nvSpPr>
        <p:spPr>
          <a:xfrm>
            <a:off x="875995" y="3740810"/>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20" name="Image 4" descr="preencoded.png"/>
          <p:cNvPicPr>
            <a:picLocks noChangeAspect="1"/>
          </p:cNvPicPr>
          <p:nvPr/>
        </p:nvPicPr>
        <p:blipFill>
          <a:blip r:embed="rId7"/>
          <a:srcRect t="-43" b="-43"/>
          <a:stretch/>
        </p:blipFill>
        <p:spPr>
          <a:xfrm>
            <a:off x="990295" y="4074566"/>
            <a:ext cx="133502" cy="152705"/>
          </a:xfrm>
          <a:prstGeom prst="rect">
            <a:avLst/>
          </a:prstGeom>
        </p:spPr>
      </p:pic>
      <p:sp>
        <p:nvSpPr>
          <p:cNvPr id="21" name="Text 14"/>
          <p:cNvSpPr txBox="1"/>
          <p:nvPr/>
        </p:nvSpPr>
        <p:spPr>
          <a:xfrm>
            <a:off x="1505102" y="3740810"/>
            <a:ext cx="1506931"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日常・バラエティ企画</a:t>
            </a:r>
            <a:endParaRPr lang="en-US" sz="1300" dirty="0"/>
          </a:p>
        </p:txBody>
      </p:sp>
      <p:sp>
        <p:nvSpPr>
          <p:cNvPr id="22" name="Shape 15"/>
          <p:cNvSpPr/>
          <p:nvPr/>
        </p:nvSpPr>
        <p:spPr>
          <a:xfrm>
            <a:off x="875995" y="4712818"/>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23" name="Image 5" descr="preencoded.png"/>
          <p:cNvPicPr>
            <a:picLocks noChangeAspect="1"/>
          </p:cNvPicPr>
          <p:nvPr/>
        </p:nvPicPr>
        <p:blipFill>
          <a:blip r:embed="rId7"/>
          <a:srcRect t="-43" b="-43"/>
          <a:stretch/>
        </p:blipFill>
        <p:spPr>
          <a:xfrm>
            <a:off x="990295" y="5045659"/>
            <a:ext cx="133502" cy="152705"/>
          </a:xfrm>
          <a:prstGeom prst="rect">
            <a:avLst/>
          </a:prstGeom>
        </p:spPr>
      </p:pic>
      <p:sp>
        <p:nvSpPr>
          <p:cNvPr id="24" name="Text 16"/>
          <p:cNvSpPr txBox="1"/>
          <p:nvPr/>
        </p:nvSpPr>
        <p:spPr>
          <a:xfrm>
            <a:off x="1505102" y="4712818"/>
            <a:ext cx="1694383"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オフショット・素の表情</a:t>
            </a:r>
            <a:endParaRPr lang="en-US" sz="1300" dirty="0"/>
          </a:p>
        </p:txBody>
      </p:sp>
      <p:sp>
        <p:nvSpPr>
          <p:cNvPr id="25" name="Shape 17"/>
          <p:cNvSpPr/>
          <p:nvPr/>
        </p:nvSpPr>
        <p:spPr>
          <a:xfrm>
            <a:off x="875995" y="5683910"/>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26" name="Image 6" descr="preencoded.png"/>
          <p:cNvPicPr>
            <a:picLocks noChangeAspect="1"/>
          </p:cNvPicPr>
          <p:nvPr/>
        </p:nvPicPr>
        <p:blipFill>
          <a:blip r:embed="rId7"/>
          <a:srcRect t="-43" b="-43"/>
          <a:stretch/>
        </p:blipFill>
        <p:spPr>
          <a:xfrm>
            <a:off x="990295" y="6017666"/>
            <a:ext cx="133502" cy="152705"/>
          </a:xfrm>
          <a:prstGeom prst="rect">
            <a:avLst/>
          </a:prstGeom>
        </p:spPr>
      </p:pic>
      <p:sp>
        <p:nvSpPr>
          <p:cNvPr id="27" name="Text 18"/>
          <p:cNvSpPr txBox="1"/>
          <p:nvPr/>
        </p:nvSpPr>
        <p:spPr>
          <a:xfrm>
            <a:off x="1505102" y="5683910"/>
            <a:ext cx="2723998"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メンバー間の関係性・わちゃわちゃ感</a:t>
            </a:r>
            <a:endParaRPr lang="en-US" sz="1300" dirty="0"/>
          </a:p>
        </p:txBody>
      </p:sp>
      <p:sp>
        <p:nvSpPr>
          <p:cNvPr id="28" name="Shape 19"/>
          <p:cNvSpPr/>
          <p:nvPr/>
        </p:nvSpPr>
        <p:spPr>
          <a:xfrm>
            <a:off x="875995" y="6655918"/>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29" name="Image 7" descr="preencoded.png"/>
          <p:cNvPicPr>
            <a:picLocks noChangeAspect="1"/>
          </p:cNvPicPr>
          <p:nvPr/>
        </p:nvPicPr>
        <p:blipFill>
          <a:blip r:embed="rId7"/>
          <a:srcRect t="-43" b="-43"/>
          <a:stretch/>
        </p:blipFill>
        <p:spPr>
          <a:xfrm>
            <a:off x="990295" y="6988759"/>
            <a:ext cx="133502" cy="152705"/>
          </a:xfrm>
          <a:prstGeom prst="rect">
            <a:avLst/>
          </a:prstGeom>
        </p:spPr>
      </p:pic>
      <p:sp>
        <p:nvSpPr>
          <p:cNvPr id="30" name="Text 20"/>
          <p:cNvSpPr txBox="1"/>
          <p:nvPr/>
        </p:nvSpPr>
        <p:spPr>
          <a:xfrm>
            <a:off x="1505102" y="6655918"/>
            <a:ext cx="2038198"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切り抜き拡散・ショート動画</a:t>
            </a:r>
            <a:endParaRPr lang="en-US" sz="1300" dirty="0"/>
          </a:p>
        </p:txBody>
      </p:sp>
      <p:sp>
        <p:nvSpPr>
          <p:cNvPr id="31" name="Shape 21"/>
          <p:cNvSpPr/>
          <p:nvPr/>
        </p:nvSpPr>
        <p:spPr>
          <a:xfrm>
            <a:off x="6096305" y="2474366"/>
            <a:ext cx="5524805" cy="4419295"/>
          </a:xfrm>
          <a:prstGeom prst="roundRect">
            <a:avLst>
              <a:gd name="adj" fmla="val 1070"/>
            </a:avLst>
          </a:prstGeom>
          <a:solidFill>
            <a:srgbClr val="F0F2FF"/>
          </a:solidFill>
          <a:ln w="25400">
            <a:solidFill>
              <a:srgbClr val="1A3A8A"/>
            </a:solidFill>
            <a:prstDash val="solid"/>
          </a:ln>
          <a:effectLst>
            <a:outerShdw blurRad="139700" dist="38100" dir="16200000" algn="bl" rotWithShape="0">
              <a:srgbClr val="000000">
                <a:alpha val="5000"/>
              </a:srgbClr>
            </a:outerShdw>
          </a:effectLst>
        </p:spPr>
        <p:txBody>
          <a:bodyPr/>
          <a:lstStyle/>
          <a:p>
            <a:endParaRPr lang="ja-JP" altLang="en-US"/>
          </a:p>
        </p:txBody>
      </p:sp>
      <p:sp>
        <p:nvSpPr>
          <p:cNvPr id="32" name="Shape 22"/>
          <p:cNvSpPr/>
          <p:nvPr/>
        </p:nvSpPr>
        <p:spPr>
          <a:xfrm>
            <a:off x="6400800" y="3503066"/>
            <a:ext cx="4914900" cy="9144"/>
          </a:xfrm>
          <a:prstGeom prst="rect">
            <a:avLst/>
          </a:prstGeom>
          <a:solidFill>
            <a:srgbClr val="000000">
              <a:alpha val="10000"/>
            </a:srgbClr>
          </a:solidFill>
          <a:ln w="12700">
            <a:solidFill>
              <a:srgbClr val="000000">
                <a:alpha val="0"/>
              </a:srgbClr>
            </a:solidFill>
            <a:prstDash val="solid"/>
          </a:ln>
        </p:spPr>
        <p:txBody>
          <a:bodyPr/>
          <a:lstStyle/>
          <a:p>
            <a:endParaRPr lang="ja-JP" altLang="en-US"/>
          </a:p>
        </p:txBody>
      </p:sp>
      <p:sp>
        <p:nvSpPr>
          <p:cNvPr id="33" name="Shape 23"/>
          <p:cNvSpPr/>
          <p:nvPr/>
        </p:nvSpPr>
        <p:spPr>
          <a:xfrm>
            <a:off x="6400800" y="2778862"/>
            <a:ext cx="571500" cy="571500"/>
          </a:xfrm>
          <a:prstGeom prst="ellipse">
            <a:avLst/>
          </a:prstGeom>
          <a:solidFill>
            <a:srgbClr val="1A3A8A">
              <a:alpha val="10000"/>
            </a:srgbClr>
          </a:solidFill>
          <a:ln w="12700">
            <a:solidFill>
              <a:srgbClr val="FFFFFF">
                <a:alpha val="0"/>
              </a:srgbClr>
            </a:solidFill>
            <a:prstDash val="solid"/>
          </a:ln>
        </p:spPr>
        <p:txBody>
          <a:bodyPr/>
          <a:lstStyle/>
          <a:p>
            <a:endParaRPr lang="ja-JP" altLang="en-US"/>
          </a:p>
        </p:txBody>
      </p:sp>
      <p:pic>
        <p:nvPicPr>
          <p:cNvPr id="34" name="Image 8" descr="preencoded.png"/>
          <p:cNvPicPr>
            <a:picLocks noChangeAspect="1"/>
          </p:cNvPicPr>
          <p:nvPr/>
        </p:nvPicPr>
        <p:blipFill>
          <a:blip r:embed="rId8"/>
          <a:srcRect l="-685" r="-685"/>
          <a:stretch/>
        </p:blipFill>
        <p:spPr>
          <a:xfrm>
            <a:off x="6534302" y="2931566"/>
            <a:ext cx="304495" cy="267005"/>
          </a:xfrm>
          <a:prstGeom prst="rect">
            <a:avLst/>
          </a:prstGeom>
        </p:spPr>
      </p:pic>
      <p:sp>
        <p:nvSpPr>
          <p:cNvPr id="35" name="Text 24"/>
          <p:cNvSpPr txBox="1"/>
          <p:nvPr/>
        </p:nvSpPr>
        <p:spPr>
          <a:xfrm>
            <a:off x="7162495" y="2790749"/>
            <a:ext cx="1600200" cy="324612"/>
          </a:xfrm>
          <a:prstGeom prst="rect">
            <a:avLst/>
          </a:prstGeom>
          <a:noFill/>
          <a:ln/>
        </p:spPr>
        <p:txBody>
          <a:bodyPr wrap="square" lIns="0" tIns="0" rIns="0" bIns="0" rtlCol="0" anchor="ctr"/>
          <a:lstStyle/>
          <a:p>
            <a:pPr marL="0" indent="0" algn="l">
              <a:buNone/>
            </a:pPr>
            <a:r>
              <a:rPr lang="en-US" sz="2100" b="1" dirty="0">
                <a:solidFill>
                  <a:srgbClr val="1A3A8A"/>
                </a:solidFill>
                <a:latin typeface="Noto Sans JP" pitchFamily="34" charset="0"/>
                <a:ea typeface="Noto Sans JP" pitchFamily="34" charset="-122"/>
                <a:cs typeface="Noto Sans JP" pitchFamily="34" charset="-120"/>
              </a:rPr>
              <a:t>アイドル 軸</a:t>
            </a:r>
            <a:endParaRPr lang="en-US" sz="2100" dirty="0"/>
          </a:p>
        </p:txBody>
      </p:sp>
      <p:sp>
        <p:nvSpPr>
          <p:cNvPr id="36" name="Text 25"/>
          <p:cNvSpPr txBox="1"/>
          <p:nvPr/>
        </p:nvSpPr>
        <p:spPr>
          <a:xfrm>
            <a:off x="7162495" y="3110789"/>
            <a:ext cx="1502359" cy="228600"/>
          </a:xfrm>
          <a:prstGeom prst="rect">
            <a:avLst/>
          </a:prstGeom>
          <a:noFill/>
          <a:ln/>
        </p:spPr>
        <p:txBody>
          <a:bodyPr wrap="square" lIns="0" tIns="0" rIns="0" bIns="0" rtlCol="0" anchor="ctr"/>
          <a:lstStyle/>
          <a:p>
            <a:pPr marL="0" indent="0" algn="l">
              <a:buNone/>
            </a:pPr>
            <a:r>
              <a:rPr lang="en-US" sz="1200" dirty="0">
                <a:solidFill>
                  <a:srgbClr val="666666"/>
                </a:solidFill>
                <a:latin typeface="Noto Sans JP" pitchFamily="34" charset="0"/>
                <a:ea typeface="Noto Sans JP" pitchFamily="34" charset="-122"/>
                <a:cs typeface="Noto Sans JP" pitchFamily="34" charset="-120"/>
              </a:rPr>
              <a:t>スター性の確立</a:t>
            </a:r>
            <a:endParaRPr lang="en-US" sz="1200" dirty="0"/>
          </a:p>
        </p:txBody>
      </p:sp>
      <p:sp>
        <p:nvSpPr>
          <p:cNvPr id="37" name="Shape 26"/>
          <p:cNvSpPr/>
          <p:nvPr/>
        </p:nvSpPr>
        <p:spPr>
          <a:xfrm>
            <a:off x="6400800" y="3740810"/>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38" name="Image 9" descr="preencoded.png"/>
          <p:cNvPicPr>
            <a:picLocks noChangeAspect="1"/>
          </p:cNvPicPr>
          <p:nvPr/>
        </p:nvPicPr>
        <p:blipFill>
          <a:blip r:embed="rId9"/>
          <a:srcRect t="-43" b="-43"/>
          <a:stretch/>
        </p:blipFill>
        <p:spPr>
          <a:xfrm>
            <a:off x="6515100" y="4074566"/>
            <a:ext cx="133502" cy="152705"/>
          </a:xfrm>
          <a:prstGeom prst="rect">
            <a:avLst/>
          </a:prstGeom>
        </p:spPr>
      </p:pic>
      <p:sp>
        <p:nvSpPr>
          <p:cNvPr id="39" name="Text 27"/>
          <p:cNvSpPr txBox="1"/>
          <p:nvPr/>
        </p:nvSpPr>
        <p:spPr>
          <a:xfrm>
            <a:off x="7029907" y="3740810"/>
            <a:ext cx="2038198"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楽曲・ダンスパフォーマンス</a:t>
            </a:r>
            <a:endParaRPr lang="en-US" sz="1300" dirty="0"/>
          </a:p>
        </p:txBody>
      </p:sp>
      <p:sp>
        <p:nvSpPr>
          <p:cNvPr id="40" name="Shape 28"/>
          <p:cNvSpPr/>
          <p:nvPr/>
        </p:nvSpPr>
        <p:spPr>
          <a:xfrm>
            <a:off x="6400800" y="4712818"/>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41" name="Image 10" descr="preencoded.png"/>
          <p:cNvPicPr>
            <a:picLocks noChangeAspect="1"/>
          </p:cNvPicPr>
          <p:nvPr/>
        </p:nvPicPr>
        <p:blipFill>
          <a:blip r:embed="rId9"/>
          <a:srcRect t="-43" b="-43"/>
          <a:stretch/>
        </p:blipFill>
        <p:spPr>
          <a:xfrm>
            <a:off x="6515100" y="5045659"/>
            <a:ext cx="133502" cy="152705"/>
          </a:xfrm>
          <a:prstGeom prst="rect">
            <a:avLst/>
          </a:prstGeom>
        </p:spPr>
      </p:pic>
      <p:sp>
        <p:nvSpPr>
          <p:cNvPr id="42" name="Text 29"/>
          <p:cNvSpPr txBox="1"/>
          <p:nvPr/>
        </p:nvSpPr>
        <p:spPr>
          <a:xfrm>
            <a:off x="7029907" y="4712818"/>
            <a:ext cx="1694383"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ドラマ・演技・感情移入</a:t>
            </a:r>
            <a:endParaRPr lang="en-US" sz="1300" dirty="0"/>
          </a:p>
        </p:txBody>
      </p:sp>
      <p:sp>
        <p:nvSpPr>
          <p:cNvPr id="43" name="Shape 30"/>
          <p:cNvSpPr/>
          <p:nvPr/>
        </p:nvSpPr>
        <p:spPr>
          <a:xfrm>
            <a:off x="6400800" y="5683910"/>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44" name="Image 11" descr="preencoded.png"/>
          <p:cNvPicPr>
            <a:picLocks noChangeAspect="1"/>
          </p:cNvPicPr>
          <p:nvPr/>
        </p:nvPicPr>
        <p:blipFill>
          <a:blip r:embed="rId9"/>
          <a:srcRect t="-43" b="-43"/>
          <a:stretch/>
        </p:blipFill>
        <p:spPr>
          <a:xfrm>
            <a:off x="6515100" y="6017666"/>
            <a:ext cx="133502" cy="152705"/>
          </a:xfrm>
          <a:prstGeom prst="rect">
            <a:avLst/>
          </a:prstGeom>
        </p:spPr>
      </p:pic>
      <p:sp>
        <p:nvSpPr>
          <p:cNvPr id="45" name="Text 31"/>
          <p:cNvSpPr txBox="1"/>
          <p:nvPr/>
        </p:nvSpPr>
        <p:spPr>
          <a:xfrm>
            <a:off x="7029907" y="5683910"/>
            <a:ext cx="2542946"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ビジュアル重視の高品質コンテンツ</a:t>
            </a:r>
            <a:endParaRPr lang="en-US" sz="1300" dirty="0"/>
          </a:p>
        </p:txBody>
      </p:sp>
      <p:sp>
        <p:nvSpPr>
          <p:cNvPr id="46" name="Shape 32"/>
          <p:cNvSpPr/>
          <p:nvPr/>
        </p:nvSpPr>
        <p:spPr>
          <a:xfrm>
            <a:off x="6400800" y="6655918"/>
            <a:ext cx="4914900" cy="819302"/>
          </a:xfrm>
          <a:prstGeom prst="roundRect">
            <a:avLst>
              <a:gd name="adj" fmla="val 20764"/>
            </a:avLst>
          </a:prstGeom>
          <a:solidFill>
            <a:srgbClr val="FFFFFF">
              <a:alpha val="60000"/>
            </a:srgbClr>
          </a:solidFill>
          <a:ln w="12700">
            <a:solidFill>
              <a:srgbClr val="FFFFFF">
                <a:alpha val="0"/>
              </a:srgbClr>
            </a:solidFill>
            <a:prstDash val="solid"/>
          </a:ln>
        </p:spPr>
        <p:txBody>
          <a:bodyPr/>
          <a:lstStyle/>
          <a:p>
            <a:endParaRPr lang="ja-JP" altLang="en-US"/>
          </a:p>
        </p:txBody>
      </p:sp>
      <p:pic>
        <p:nvPicPr>
          <p:cNvPr id="47" name="Image 12" descr="preencoded.png"/>
          <p:cNvPicPr>
            <a:picLocks noChangeAspect="1"/>
          </p:cNvPicPr>
          <p:nvPr/>
        </p:nvPicPr>
        <p:blipFill>
          <a:blip r:embed="rId9"/>
          <a:srcRect t="-43" b="-43"/>
          <a:stretch/>
        </p:blipFill>
        <p:spPr>
          <a:xfrm>
            <a:off x="6515100" y="6988759"/>
            <a:ext cx="133502" cy="152705"/>
          </a:xfrm>
          <a:prstGeom prst="rect">
            <a:avLst/>
          </a:prstGeom>
        </p:spPr>
      </p:pic>
      <p:sp>
        <p:nvSpPr>
          <p:cNvPr id="48" name="Text 33"/>
          <p:cNvSpPr txBox="1"/>
          <p:nvPr/>
        </p:nvSpPr>
        <p:spPr>
          <a:xfrm>
            <a:off x="7029907" y="6655918"/>
            <a:ext cx="2381098" cy="819302"/>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ファンとの交流イベント・ライブ</a:t>
            </a:r>
            <a:endParaRPr lang="en-US" sz="1300" dirty="0"/>
          </a:p>
        </p:txBody>
      </p:sp>
      <p:pic>
        <p:nvPicPr>
          <p:cNvPr id="49" name="Image 13" descr="preencoded.png"/>
          <p:cNvPicPr>
            <a:picLocks noChangeAspect="1"/>
          </p:cNvPicPr>
          <p:nvPr/>
        </p:nvPicPr>
        <p:blipFill>
          <a:blip r:embed="rId10"/>
          <a:srcRect/>
          <a:stretch/>
        </p:blipFill>
        <p:spPr>
          <a:xfrm>
            <a:off x="5676595" y="4264762"/>
            <a:ext cx="838505" cy="838505"/>
          </a:xfrm>
          <a:prstGeom prst="rect">
            <a:avLst/>
          </a:prstGeom>
        </p:spPr>
      </p:pic>
      <p:pic>
        <p:nvPicPr>
          <p:cNvPr id="50" name="Image 14" descr="preencoded.png"/>
          <p:cNvPicPr>
            <a:picLocks noChangeAspect="1"/>
          </p:cNvPicPr>
          <p:nvPr/>
        </p:nvPicPr>
        <p:blipFill>
          <a:blip r:embed="rId11"/>
          <a:srcRect l="-40" r="-40"/>
          <a:stretch/>
        </p:blipFill>
        <p:spPr>
          <a:xfrm>
            <a:off x="5952744" y="4493362"/>
            <a:ext cx="286207" cy="381305"/>
          </a:xfrm>
          <a:prstGeom prst="rect">
            <a:avLst/>
          </a:prstGeom>
        </p:spPr>
      </p:pic>
      <p:sp>
        <p:nvSpPr>
          <p:cNvPr id="51" name="Text 34"/>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52" name="Text 35"/>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6476695"/>
            <a:ext cx="12191695" cy="381305"/>
          </a:xfrm>
          <a:prstGeom prst="rect">
            <a:avLst/>
          </a:prstGeom>
          <a:solidFill>
            <a:srgbClr val="FFFFFF"/>
          </a:solidFill>
          <a:ln/>
        </p:spPr>
        <p:txBody>
          <a:bodyPr/>
          <a:lstStyle/>
          <a:p>
            <a:endParaRPr lang="ja-JP" altLang="en-US"/>
          </a:p>
        </p:txBody>
      </p:sp>
      <p:sp>
        <p:nvSpPr>
          <p:cNvPr id="4" name="Shape 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5" name="Text 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6" name="Text 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10</a:t>
            </a:r>
            <a:endParaRPr lang="en-US" sz="800" dirty="0"/>
          </a:p>
        </p:txBody>
      </p:sp>
      <p:pic>
        <p:nvPicPr>
          <p:cNvPr id="7" name="Image 0" descr="preencoded.png"/>
          <p:cNvPicPr>
            <a:picLocks noChangeAspect="1"/>
          </p:cNvPicPr>
          <p:nvPr/>
        </p:nvPicPr>
        <p:blipFill>
          <a:blip r:embed="rId3"/>
          <a:srcRect l="-400" r="-400"/>
          <a:stretch/>
        </p:blipFill>
        <p:spPr>
          <a:xfrm>
            <a:off x="571500" y="776326"/>
            <a:ext cx="38405" cy="228600"/>
          </a:xfrm>
          <a:prstGeom prst="rect">
            <a:avLst/>
          </a:prstGeom>
        </p:spPr>
      </p:pic>
      <p:sp>
        <p:nvSpPr>
          <p:cNvPr id="8" name="Text 5"/>
          <p:cNvSpPr txBox="1"/>
          <p:nvPr/>
        </p:nvSpPr>
        <p:spPr>
          <a:xfrm>
            <a:off x="724205" y="761695"/>
            <a:ext cx="810158"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SNS戦略</a:t>
            </a:r>
            <a:endParaRPr lang="en-US" sz="1300" dirty="0"/>
          </a:p>
        </p:txBody>
      </p:sp>
      <p:sp>
        <p:nvSpPr>
          <p:cNvPr id="9" name="Text 6"/>
          <p:cNvSpPr txBox="1"/>
          <p:nvPr/>
        </p:nvSpPr>
        <p:spPr>
          <a:xfrm>
            <a:off x="8465515" y="952805"/>
            <a:ext cx="4114800" cy="1905610"/>
          </a:xfrm>
          <a:prstGeom prst="rect">
            <a:avLst/>
          </a:prstGeom>
          <a:noFill/>
          <a:ln/>
        </p:spPr>
        <p:txBody>
          <a:bodyPr wrap="square" lIns="0" tIns="0" rIns="0" bIns="0" rtlCol="0" anchor="ctr"/>
          <a:lstStyle/>
          <a:p>
            <a:pPr marL="0" indent="0" algn="l">
              <a:buNone/>
            </a:pPr>
            <a:r>
              <a:rPr lang="en-US" sz="15000" b="1" dirty="0">
                <a:solidFill>
                  <a:srgbClr val="1A3A8A">
                    <a:alpha val="3000"/>
                  </a:srgbClr>
                </a:solidFill>
                <a:latin typeface="Arial" pitchFamily="34" charset="0"/>
                <a:ea typeface="Arial" pitchFamily="34" charset="-122"/>
                <a:cs typeface="Arial" pitchFamily="34" charset="-120"/>
              </a:rPr>
              <a:t>SNS</a:t>
            </a:r>
            <a:endParaRPr lang="en-US" sz="15000" dirty="0"/>
          </a:p>
        </p:txBody>
      </p:sp>
      <p:sp>
        <p:nvSpPr>
          <p:cNvPr id="10" name="Shape 7"/>
          <p:cNvSpPr/>
          <p:nvPr/>
        </p:nvSpPr>
        <p:spPr>
          <a:xfrm>
            <a:off x="571500" y="2142439"/>
            <a:ext cx="9944100" cy="19202"/>
          </a:xfrm>
          <a:prstGeom prst="rect">
            <a:avLst/>
          </a:prstGeom>
          <a:solidFill>
            <a:srgbClr val="F0F0F0"/>
          </a:solidFill>
          <a:ln w="12700">
            <a:solidFill>
              <a:srgbClr val="F0F0F0">
                <a:alpha val="0"/>
              </a:srgbClr>
            </a:solidFill>
            <a:prstDash val="solid"/>
          </a:ln>
        </p:spPr>
        <p:txBody>
          <a:bodyPr/>
          <a:lstStyle/>
          <a:p>
            <a:endParaRPr lang="ja-JP" altLang="en-US"/>
          </a:p>
        </p:txBody>
      </p:sp>
      <p:sp>
        <p:nvSpPr>
          <p:cNvPr id="11" name="Text 8"/>
          <p:cNvSpPr txBox="1"/>
          <p:nvPr/>
        </p:nvSpPr>
        <p:spPr>
          <a:xfrm>
            <a:off x="571500" y="1399946"/>
            <a:ext cx="10116007" cy="553212"/>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l">
              <a:buNone/>
            </a:pPr>
            <a:r>
              <a:rPr lang="en-US" sz="3600" b="1" kern="0" spc="-75" dirty="0">
                <a:solidFill>
                  <a:srgbClr val="1A3A8A"/>
                </a:solidFill>
                <a:latin typeface="Noto Sans JP" pitchFamily="34" charset="0"/>
                <a:ea typeface="Noto Sans JP" pitchFamily="34" charset="-122"/>
                <a:cs typeface="Noto Sans JP" pitchFamily="34" charset="-120"/>
              </a:rPr>
              <a:t>SNS拡散戦略（広告運用なし・オーガニック）</a:t>
            </a:r>
            <a:endParaRPr lang="en-US" sz="3600" dirty="0"/>
          </a:p>
        </p:txBody>
      </p:sp>
      <p:sp>
        <p:nvSpPr>
          <p:cNvPr id="12" name="Shape 9"/>
          <p:cNvSpPr/>
          <p:nvPr/>
        </p:nvSpPr>
        <p:spPr>
          <a:xfrm>
            <a:off x="571500" y="6597396"/>
            <a:ext cx="11048695" cy="571500"/>
          </a:xfrm>
          <a:prstGeom prst="roundRect">
            <a:avLst>
              <a:gd name="adj" fmla="val 42667"/>
            </a:avLst>
          </a:prstGeom>
          <a:solidFill>
            <a:srgbClr val="1A3A8A"/>
          </a:solidFill>
          <a:ln w="12700">
            <a:solidFill>
              <a:srgbClr val="FFFFFF">
                <a:alpha val="0"/>
              </a:srgbClr>
            </a:solidFill>
            <a:prstDash val="solid"/>
          </a:ln>
          <a:effectLst>
            <a:outerShdw blurRad="101600" dist="38100" dir="16200000" algn="bl" rotWithShape="0">
              <a:srgbClr val="1A3A8A">
                <a:alpha val="20000"/>
              </a:srgbClr>
            </a:outerShdw>
          </a:effectLst>
        </p:spPr>
        <p:txBody>
          <a:bodyPr/>
          <a:lstStyle/>
          <a:p>
            <a:endParaRPr lang="ja-JP" altLang="en-US"/>
          </a:p>
        </p:txBody>
      </p:sp>
      <p:sp>
        <p:nvSpPr>
          <p:cNvPr id="13" name="Text 10"/>
          <p:cNvSpPr txBox="1"/>
          <p:nvPr/>
        </p:nvSpPr>
        <p:spPr>
          <a:xfrm>
            <a:off x="2902306" y="6740042"/>
            <a:ext cx="6853428"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Noto Sans JP" pitchFamily="34" charset="0"/>
                <a:ea typeface="Noto Sans JP" pitchFamily="34" charset="-122"/>
                <a:cs typeface="Noto Sans JP" pitchFamily="34" charset="-120"/>
              </a:rPr>
              <a:t> 広告費ゼロでのオーガニック拡散を軸に展開し、熱狂的なファンベースを構築</a:t>
            </a:r>
            <a:endParaRPr lang="en-US" sz="1500" dirty="0"/>
          </a:p>
        </p:txBody>
      </p:sp>
      <p:pic>
        <p:nvPicPr>
          <p:cNvPr id="14" name="Image 1" descr="preencoded.png"/>
          <p:cNvPicPr>
            <a:picLocks noChangeAspect="1"/>
          </p:cNvPicPr>
          <p:nvPr/>
        </p:nvPicPr>
        <p:blipFill>
          <a:blip r:embed="rId4"/>
          <a:srcRect/>
          <a:stretch/>
        </p:blipFill>
        <p:spPr>
          <a:xfrm>
            <a:off x="2630729" y="6753758"/>
            <a:ext cx="228600" cy="228600"/>
          </a:xfrm>
          <a:prstGeom prst="rect">
            <a:avLst/>
          </a:prstGeom>
        </p:spPr>
      </p:pic>
      <p:pic>
        <p:nvPicPr>
          <p:cNvPr id="15" name="Image 2" descr="preencoded.png"/>
          <p:cNvPicPr>
            <a:picLocks noChangeAspect="1"/>
          </p:cNvPicPr>
          <p:nvPr/>
        </p:nvPicPr>
        <p:blipFill>
          <a:blip r:embed="rId5"/>
          <a:srcRect t="-10" b="-10"/>
          <a:stretch/>
        </p:blipFill>
        <p:spPr>
          <a:xfrm>
            <a:off x="571500" y="2482596"/>
            <a:ext cx="3492094" cy="3829507"/>
          </a:xfrm>
          <a:prstGeom prst="rect">
            <a:avLst/>
          </a:prstGeom>
        </p:spPr>
      </p:pic>
      <p:pic>
        <p:nvPicPr>
          <p:cNvPr id="16" name="Image 3" descr="preencoded.png"/>
          <p:cNvPicPr>
            <a:picLocks noChangeAspect="1"/>
          </p:cNvPicPr>
          <p:nvPr/>
        </p:nvPicPr>
        <p:blipFill>
          <a:blip r:embed="rId6"/>
          <a:srcRect l="-228" r="-228"/>
          <a:stretch/>
        </p:blipFill>
        <p:spPr>
          <a:xfrm>
            <a:off x="800100" y="2951683"/>
            <a:ext cx="352044" cy="400507"/>
          </a:xfrm>
          <a:prstGeom prst="rect">
            <a:avLst/>
          </a:prstGeom>
        </p:spPr>
      </p:pic>
      <p:sp>
        <p:nvSpPr>
          <p:cNvPr id="17" name="Shape 11"/>
          <p:cNvSpPr/>
          <p:nvPr/>
        </p:nvSpPr>
        <p:spPr>
          <a:xfrm>
            <a:off x="800100" y="4054450"/>
            <a:ext cx="3038551" cy="9144"/>
          </a:xfrm>
          <a:prstGeom prst="rect">
            <a:avLst/>
          </a:prstGeom>
          <a:solidFill>
            <a:srgbClr val="DDDDDD"/>
          </a:solidFill>
          <a:ln w="12700">
            <a:solidFill>
              <a:srgbClr val="DDDDDD">
                <a:alpha val="0"/>
              </a:srgbClr>
            </a:solidFill>
            <a:prstDash val="solid"/>
          </a:ln>
        </p:spPr>
        <p:txBody>
          <a:bodyPr/>
          <a:lstStyle/>
          <a:p>
            <a:endParaRPr lang="ja-JP" altLang="en-US"/>
          </a:p>
        </p:txBody>
      </p:sp>
      <p:sp>
        <p:nvSpPr>
          <p:cNvPr id="18" name="Text 12"/>
          <p:cNvSpPr txBox="1"/>
          <p:nvPr/>
        </p:nvSpPr>
        <p:spPr>
          <a:xfrm>
            <a:off x="800100" y="3615538"/>
            <a:ext cx="3152851"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TikTok</a:t>
            </a:r>
            <a:endParaRPr lang="en-US" sz="1800" dirty="0"/>
          </a:p>
        </p:txBody>
      </p:sp>
      <p:sp>
        <p:nvSpPr>
          <p:cNvPr id="19" name="Shape 13"/>
          <p:cNvSpPr/>
          <p:nvPr/>
        </p:nvSpPr>
        <p:spPr>
          <a:xfrm>
            <a:off x="800100" y="4139489"/>
            <a:ext cx="3038551" cy="352044"/>
          </a:xfrm>
          <a:prstGeom prst="roundRect">
            <a:avLst>
              <a:gd name="adj" fmla="val 56160"/>
            </a:avLst>
          </a:prstGeom>
          <a:solidFill>
            <a:srgbClr val="FFFFFF">
              <a:alpha val="60000"/>
            </a:srgbClr>
          </a:solidFill>
          <a:ln w="12700">
            <a:solidFill>
              <a:srgbClr val="FFFFFF">
                <a:alpha val="0"/>
              </a:srgbClr>
            </a:solidFill>
            <a:prstDash val="solid"/>
          </a:ln>
        </p:spPr>
        <p:txBody>
          <a:bodyPr/>
          <a:lstStyle/>
          <a:p>
            <a:endParaRPr lang="ja-JP" altLang="en-US"/>
          </a:p>
        </p:txBody>
      </p:sp>
      <p:sp>
        <p:nvSpPr>
          <p:cNvPr id="20" name="Text 14"/>
          <p:cNvSpPr txBox="1"/>
          <p:nvPr/>
        </p:nvSpPr>
        <p:spPr>
          <a:xfrm>
            <a:off x="800100" y="4139489"/>
            <a:ext cx="3115361" cy="352958"/>
          </a:xfrm>
          <a:prstGeom prst="rect">
            <a:avLst/>
          </a:prstGeom>
          <a:solidFill>
            <a:srgbClr val="FFFFFF">
              <a:alpha val="0"/>
            </a:srgbClr>
          </a:solidFill>
          <a:ln>
            <a:solidFill>
              <a:srgbClr val="FFFFFF">
                <a:alpha val="0"/>
              </a:srgbClr>
            </a:solidFill>
          </a:ln>
        </p:spPr>
        <p:txBody>
          <a:bodyPr wrap="square" lIns="101600" tIns="50800" rIns="101600" bIns="50800" rtlCol="0" anchor="t"/>
          <a:lstStyle/>
          <a:p>
            <a:pPr marL="0" indent="0" algn="l">
              <a:buNone/>
            </a:pPr>
            <a:r>
              <a:rPr lang="en-US" sz="1300" b="1" dirty="0">
                <a:solidFill>
                  <a:srgbClr val="333333"/>
                </a:solidFill>
                <a:latin typeface="Noto Sans JP" pitchFamily="34" charset="0"/>
                <a:ea typeface="Noto Sans JP" pitchFamily="34" charset="-122"/>
                <a:cs typeface="Noto Sans JP" pitchFamily="34" charset="-120"/>
              </a:rPr>
              <a:t>短尺バズ動画</a:t>
            </a:r>
            <a:endParaRPr lang="en-US" sz="1300" dirty="0"/>
          </a:p>
        </p:txBody>
      </p:sp>
      <p:sp>
        <p:nvSpPr>
          <p:cNvPr id="21" name="Text 15"/>
          <p:cNvSpPr txBox="1"/>
          <p:nvPr/>
        </p:nvSpPr>
        <p:spPr>
          <a:xfrm>
            <a:off x="800100" y="4635094"/>
            <a:ext cx="3115361" cy="9144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 ダンス、ネタ系、トレンド音源を活用した拡散型コンテンツを投下。</a:t>
            </a:r>
            <a:endParaRPr lang="en-US" sz="1100" dirty="0"/>
          </a:p>
          <a:p>
            <a:pPr marL="0" indent="0" algn="l">
              <a:buNone/>
            </a:pPr>
            <a:r>
              <a:rPr lang="en-US" sz="1100" dirty="0">
                <a:solidFill>
                  <a:srgbClr val="555555"/>
                </a:solidFill>
                <a:latin typeface="Noto Sans JP" pitchFamily="34" charset="0"/>
                <a:ea typeface="Noto Sans JP" pitchFamily="34" charset="-122"/>
                <a:cs typeface="Noto Sans JP" pitchFamily="34" charset="-120"/>
              </a:rPr>
              <a:t> アルゴリズムをハックし、新規層へのリーチを最大化する。 </a:t>
            </a:r>
            <a:endParaRPr lang="en-US" sz="1100" dirty="0"/>
          </a:p>
        </p:txBody>
      </p:sp>
      <p:sp>
        <p:nvSpPr>
          <p:cNvPr id="22" name="Shape 16"/>
          <p:cNvSpPr/>
          <p:nvPr/>
        </p:nvSpPr>
        <p:spPr>
          <a:xfrm>
            <a:off x="800100" y="5739689"/>
            <a:ext cx="990295" cy="286207"/>
          </a:xfrm>
          <a:prstGeom prst="roundRect">
            <a:avLst>
              <a:gd name="adj" fmla="val 319489"/>
            </a:avLst>
          </a:prstGeom>
          <a:solidFill>
            <a:srgbClr val="1A3A8A"/>
          </a:solidFill>
          <a:ln w="12700">
            <a:solidFill>
              <a:srgbClr val="FFFFFF">
                <a:alpha val="0"/>
              </a:srgbClr>
            </a:solidFill>
            <a:prstDash val="solid"/>
          </a:ln>
        </p:spPr>
        <p:txBody>
          <a:bodyPr/>
          <a:lstStyle/>
          <a:p>
            <a:endParaRPr lang="ja-JP" altLang="en-US"/>
          </a:p>
        </p:txBody>
      </p:sp>
      <p:sp>
        <p:nvSpPr>
          <p:cNvPr id="23" name="Text 17"/>
          <p:cNvSpPr/>
          <p:nvPr/>
        </p:nvSpPr>
        <p:spPr>
          <a:xfrm>
            <a:off x="1028700" y="5739689"/>
            <a:ext cx="819302" cy="286207"/>
          </a:xfrm>
          <a:prstGeom prst="rect">
            <a:avLst/>
          </a:prstGeom>
          <a:solidFill>
            <a:srgbClr val="FFFFFF">
              <a:alpha val="0"/>
            </a:srgbClr>
          </a:solidFill>
          <a:ln>
            <a:solidFill>
              <a:srgbClr val="FFFFFF">
                <a:alpha val="0"/>
              </a:srgbClr>
            </a:solidFill>
          </a:ln>
        </p:spPr>
        <p:txBody>
          <a:bodyPr wrap="square" lIns="114300" tIns="63500" rIns="114300" bIns="6350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 α世代リーチ </a:t>
            </a:r>
            <a:endParaRPr lang="en-US" sz="900" dirty="0"/>
          </a:p>
        </p:txBody>
      </p:sp>
      <p:pic>
        <p:nvPicPr>
          <p:cNvPr id="24" name="Image 4" descr="preencoded.png"/>
          <p:cNvPicPr>
            <a:picLocks noChangeAspect="1"/>
          </p:cNvPicPr>
          <p:nvPr/>
        </p:nvPicPr>
        <p:blipFill>
          <a:blip r:embed="rId7"/>
          <a:srcRect/>
          <a:stretch/>
        </p:blipFill>
        <p:spPr>
          <a:xfrm>
            <a:off x="914400" y="5825642"/>
            <a:ext cx="114300" cy="114300"/>
          </a:xfrm>
          <a:prstGeom prst="rect">
            <a:avLst/>
          </a:prstGeom>
        </p:spPr>
      </p:pic>
      <p:pic>
        <p:nvPicPr>
          <p:cNvPr id="25" name="Image 5" descr="preencoded.png"/>
          <p:cNvPicPr>
            <a:picLocks noChangeAspect="1"/>
          </p:cNvPicPr>
          <p:nvPr/>
        </p:nvPicPr>
        <p:blipFill>
          <a:blip r:embed="rId8"/>
          <a:srcRect t="-12" b="-12"/>
          <a:stretch/>
        </p:blipFill>
        <p:spPr>
          <a:xfrm>
            <a:off x="4349801" y="2482596"/>
            <a:ext cx="3492094" cy="3829507"/>
          </a:xfrm>
          <a:prstGeom prst="rect">
            <a:avLst/>
          </a:prstGeom>
        </p:spPr>
      </p:pic>
      <p:pic>
        <p:nvPicPr>
          <p:cNvPr id="26" name="Image 6" descr="preencoded.png"/>
          <p:cNvPicPr>
            <a:picLocks noChangeAspect="1"/>
          </p:cNvPicPr>
          <p:nvPr/>
        </p:nvPicPr>
        <p:blipFill>
          <a:blip r:embed="rId9"/>
          <a:srcRect l="-228" r="-228"/>
          <a:stretch/>
        </p:blipFill>
        <p:spPr>
          <a:xfrm>
            <a:off x="4578401" y="2951683"/>
            <a:ext cx="352044" cy="400507"/>
          </a:xfrm>
          <a:prstGeom prst="rect">
            <a:avLst/>
          </a:prstGeom>
        </p:spPr>
      </p:pic>
      <p:sp>
        <p:nvSpPr>
          <p:cNvPr id="27" name="Shape 18"/>
          <p:cNvSpPr/>
          <p:nvPr/>
        </p:nvSpPr>
        <p:spPr>
          <a:xfrm>
            <a:off x="4578401" y="4054450"/>
            <a:ext cx="3038551" cy="9144"/>
          </a:xfrm>
          <a:prstGeom prst="rect">
            <a:avLst/>
          </a:prstGeom>
          <a:solidFill>
            <a:srgbClr val="DDDDDD"/>
          </a:solidFill>
          <a:ln w="12700">
            <a:solidFill>
              <a:srgbClr val="DDDDDD">
                <a:alpha val="0"/>
              </a:srgbClr>
            </a:solidFill>
            <a:prstDash val="solid"/>
          </a:ln>
        </p:spPr>
        <p:txBody>
          <a:bodyPr/>
          <a:lstStyle/>
          <a:p>
            <a:endParaRPr lang="ja-JP" altLang="en-US"/>
          </a:p>
        </p:txBody>
      </p:sp>
      <p:sp>
        <p:nvSpPr>
          <p:cNvPr id="28" name="Text 19"/>
          <p:cNvSpPr txBox="1"/>
          <p:nvPr/>
        </p:nvSpPr>
        <p:spPr>
          <a:xfrm>
            <a:off x="4578401" y="3615538"/>
            <a:ext cx="3152851"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Instagram</a:t>
            </a:r>
            <a:endParaRPr lang="en-US" sz="1800" dirty="0"/>
          </a:p>
        </p:txBody>
      </p:sp>
      <p:sp>
        <p:nvSpPr>
          <p:cNvPr id="29" name="Shape 20"/>
          <p:cNvSpPr/>
          <p:nvPr/>
        </p:nvSpPr>
        <p:spPr>
          <a:xfrm>
            <a:off x="4578401" y="4139489"/>
            <a:ext cx="3038551" cy="352044"/>
          </a:xfrm>
          <a:prstGeom prst="roundRect">
            <a:avLst>
              <a:gd name="adj" fmla="val 56160"/>
            </a:avLst>
          </a:prstGeom>
          <a:solidFill>
            <a:srgbClr val="FFFFFF">
              <a:alpha val="60000"/>
            </a:srgbClr>
          </a:solidFill>
          <a:ln w="12700">
            <a:solidFill>
              <a:srgbClr val="FFFFFF">
                <a:alpha val="0"/>
              </a:srgbClr>
            </a:solidFill>
            <a:prstDash val="solid"/>
          </a:ln>
        </p:spPr>
        <p:txBody>
          <a:bodyPr/>
          <a:lstStyle/>
          <a:p>
            <a:endParaRPr lang="ja-JP" altLang="en-US"/>
          </a:p>
        </p:txBody>
      </p:sp>
      <p:sp>
        <p:nvSpPr>
          <p:cNvPr id="30" name="Text 21"/>
          <p:cNvSpPr txBox="1"/>
          <p:nvPr/>
        </p:nvSpPr>
        <p:spPr>
          <a:xfrm>
            <a:off x="4578401" y="4139489"/>
            <a:ext cx="3115361" cy="352958"/>
          </a:xfrm>
          <a:prstGeom prst="rect">
            <a:avLst/>
          </a:prstGeom>
          <a:solidFill>
            <a:srgbClr val="FFFFFF">
              <a:alpha val="0"/>
            </a:srgbClr>
          </a:solidFill>
          <a:ln>
            <a:solidFill>
              <a:srgbClr val="FFFFFF">
                <a:alpha val="0"/>
              </a:srgbClr>
            </a:solidFill>
          </a:ln>
        </p:spPr>
        <p:txBody>
          <a:bodyPr wrap="square" lIns="101600" tIns="50800" rIns="101600" bIns="50800" rtlCol="0" anchor="t"/>
          <a:lstStyle/>
          <a:p>
            <a:pPr marL="0" indent="0" algn="l">
              <a:buNone/>
            </a:pPr>
            <a:r>
              <a:rPr lang="en-US" sz="1300" b="1" dirty="0">
                <a:solidFill>
                  <a:srgbClr val="333333"/>
                </a:solidFill>
                <a:latin typeface="Noto Sans JP" pitchFamily="34" charset="0"/>
                <a:ea typeface="Noto Sans JP" pitchFamily="34" charset="-122"/>
                <a:cs typeface="Noto Sans JP" pitchFamily="34" charset="-120"/>
              </a:rPr>
              <a:t>ビジュアル・オフショット</a:t>
            </a:r>
            <a:endParaRPr lang="en-US" sz="1300" dirty="0"/>
          </a:p>
        </p:txBody>
      </p:sp>
      <p:sp>
        <p:nvSpPr>
          <p:cNvPr id="31" name="Text 22"/>
          <p:cNvSpPr txBox="1"/>
          <p:nvPr/>
        </p:nvSpPr>
        <p:spPr>
          <a:xfrm>
            <a:off x="4578401" y="4635094"/>
            <a:ext cx="3115361" cy="9144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Reelsでのショート動画に加え、世界観を重視したフィード投稿、ストーリーズでの日常共有でファンとの距離を縮める。</a:t>
            </a:r>
            <a:endParaRPr lang="en-US" sz="1100" dirty="0"/>
          </a:p>
        </p:txBody>
      </p:sp>
      <p:sp>
        <p:nvSpPr>
          <p:cNvPr id="32" name="Shape 23"/>
          <p:cNvSpPr/>
          <p:nvPr/>
        </p:nvSpPr>
        <p:spPr>
          <a:xfrm>
            <a:off x="4578401" y="5739689"/>
            <a:ext cx="1218895" cy="286207"/>
          </a:xfrm>
          <a:prstGeom prst="roundRect">
            <a:avLst>
              <a:gd name="adj" fmla="val 319489"/>
            </a:avLst>
          </a:prstGeom>
          <a:solidFill>
            <a:srgbClr val="1E8CA6"/>
          </a:solidFill>
          <a:ln w="12700">
            <a:solidFill>
              <a:srgbClr val="FFFFFF">
                <a:alpha val="0"/>
              </a:srgbClr>
            </a:solidFill>
            <a:prstDash val="solid"/>
          </a:ln>
        </p:spPr>
        <p:txBody>
          <a:bodyPr/>
          <a:lstStyle/>
          <a:p>
            <a:endParaRPr lang="ja-JP" altLang="en-US"/>
          </a:p>
        </p:txBody>
      </p:sp>
      <p:sp>
        <p:nvSpPr>
          <p:cNvPr id="33" name="Text 24"/>
          <p:cNvSpPr/>
          <p:nvPr/>
        </p:nvSpPr>
        <p:spPr>
          <a:xfrm>
            <a:off x="4807001" y="5739689"/>
            <a:ext cx="1047902" cy="286207"/>
          </a:xfrm>
          <a:prstGeom prst="rect">
            <a:avLst/>
          </a:prstGeom>
          <a:solidFill>
            <a:srgbClr val="FFFFFF">
              <a:alpha val="0"/>
            </a:srgbClr>
          </a:solidFill>
          <a:ln>
            <a:solidFill>
              <a:srgbClr val="FFFFFF">
                <a:alpha val="0"/>
              </a:srgbClr>
            </a:solidFill>
          </a:ln>
        </p:spPr>
        <p:txBody>
          <a:bodyPr wrap="square" lIns="114300" tIns="63500" rIns="114300" bIns="6350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 Z世代女性リーチ </a:t>
            </a:r>
            <a:endParaRPr lang="en-US" sz="900" dirty="0"/>
          </a:p>
        </p:txBody>
      </p:sp>
      <p:pic>
        <p:nvPicPr>
          <p:cNvPr id="34" name="Image 7" descr="preencoded.png"/>
          <p:cNvPicPr>
            <a:picLocks noChangeAspect="1"/>
          </p:cNvPicPr>
          <p:nvPr/>
        </p:nvPicPr>
        <p:blipFill>
          <a:blip r:embed="rId7"/>
          <a:srcRect/>
          <a:stretch/>
        </p:blipFill>
        <p:spPr>
          <a:xfrm>
            <a:off x="4692701" y="5825642"/>
            <a:ext cx="114300" cy="114300"/>
          </a:xfrm>
          <a:prstGeom prst="rect">
            <a:avLst/>
          </a:prstGeom>
        </p:spPr>
      </p:pic>
      <p:pic>
        <p:nvPicPr>
          <p:cNvPr id="35" name="Image 8" descr="preencoded.png"/>
          <p:cNvPicPr>
            <a:picLocks noChangeAspect="1"/>
          </p:cNvPicPr>
          <p:nvPr/>
        </p:nvPicPr>
        <p:blipFill>
          <a:blip r:embed="rId10"/>
          <a:srcRect t="-12" b="-12"/>
          <a:stretch/>
        </p:blipFill>
        <p:spPr>
          <a:xfrm>
            <a:off x="8128102" y="2482596"/>
            <a:ext cx="3492094" cy="3829507"/>
          </a:xfrm>
          <a:prstGeom prst="rect">
            <a:avLst/>
          </a:prstGeom>
        </p:spPr>
      </p:pic>
      <p:pic>
        <p:nvPicPr>
          <p:cNvPr id="36" name="Image 9" descr="preencoded.png"/>
          <p:cNvPicPr>
            <a:picLocks noChangeAspect="1"/>
          </p:cNvPicPr>
          <p:nvPr/>
        </p:nvPicPr>
        <p:blipFill>
          <a:blip r:embed="rId11"/>
          <a:srcRect t="-281" b="-281"/>
          <a:stretch/>
        </p:blipFill>
        <p:spPr>
          <a:xfrm>
            <a:off x="8356702" y="2951683"/>
            <a:ext cx="448056" cy="400507"/>
          </a:xfrm>
          <a:prstGeom prst="rect">
            <a:avLst/>
          </a:prstGeom>
        </p:spPr>
      </p:pic>
      <p:sp>
        <p:nvSpPr>
          <p:cNvPr id="37" name="Shape 25"/>
          <p:cNvSpPr/>
          <p:nvPr/>
        </p:nvSpPr>
        <p:spPr>
          <a:xfrm>
            <a:off x="8356702" y="4054450"/>
            <a:ext cx="3038551" cy="9144"/>
          </a:xfrm>
          <a:prstGeom prst="rect">
            <a:avLst/>
          </a:prstGeom>
          <a:solidFill>
            <a:srgbClr val="DDDDDD"/>
          </a:solidFill>
          <a:ln w="12700">
            <a:solidFill>
              <a:srgbClr val="DDDDDD">
                <a:alpha val="0"/>
              </a:srgbClr>
            </a:solidFill>
            <a:prstDash val="solid"/>
          </a:ln>
        </p:spPr>
        <p:txBody>
          <a:bodyPr/>
          <a:lstStyle/>
          <a:p>
            <a:endParaRPr lang="ja-JP" altLang="en-US"/>
          </a:p>
        </p:txBody>
      </p:sp>
      <p:sp>
        <p:nvSpPr>
          <p:cNvPr id="38" name="Text 26"/>
          <p:cNvSpPr txBox="1"/>
          <p:nvPr/>
        </p:nvSpPr>
        <p:spPr>
          <a:xfrm>
            <a:off x="8356702" y="3615538"/>
            <a:ext cx="3152851"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YouTube</a:t>
            </a:r>
            <a:endParaRPr lang="en-US" sz="1800" dirty="0"/>
          </a:p>
        </p:txBody>
      </p:sp>
      <p:sp>
        <p:nvSpPr>
          <p:cNvPr id="39" name="Shape 27"/>
          <p:cNvSpPr/>
          <p:nvPr/>
        </p:nvSpPr>
        <p:spPr>
          <a:xfrm>
            <a:off x="8356702" y="4139489"/>
            <a:ext cx="3038551" cy="352044"/>
          </a:xfrm>
          <a:prstGeom prst="roundRect">
            <a:avLst>
              <a:gd name="adj" fmla="val 56160"/>
            </a:avLst>
          </a:prstGeom>
          <a:solidFill>
            <a:srgbClr val="FFFFFF">
              <a:alpha val="60000"/>
            </a:srgbClr>
          </a:solidFill>
          <a:ln w="12700">
            <a:solidFill>
              <a:srgbClr val="FFFFFF">
                <a:alpha val="0"/>
              </a:srgbClr>
            </a:solidFill>
            <a:prstDash val="solid"/>
          </a:ln>
        </p:spPr>
        <p:txBody>
          <a:bodyPr/>
          <a:lstStyle/>
          <a:p>
            <a:endParaRPr lang="ja-JP" altLang="en-US"/>
          </a:p>
        </p:txBody>
      </p:sp>
      <p:sp>
        <p:nvSpPr>
          <p:cNvPr id="40" name="Text 28"/>
          <p:cNvSpPr txBox="1"/>
          <p:nvPr/>
        </p:nvSpPr>
        <p:spPr>
          <a:xfrm>
            <a:off x="8356702" y="4139489"/>
            <a:ext cx="3115361" cy="352958"/>
          </a:xfrm>
          <a:prstGeom prst="rect">
            <a:avLst/>
          </a:prstGeom>
          <a:solidFill>
            <a:srgbClr val="FFFFFF">
              <a:alpha val="0"/>
            </a:srgbClr>
          </a:solidFill>
          <a:ln>
            <a:solidFill>
              <a:srgbClr val="FFFFFF">
                <a:alpha val="0"/>
              </a:srgbClr>
            </a:solidFill>
          </a:ln>
        </p:spPr>
        <p:txBody>
          <a:bodyPr wrap="square" lIns="101600" tIns="50800" rIns="101600" bIns="50800" rtlCol="0" anchor="t"/>
          <a:lstStyle/>
          <a:p>
            <a:pPr marL="0" indent="0" algn="l">
              <a:buNone/>
            </a:pPr>
            <a:r>
              <a:rPr lang="en-US" sz="1300" b="1" dirty="0">
                <a:solidFill>
                  <a:srgbClr val="333333"/>
                </a:solidFill>
                <a:latin typeface="Noto Sans JP" pitchFamily="34" charset="0"/>
                <a:ea typeface="Noto Sans JP" pitchFamily="34" charset="-122"/>
                <a:cs typeface="Noto Sans JP" pitchFamily="34" charset="-120"/>
              </a:rPr>
              <a:t>長尺コンテンツ・ドラマ</a:t>
            </a:r>
            <a:endParaRPr lang="en-US" sz="1300" dirty="0"/>
          </a:p>
        </p:txBody>
      </p:sp>
      <p:sp>
        <p:nvSpPr>
          <p:cNvPr id="41" name="Text 29"/>
          <p:cNvSpPr txBox="1"/>
          <p:nvPr/>
        </p:nvSpPr>
        <p:spPr>
          <a:xfrm>
            <a:off x="8356702" y="4635094"/>
            <a:ext cx="3115361" cy="9144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 ショートドラマ本編やバラエティ企画など、深く没入させるコンテンツを展開。</a:t>
            </a:r>
            <a:endParaRPr lang="en-US" sz="1100" dirty="0"/>
          </a:p>
          <a:p>
            <a:pPr marL="0" indent="0" algn="l">
              <a:buNone/>
            </a:pPr>
            <a:r>
              <a:rPr lang="en-US" sz="1100" dirty="0">
                <a:solidFill>
                  <a:srgbClr val="555555"/>
                </a:solidFill>
                <a:latin typeface="Noto Sans JP" pitchFamily="34" charset="0"/>
                <a:ea typeface="Noto Sans JP" pitchFamily="34" charset="-122"/>
                <a:cs typeface="Noto Sans JP" pitchFamily="34" charset="-120"/>
              </a:rPr>
              <a:t> メンバーの個性を掘り下げ、ファン化を完了させる。 </a:t>
            </a:r>
            <a:endParaRPr lang="en-US" sz="1100" dirty="0"/>
          </a:p>
        </p:txBody>
      </p:sp>
      <p:sp>
        <p:nvSpPr>
          <p:cNvPr id="42" name="Shape 30"/>
          <p:cNvSpPr/>
          <p:nvPr/>
        </p:nvSpPr>
        <p:spPr>
          <a:xfrm>
            <a:off x="8356702" y="5739689"/>
            <a:ext cx="1190549" cy="286207"/>
          </a:xfrm>
          <a:prstGeom prst="roundRect">
            <a:avLst>
              <a:gd name="adj" fmla="val 319489"/>
            </a:avLst>
          </a:prstGeom>
          <a:solidFill>
            <a:srgbClr val="1A3A8A"/>
          </a:solidFill>
          <a:ln w="12700">
            <a:solidFill>
              <a:srgbClr val="FFFFFF">
                <a:alpha val="0"/>
              </a:srgbClr>
            </a:solidFill>
            <a:prstDash val="solid"/>
          </a:ln>
        </p:spPr>
        <p:txBody>
          <a:bodyPr/>
          <a:lstStyle/>
          <a:p>
            <a:endParaRPr lang="ja-JP" altLang="en-US"/>
          </a:p>
        </p:txBody>
      </p:sp>
      <p:sp>
        <p:nvSpPr>
          <p:cNvPr id="43" name="Text 31"/>
          <p:cNvSpPr/>
          <p:nvPr/>
        </p:nvSpPr>
        <p:spPr>
          <a:xfrm>
            <a:off x="8576158" y="5739689"/>
            <a:ext cx="1028700" cy="286207"/>
          </a:xfrm>
          <a:prstGeom prst="rect">
            <a:avLst/>
          </a:prstGeom>
          <a:solidFill>
            <a:srgbClr val="FFFFFF">
              <a:alpha val="0"/>
            </a:srgbClr>
          </a:solidFill>
          <a:ln>
            <a:solidFill>
              <a:srgbClr val="FFFFFF">
                <a:alpha val="0"/>
              </a:srgbClr>
            </a:solidFill>
          </a:ln>
        </p:spPr>
        <p:txBody>
          <a:bodyPr wrap="square" lIns="114300" tIns="63500" rIns="114300" bIns="6350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 KPI登録100万人 </a:t>
            </a:r>
            <a:endParaRPr lang="en-US" sz="900" dirty="0"/>
          </a:p>
        </p:txBody>
      </p:sp>
      <p:pic>
        <p:nvPicPr>
          <p:cNvPr id="44" name="Image 10" descr="preencoded.png"/>
          <p:cNvPicPr>
            <a:picLocks noChangeAspect="1"/>
          </p:cNvPicPr>
          <p:nvPr/>
        </p:nvPicPr>
        <p:blipFill>
          <a:blip r:embed="rId12"/>
          <a:srcRect l="-2571" r="-2571"/>
          <a:stretch/>
        </p:blipFill>
        <p:spPr>
          <a:xfrm>
            <a:off x="8471002" y="5825642"/>
            <a:ext cx="105156" cy="114300"/>
          </a:xfrm>
          <a:prstGeom prst="rect">
            <a:avLst/>
          </a:prstGeom>
        </p:spPr>
      </p:pic>
      <p:sp>
        <p:nvSpPr>
          <p:cNvPr id="45" name="Text 32"/>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46" name="Text 33"/>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6476695"/>
            <a:ext cx="12191695" cy="381305"/>
          </a:xfrm>
          <a:prstGeom prst="rect">
            <a:avLst/>
          </a:prstGeom>
          <a:solidFill>
            <a:srgbClr val="FFFFFF"/>
          </a:solidFill>
          <a:ln/>
        </p:spPr>
        <p:txBody>
          <a:bodyPr/>
          <a:lstStyle/>
          <a:p>
            <a:endParaRPr lang="ja-JP" altLang="en-US"/>
          </a:p>
        </p:txBody>
      </p:sp>
      <p:sp>
        <p:nvSpPr>
          <p:cNvPr id="4" name="Shape 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5" name="Text 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6" name="Text 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11</a:t>
            </a:r>
            <a:endParaRPr lang="en-US" sz="800" dirty="0"/>
          </a:p>
        </p:txBody>
      </p:sp>
      <p:pic>
        <p:nvPicPr>
          <p:cNvPr id="7" name="Image 0" descr="preencoded.png"/>
          <p:cNvPicPr>
            <a:picLocks noChangeAspect="1"/>
          </p:cNvPicPr>
          <p:nvPr/>
        </p:nvPicPr>
        <p:blipFill>
          <a:blip r:embed="rId3"/>
          <a:srcRect l="-400" r="-400"/>
          <a:stretch/>
        </p:blipFill>
        <p:spPr>
          <a:xfrm>
            <a:off x="571500" y="776326"/>
            <a:ext cx="38405" cy="228600"/>
          </a:xfrm>
          <a:prstGeom prst="rect">
            <a:avLst/>
          </a:prstGeom>
        </p:spPr>
      </p:pic>
      <p:sp>
        <p:nvSpPr>
          <p:cNvPr id="8" name="Text 5"/>
          <p:cNvSpPr txBox="1"/>
          <p:nvPr/>
        </p:nvSpPr>
        <p:spPr>
          <a:xfrm>
            <a:off x="724205" y="761695"/>
            <a:ext cx="981151"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ターゲット</a:t>
            </a:r>
            <a:endParaRPr lang="en-US" sz="1300" dirty="0"/>
          </a:p>
        </p:txBody>
      </p:sp>
      <p:sp>
        <p:nvSpPr>
          <p:cNvPr id="9" name="Text 6"/>
          <p:cNvSpPr txBox="1"/>
          <p:nvPr/>
        </p:nvSpPr>
        <p:spPr>
          <a:xfrm>
            <a:off x="4842662" y="190195"/>
            <a:ext cx="7734910" cy="1905610"/>
          </a:xfrm>
          <a:prstGeom prst="rect">
            <a:avLst/>
          </a:prstGeom>
          <a:noFill/>
          <a:ln/>
        </p:spPr>
        <p:txBody>
          <a:bodyPr wrap="square" lIns="0" tIns="0" rIns="0" bIns="0" rtlCol="0" anchor="ctr"/>
          <a:lstStyle/>
          <a:p>
            <a:pPr marL="0" indent="0" algn="l">
              <a:buNone/>
            </a:pPr>
            <a:r>
              <a:rPr lang="en-US" sz="15000" b="1" dirty="0">
                <a:solidFill>
                  <a:srgbClr val="1A3A8A">
                    <a:alpha val="3000"/>
                  </a:srgbClr>
                </a:solidFill>
                <a:latin typeface="Noto Sans JP" pitchFamily="34" charset="0"/>
                <a:ea typeface="Noto Sans JP" pitchFamily="34" charset="-122"/>
                <a:cs typeface="Noto Sans JP" pitchFamily="34" charset="-120"/>
              </a:rPr>
              <a:t>TARGET</a:t>
            </a:r>
            <a:endParaRPr lang="en-US" sz="15000" dirty="0"/>
          </a:p>
        </p:txBody>
      </p:sp>
      <p:sp>
        <p:nvSpPr>
          <p:cNvPr id="10" name="Text 7"/>
          <p:cNvSpPr txBox="1"/>
          <p:nvPr/>
        </p:nvSpPr>
        <p:spPr>
          <a:xfrm>
            <a:off x="571500" y="1399946"/>
            <a:ext cx="11239805" cy="342900"/>
          </a:xfrm>
          <a:prstGeom prst="rect">
            <a:avLst/>
          </a:prstGeom>
          <a:noFill/>
          <a:ln/>
        </p:spPr>
        <p:txBody>
          <a:bodyPr wrap="square" lIns="0" tIns="0" rIns="0" bIns="0" rtlCol="0" anchor="ctr"/>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ターゲット層</a:t>
            </a:r>
            <a:endParaRPr lang="en-US" sz="1800" dirty="0"/>
          </a:p>
        </p:txBody>
      </p:sp>
      <p:sp>
        <p:nvSpPr>
          <p:cNvPr id="11" name="Text 8"/>
          <p:cNvSpPr txBox="1"/>
          <p:nvPr/>
        </p:nvSpPr>
        <p:spPr>
          <a:xfrm>
            <a:off x="571500" y="1819656"/>
            <a:ext cx="11354105" cy="762610"/>
          </a:xfrm>
          <a:prstGeom prst="rect">
            <a:avLst/>
          </a:prstGeom>
          <a:noFill/>
          <a:ln/>
        </p:spPr>
        <p:txBody>
          <a:bodyPr wrap="square" lIns="0" tIns="0" rIns="0" bIns="0" rtlCol="0" anchor="ctr"/>
          <a:lstStyle/>
          <a:p>
            <a:pPr marL="0" indent="0" algn="l">
              <a:buNone/>
            </a:pPr>
            <a:r>
              <a:rPr lang="en-US" sz="6000" b="1" kern="0" spc="-150" dirty="0">
                <a:solidFill>
                  <a:srgbClr val="1A3A8A"/>
                </a:solidFill>
                <a:latin typeface="Noto Sans JP" pitchFamily="34" charset="0"/>
                <a:ea typeface="Noto Sans JP" pitchFamily="34" charset="-122"/>
                <a:cs typeface="Noto Sans JP" pitchFamily="34" charset="-120"/>
              </a:rPr>
              <a:t>Z世代・</a:t>
            </a:r>
            <a:r>
              <a:rPr lang="en-US" sz="6000" b="1" kern="0" spc="-150" dirty="0">
                <a:solidFill>
                  <a:srgbClr val="1E8CA6"/>
                </a:solidFill>
                <a:latin typeface="Noto Sans JP" pitchFamily="34" charset="0"/>
                <a:ea typeface="Noto Sans JP" pitchFamily="34" charset="-122"/>
                <a:cs typeface="Noto Sans JP" pitchFamily="34" charset="-120"/>
              </a:rPr>
              <a:t>α世代</a:t>
            </a:r>
            <a:r>
              <a:rPr lang="en-US" sz="6000" b="1" kern="0" spc="-150" dirty="0">
                <a:solidFill>
                  <a:srgbClr val="1A3A8A"/>
                </a:solidFill>
                <a:latin typeface="Noto Sans JP" pitchFamily="34" charset="0"/>
                <a:ea typeface="Noto Sans JP" pitchFamily="34" charset="-122"/>
                <a:cs typeface="Noto Sans JP" pitchFamily="34" charset="-120"/>
              </a:rPr>
              <a:t>女性</a:t>
            </a:r>
            <a:endParaRPr lang="en-US" sz="6000" dirty="0"/>
          </a:p>
        </p:txBody>
      </p:sp>
      <p:pic>
        <p:nvPicPr>
          <p:cNvPr id="12" name="Image 1" descr="preencoded.png"/>
          <p:cNvPicPr>
            <a:picLocks noChangeAspect="1"/>
          </p:cNvPicPr>
          <p:nvPr/>
        </p:nvPicPr>
        <p:blipFill>
          <a:blip r:embed="rId4"/>
          <a:srcRect t="-7" b="-7"/>
          <a:stretch/>
        </p:blipFill>
        <p:spPr>
          <a:xfrm>
            <a:off x="571500" y="2866644"/>
            <a:ext cx="5333695" cy="3006547"/>
          </a:xfrm>
          <a:prstGeom prst="rect">
            <a:avLst/>
          </a:prstGeom>
        </p:spPr>
      </p:pic>
      <p:sp>
        <p:nvSpPr>
          <p:cNvPr id="13" name="Shape 9"/>
          <p:cNvSpPr/>
          <p:nvPr/>
        </p:nvSpPr>
        <p:spPr>
          <a:xfrm>
            <a:off x="857707" y="3810305"/>
            <a:ext cx="47621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14" name="Text 10"/>
          <p:cNvSpPr txBox="1"/>
          <p:nvPr/>
        </p:nvSpPr>
        <p:spPr>
          <a:xfrm>
            <a:off x="857707" y="3209544"/>
            <a:ext cx="876910" cy="457200"/>
          </a:xfrm>
          <a:prstGeom prst="rect">
            <a:avLst/>
          </a:prstGeom>
          <a:noFill/>
          <a:ln/>
        </p:spPr>
        <p:txBody>
          <a:bodyPr wrap="square" lIns="0" tIns="0" rIns="0" bIns="0" rtlCol="0" anchor="ctr"/>
          <a:lstStyle/>
          <a:p>
            <a:pPr marL="0" indent="0" algn="l">
              <a:buNone/>
            </a:pPr>
            <a:r>
              <a:rPr lang="en-US" sz="2400" b="1" dirty="0">
                <a:solidFill>
                  <a:srgbClr val="1A3A8A"/>
                </a:solidFill>
                <a:latin typeface="Noto Sans JP" pitchFamily="34" charset="0"/>
                <a:ea typeface="Noto Sans JP" pitchFamily="34" charset="-122"/>
                <a:cs typeface="Noto Sans JP" pitchFamily="34" charset="-120"/>
              </a:rPr>
              <a:t>Z世代</a:t>
            </a:r>
            <a:endParaRPr lang="en-US" sz="2400" dirty="0"/>
          </a:p>
        </p:txBody>
      </p:sp>
      <p:sp>
        <p:nvSpPr>
          <p:cNvPr id="15" name="Text 11"/>
          <p:cNvSpPr txBox="1"/>
          <p:nvPr/>
        </p:nvSpPr>
        <p:spPr>
          <a:xfrm>
            <a:off x="1798625" y="3419856"/>
            <a:ext cx="1046988" cy="200254"/>
          </a:xfrm>
          <a:prstGeom prst="rect">
            <a:avLst/>
          </a:prstGeom>
          <a:noFill/>
          <a:ln/>
        </p:spPr>
        <p:txBody>
          <a:bodyPr wrap="square" lIns="0" tIns="0" rIns="0" bIns="0" rtlCol="0" anchor="ctr"/>
          <a:lstStyle/>
          <a:p>
            <a:pPr marL="0" indent="0" algn="l">
              <a:buNone/>
            </a:pPr>
            <a:r>
              <a:rPr lang="en-US" sz="1000" b="1" dirty="0">
                <a:solidFill>
                  <a:srgbClr val="777777"/>
                </a:solidFill>
                <a:latin typeface="Noto Sans JP" pitchFamily="34" charset="0"/>
                <a:ea typeface="Noto Sans JP" pitchFamily="34" charset="-122"/>
                <a:cs typeface="Noto Sans JP" pitchFamily="34" charset="-120"/>
              </a:rPr>
              <a:t>1997-2012年生</a:t>
            </a:r>
            <a:endParaRPr lang="en-US" sz="1000" dirty="0"/>
          </a:p>
        </p:txBody>
      </p:sp>
      <p:pic>
        <p:nvPicPr>
          <p:cNvPr id="16" name="Image 2" descr="preencoded.png"/>
          <p:cNvPicPr>
            <a:picLocks noChangeAspect="1"/>
          </p:cNvPicPr>
          <p:nvPr/>
        </p:nvPicPr>
        <p:blipFill>
          <a:blip r:embed="rId5"/>
          <a:srcRect/>
          <a:stretch/>
        </p:blipFill>
        <p:spPr>
          <a:xfrm>
            <a:off x="857707" y="4009644"/>
            <a:ext cx="133502" cy="133502"/>
          </a:xfrm>
          <a:prstGeom prst="rect">
            <a:avLst/>
          </a:prstGeom>
        </p:spPr>
      </p:pic>
      <p:sp>
        <p:nvSpPr>
          <p:cNvPr id="17" name="Text 12"/>
          <p:cNvSpPr txBox="1"/>
          <p:nvPr/>
        </p:nvSpPr>
        <p:spPr>
          <a:xfrm>
            <a:off x="990295" y="4009644"/>
            <a:ext cx="4105656" cy="314554"/>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SNSネイティブ</a:t>
            </a:r>
            <a:r>
              <a:rPr lang="en-US" sz="1300" dirty="0">
                <a:solidFill>
                  <a:srgbClr val="444444"/>
                </a:solidFill>
                <a:latin typeface="Noto Sans JP" pitchFamily="34" charset="0"/>
                <a:ea typeface="Noto Sans JP" pitchFamily="34" charset="-122"/>
                <a:cs typeface="Noto Sans JP" pitchFamily="34" charset="-120"/>
              </a:rPr>
              <a:t>：情報収集から発信までSNSで完結</a:t>
            </a:r>
            <a:endParaRPr lang="en-US" sz="1300" dirty="0"/>
          </a:p>
        </p:txBody>
      </p:sp>
      <p:pic>
        <p:nvPicPr>
          <p:cNvPr id="18" name="Image 3" descr="preencoded.png"/>
          <p:cNvPicPr>
            <a:picLocks noChangeAspect="1"/>
          </p:cNvPicPr>
          <p:nvPr/>
        </p:nvPicPr>
        <p:blipFill>
          <a:blip r:embed="rId5"/>
          <a:srcRect/>
          <a:stretch/>
        </p:blipFill>
        <p:spPr>
          <a:xfrm>
            <a:off x="857707" y="4433011"/>
            <a:ext cx="133502" cy="133502"/>
          </a:xfrm>
          <a:prstGeom prst="rect">
            <a:avLst/>
          </a:prstGeom>
        </p:spPr>
      </p:pic>
      <p:sp>
        <p:nvSpPr>
          <p:cNvPr id="19" name="Text 13"/>
          <p:cNvSpPr txBox="1"/>
          <p:nvPr/>
        </p:nvSpPr>
        <p:spPr>
          <a:xfrm>
            <a:off x="990295" y="4433011"/>
            <a:ext cx="4305910" cy="314554"/>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推し活文化</a:t>
            </a:r>
            <a:r>
              <a:rPr lang="en-US" sz="1300" dirty="0">
                <a:solidFill>
                  <a:srgbClr val="444444"/>
                </a:solidFill>
                <a:latin typeface="Noto Sans JP" pitchFamily="34" charset="0"/>
                <a:ea typeface="Noto Sans JP" pitchFamily="34" charset="-122"/>
                <a:cs typeface="Noto Sans JP" pitchFamily="34" charset="-120"/>
              </a:rPr>
              <a:t>：推しへの消費行動が活発で定着しやすい</a:t>
            </a:r>
            <a:endParaRPr lang="en-US" sz="1300" dirty="0"/>
          </a:p>
        </p:txBody>
      </p:sp>
      <p:pic>
        <p:nvPicPr>
          <p:cNvPr id="20" name="Image 4" descr="preencoded.png"/>
          <p:cNvPicPr>
            <a:picLocks noChangeAspect="1"/>
          </p:cNvPicPr>
          <p:nvPr/>
        </p:nvPicPr>
        <p:blipFill>
          <a:blip r:embed="rId5"/>
          <a:srcRect/>
          <a:stretch/>
        </p:blipFill>
        <p:spPr>
          <a:xfrm>
            <a:off x="857707" y="4856378"/>
            <a:ext cx="133502" cy="133502"/>
          </a:xfrm>
          <a:prstGeom prst="rect">
            <a:avLst/>
          </a:prstGeom>
        </p:spPr>
      </p:pic>
      <p:sp>
        <p:nvSpPr>
          <p:cNvPr id="21" name="Text 14"/>
          <p:cNvSpPr txBox="1"/>
          <p:nvPr/>
        </p:nvSpPr>
        <p:spPr>
          <a:xfrm>
            <a:off x="990295" y="4856378"/>
            <a:ext cx="4305910" cy="314554"/>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コンテンツ消費</a:t>
            </a:r>
            <a:r>
              <a:rPr lang="en-US" sz="1300" dirty="0">
                <a:solidFill>
                  <a:srgbClr val="444444"/>
                </a:solidFill>
                <a:latin typeface="Noto Sans JP" pitchFamily="34" charset="0"/>
                <a:ea typeface="Noto Sans JP" pitchFamily="34" charset="-122"/>
                <a:cs typeface="Noto Sans JP" pitchFamily="34" charset="-120"/>
              </a:rPr>
              <a:t>：トレンドの移り変わりに敏感で速い</a:t>
            </a:r>
            <a:endParaRPr lang="en-US" sz="1300" dirty="0"/>
          </a:p>
        </p:txBody>
      </p:sp>
      <p:pic>
        <p:nvPicPr>
          <p:cNvPr id="22" name="Image 5" descr="preencoded.png"/>
          <p:cNvPicPr>
            <a:picLocks noChangeAspect="1"/>
          </p:cNvPicPr>
          <p:nvPr/>
        </p:nvPicPr>
        <p:blipFill>
          <a:blip r:embed="rId6"/>
          <a:srcRect t="-7" b="-7"/>
          <a:stretch/>
        </p:blipFill>
        <p:spPr>
          <a:xfrm>
            <a:off x="6286500" y="2866644"/>
            <a:ext cx="5333695" cy="3006547"/>
          </a:xfrm>
          <a:prstGeom prst="rect">
            <a:avLst/>
          </a:prstGeom>
        </p:spPr>
      </p:pic>
      <p:sp>
        <p:nvSpPr>
          <p:cNvPr id="23" name="Shape 15"/>
          <p:cNvSpPr/>
          <p:nvPr/>
        </p:nvSpPr>
        <p:spPr>
          <a:xfrm>
            <a:off x="6572707" y="3810305"/>
            <a:ext cx="47621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24" name="Text 16"/>
          <p:cNvSpPr txBox="1"/>
          <p:nvPr/>
        </p:nvSpPr>
        <p:spPr>
          <a:xfrm>
            <a:off x="6572707" y="3209544"/>
            <a:ext cx="876910" cy="457200"/>
          </a:xfrm>
          <a:prstGeom prst="rect">
            <a:avLst/>
          </a:prstGeom>
          <a:noFill/>
          <a:ln/>
        </p:spPr>
        <p:txBody>
          <a:bodyPr wrap="square" lIns="0" tIns="0" rIns="0" bIns="0" rtlCol="0" anchor="ctr"/>
          <a:lstStyle/>
          <a:p>
            <a:pPr marL="0" indent="0" algn="l">
              <a:buNone/>
            </a:pPr>
            <a:r>
              <a:rPr lang="en-US" sz="2400" b="1" dirty="0">
                <a:solidFill>
                  <a:srgbClr val="1E8CA6"/>
                </a:solidFill>
                <a:latin typeface="Noto Sans JP" pitchFamily="34" charset="0"/>
                <a:ea typeface="Noto Sans JP" pitchFamily="34" charset="-122"/>
                <a:cs typeface="Noto Sans JP" pitchFamily="34" charset="-120"/>
              </a:rPr>
              <a:t>α世代</a:t>
            </a:r>
            <a:endParaRPr lang="en-US" sz="2400" dirty="0"/>
          </a:p>
        </p:txBody>
      </p:sp>
      <p:sp>
        <p:nvSpPr>
          <p:cNvPr id="25" name="Text 17"/>
          <p:cNvSpPr txBox="1"/>
          <p:nvPr/>
        </p:nvSpPr>
        <p:spPr>
          <a:xfrm>
            <a:off x="7511796" y="3419856"/>
            <a:ext cx="933602" cy="200254"/>
          </a:xfrm>
          <a:prstGeom prst="rect">
            <a:avLst/>
          </a:prstGeom>
          <a:noFill/>
          <a:ln/>
        </p:spPr>
        <p:txBody>
          <a:bodyPr wrap="square" lIns="0" tIns="0" rIns="0" bIns="0" rtlCol="0" anchor="ctr"/>
          <a:lstStyle/>
          <a:p>
            <a:pPr marL="0" indent="0" algn="l">
              <a:buNone/>
            </a:pPr>
            <a:r>
              <a:rPr lang="en-US" sz="1000" b="1" dirty="0">
                <a:solidFill>
                  <a:srgbClr val="777777"/>
                </a:solidFill>
                <a:latin typeface="Noto Sans JP" pitchFamily="34" charset="0"/>
                <a:ea typeface="Noto Sans JP" pitchFamily="34" charset="-122"/>
                <a:cs typeface="Noto Sans JP" pitchFamily="34" charset="-120"/>
              </a:rPr>
              <a:t>2013年以降生</a:t>
            </a:r>
            <a:endParaRPr lang="en-US" sz="1000" dirty="0"/>
          </a:p>
        </p:txBody>
      </p:sp>
      <p:pic>
        <p:nvPicPr>
          <p:cNvPr id="26" name="Image 6" descr="preencoded.png"/>
          <p:cNvPicPr>
            <a:picLocks noChangeAspect="1"/>
          </p:cNvPicPr>
          <p:nvPr/>
        </p:nvPicPr>
        <p:blipFill>
          <a:blip r:embed="rId5"/>
          <a:srcRect/>
          <a:stretch/>
        </p:blipFill>
        <p:spPr>
          <a:xfrm>
            <a:off x="6572707" y="4009644"/>
            <a:ext cx="133502" cy="133502"/>
          </a:xfrm>
          <a:prstGeom prst="rect">
            <a:avLst/>
          </a:prstGeom>
        </p:spPr>
      </p:pic>
      <p:sp>
        <p:nvSpPr>
          <p:cNvPr id="27" name="Text 18"/>
          <p:cNvSpPr txBox="1"/>
          <p:nvPr/>
        </p:nvSpPr>
        <p:spPr>
          <a:xfrm>
            <a:off x="6705295" y="4009644"/>
            <a:ext cx="4648810" cy="314554"/>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スマホ第一世代</a:t>
            </a:r>
            <a:r>
              <a:rPr lang="en-US" sz="1300" dirty="0">
                <a:solidFill>
                  <a:srgbClr val="444444"/>
                </a:solidFill>
                <a:latin typeface="Noto Sans JP" pitchFamily="34" charset="0"/>
                <a:ea typeface="Noto Sans JP" pitchFamily="34" charset="-122"/>
                <a:cs typeface="Noto Sans JP" pitchFamily="34" charset="-120"/>
              </a:rPr>
              <a:t>：物心ついた時から動画・配信が当たり前</a:t>
            </a:r>
            <a:endParaRPr lang="en-US" sz="1300" dirty="0"/>
          </a:p>
        </p:txBody>
      </p:sp>
      <p:pic>
        <p:nvPicPr>
          <p:cNvPr id="28" name="Image 7" descr="preencoded.png"/>
          <p:cNvPicPr>
            <a:picLocks noChangeAspect="1"/>
          </p:cNvPicPr>
          <p:nvPr/>
        </p:nvPicPr>
        <p:blipFill>
          <a:blip r:embed="rId5"/>
          <a:srcRect/>
          <a:stretch/>
        </p:blipFill>
        <p:spPr>
          <a:xfrm>
            <a:off x="6572707" y="4433011"/>
            <a:ext cx="133502" cy="133502"/>
          </a:xfrm>
          <a:prstGeom prst="rect">
            <a:avLst/>
          </a:prstGeom>
        </p:spPr>
      </p:pic>
      <p:sp>
        <p:nvSpPr>
          <p:cNvPr id="29" name="Text 19"/>
          <p:cNvSpPr txBox="1"/>
          <p:nvPr/>
        </p:nvSpPr>
        <p:spPr>
          <a:xfrm>
            <a:off x="6705295" y="4433011"/>
            <a:ext cx="4515307" cy="314554"/>
          </a:xfrm>
          <a:prstGeom prst="rect">
            <a:avLst/>
          </a:prstGeom>
          <a:noFill/>
          <a:ln/>
        </p:spPr>
        <p:txBody>
          <a:bodyPr wrap="square" lIns="0" tIns="0" rIns="0" bIns="0" rtlCol="0" anchor="ctr"/>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TikTok主戦場</a:t>
            </a:r>
            <a:r>
              <a:rPr lang="en-US" sz="1300" dirty="0">
                <a:solidFill>
                  <a:srgbClr val="444444"/>
                </a:solidFill>
                <a:latin typeface="Noto Sans JP" pitchFamily="34" charset="0"/>
                <a:ea typeface="Noto Sans JP" pitchFamily="34" charset="-122"/>
                <a:cs typeface="Noto Sans JP" pitchFamily="34" charset="-120"/>
              </a:rPr>
              <a:t>：短尺動画でのコミュニケーションが標準</a:t>
            </a:r>
            <a:endParaRPr lang="en-US" sz="1300" dirty="0"/>
          </a:p>
        </p:txBody>
      </p:sp>
      <p:pic>
        <p:nvPicPr>
          <p:cNvPr id="30" name="Image 8" descr="preencoded.png"/>
          <p:cNvPicPr>
            <a:picLocks noChangeAspect="1"/>
          </p:cNvPicPr>
          <p:nvPr/>
        </p:nvPicPr>
        <p:blipFill>
          <a:blip r:embed="rId5"/>
          <a:srcRect/>
          <a:stretch/>
        </p:blipFill>
        <p:spPr>
          <a:xfrm>
            <a:off x="6572707" y="4856378"/>
            <a:ext cx="133502" cy="133502"/>
          </a:xfrm>
          <a:prstGeom prst="rect">
            <a:avLst/>
          </a:prstGeom>
        </p:spPr>
      </p:pic>
      <p:sp>
        <p:nvSpPr>
          <p:cNvPr id="31" name="Text 20"/>
          <p:cNvSpPr txBox="1"/>
          <p:nvPr/>
        </p:nvSpPr>
        <p:spPr>
          <a:xfrm>
            <a:off x="6705295" y="4856378"/>
            <a:ext cx="4705502" cy="619963"/>
          </a:xfrm>
          <a:prstGeom prst="rect">
            <a:avLst/>
          </a:prstGeom>
          <a:noFill/>
          <a:ln/>
        </p:spPr>
        <p:txBody>
          <a:bodyPr wrap="square" lIns="0" tIns="0" rIns="0" bIns="0" rtlCol="0" anchor="t"/>
          <a:lstStyle/>
          <a:p>
            <a:pPr marL="0" indent="0" algn="l">
              <a:buNone/>
            </a:pPr>
            <a:r>
              <a:rPr lang="en-US" sz="1300" b="1" dirty="0">
                <a:solidFill>
                  <a:srgbClr val="444444"/>
                </a:solidFill>
                <a:latin typeface="Noto Sans JP" pitchFamily="34" charset="0"/>
                <a:ea typeface="Noto Sans JP" pitchFamily="34" charset="-122"/>
                <a:cs typeface="Noto Sans JP" pitchFamily="34" charset="-120"/>
              </a:rPr>
              <a:t>新スター希求</a:t>
            </a:r>
            <a:r>
              <a:rPr lang="en-US" sz="1300" dirty="0">
                <a:solidFill>
                  <a:srgbClr val="444444"/>
                </a:solidFill>
                <a:latin typeface="Noto Sans JP" pitchFamily="34" charset="0"/>
                <a:ea typeface="Noto Sans JP" pitchFamily="34" charset="-122"/>
                <a:cs typeface="Noto Sans JP" pitchFamily="34" charset="-120"/>
              </a:rPr>
              <a:t>：自分たちの世代の新しいアイコンを求めている</a:t>
            </a:r>
            <a:endParaRPr lang="en-US" sz="1300" dirty="0"/>
          </a:p>
        </p:txBody>
      </p:sp>
      <p:sp>
        <p:nvSpPr>
          <p:cNvPr id="32" name="Shape 21"/>
          <p:cNvSpPr/>
          <p:nvPr/>
        </p:nvSpPr>
        <p:spPr>
          <a:xfrm>
            <a:off x="571500" y="5390898"/>
            <a:ext cx="11048695" cy="857707"/>
          </a:xfrm>
          <a:prstGeom prst="roundRect">
            <a:avLst>
              <a:gd name="adj" fmla="val 18953"/>
            </a:avLst>
          </a:prstGeom>
          <a:solidFill>
            <a:srgbClr val="1A3A8A"/>
          </a:solidFill>
          <a:ln w="12700">
            <a:solidFill>
              <a:srgbClr val="FFFFFF">
                <a:alpha val="0"/>
              </a:srgbClr>
            </a:solidFill>
            <a:prstDash val="solid"/>
          </a:ln>
        </p:spPr>
        <p:txBody>
          <a:bodyPr/>
          <a:lstStyle/>
          <a:p>
            <a:endParaRPr lang="ja-JP" altLang="en-US"/>
          </a:p>
        </p:txBody>
      </p:sp>
      <p:pic>
        <p:nvPicPr>
          <p:cNvPr id="33" name="Image 9" descr="preencoded.png"/>
          <p:cNvPicPr>
            <a:picLocks noChangeAspect="1"/>
          </p:cNvPicPr>
          <p:nvPr/>
        </p:nvPicPr>
        <p:blipFill>
          <a:blip r:embed="rId7">
            <a:alphaModFix amt="10000"/>
          </a:blip>
          <a:srcRect/>
          <a:stretch/>
        </p:blipFill>
        <p:spPr>
          <a:xfrm>
            <a:off x="10858500" y="6349594"/>
            <a:ext cx="952805" cy="952805"/>
          </a:xfrm>
          <a:prstGeom prst="rect">
            <a:avLst/>
          </a:prstGeom>
        </p:spPr>
      </p:pic>
      <p:sp>
        <p:nvSpPr>
          <p:cNvPr id="34" name="Text 22"/>
          <p:cNvSpPr txBox="1"/>
          <p:nvPr/>
        </p:nvSpPr>
        <p:spPr>
          <a:xfrm>
            <a:off x="3145536" y="5390898"/>
            <a:ext cx="5910682" cy="857707"/>
          </a:xfrm>
          <a:prstGeom prst="rect">
            <a:avLst/>
          </a:prstGeom>
          <a:noFill/>
          <a:ln/>
        </p:spPr>
        <p:txBody>
          <a:bodyPr wrap="square" lIns="0" tIns="0" rIns="0" bIns="0" rtlCol="0" anchor="ctr"/>
          <a:lstStyle/>
          <a:p>
            <a:pPr marL="0" indent="0" algn="ctr">
              <a:buNone/>
            </a:pPr>
            <a:r>
              <a:rPr lang="en-US" sz="2100" b="1" kern="0" spc="75" dirty="0">
                <a:solidFill>
                  <a:srgbClr val="FFFFFF"/>
                </a:solidFill>
                <a:latin typeface="Noto Sans JP" pitchFamily="34" charset="0"/>
                <a:ea typeface="Noto Sans JP" pitchFamily="34" charset="-122"/>
                <a:cs typeface="Noto Sans JP" pitchFamily="34" charset="-120"/>
              </a:rPr>
              <a:t>「最初に推した男性スター」体験を設計する。</a:t>
            </a:r>
            <a:endParaRPr lang="en-US" sz="2100" dirty="0"/>
          </a:p>
        </p:txBody>
      </p:sp>
      <p:sp>
        <p:nvSpPr>
          <p:cNvPr id="35" name="Text 23"/>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36" name="Text 24"/>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8382305" y="2667305"/>
            <a:ext cx="3810305" cy="3810305"/>
          </a:xfrm>
          <a:prstGeom prst="ellipse">
            <a:avLst/>
          </a:prstGeom>
          <a:solidFill>
            <a:srgbClr val="F0F4F8">
              <a:alpha val="50000"/>
            </a:srgbClr>
          </a:solidFill>
          <a:ln w="12700">
            <a:solidFill>
              <a:srgbClr val="FFFFFF">
                <a:alpha val="0"/>
              </a:srgbClr>
            </a:solidFill>
            <a:prstDash val="solid"/>
          </a:ln>
        </p:spPr>
        <p:txBody>
          <a:bodyPr/>
          <a:lstStyle/>
          <a:p>
            <a:endParaRPr lang="ja-JP" altLang="en-US"/>
          </a:p>
        </p:txBody>
      </p:sp>
      <p:pic>
        <p:nvPicPr>
          <p:cNvPr id="4" name="Image 0" descr="preencoded.png"/>
          <p:cNvPicPr>
            <a:picLocks noChangeAspect="1"/>
          </p:cNvPicPr>
          <p:nvPr/>
        </p:nvPicPr>
        <p:blipFill>
          <a:blip r:embed="rId3"/>
          <a:srcRect t="-401" b="-401"/>
          <a:stretch/>
        </p:blipFill>
        <p:spPr>
          <a:xfrm>
            <a:off x="0" y="0"/>
            <a:ext cx="12191695" cy="38405"/>
          </a:xfrm>
          <a:prstGeom prst="rect">
            <a:avLst/>
          </a:prstGeom>
        </p:spPr>
      </p:pic>
      <p:pic>
        <p:nvPicPr>
          <p:cNvPr id="5" name="Image 1" descr="preencoded.png"/>
          <p:cNvPicPr>
            <a:picLocks noChangeAspect="1"/>
          </p:cNvPicPr>
          <p:nvPr/>
        </p:nvPicPr>
        <p:blipFill>
          <a:blip r:embed="rId4">
            <a:alphaModFix amt="3000"/>
          </a:blip>
          <a:srcRect/>
          <a:stretch/>
        </p:blipFill>
        <p:spPr>
          <a:xfrm>
            <a:off x="9334195" y="4000500"/>
            <a:ext cx="2857500" cy="2857500"/>
          </a:xfrm>
          <a:prstGeom prst="rect">
            <a:avLst/>
          </a:prstGeom>
        </p:spPr>
      </p:pic>
      <p:pic>
        <p:nvPicPr>
          <p:cNvPr id="6" name="Image 2" descr="preencoded.png"/>
          <p:cNvPicPr>
            <a:picLocks noChangeAspect="1"/>
          </p:cNvPicPr>
          <p:nvPr/>
        </p:nvPicPr>
        <p:blipFill>
          <a:blip r:embed="rId5"/>
          <a:srcRect l="-400" r="-400"/>
          <a:stretch/>
        </p:blipFill>
        <p:spPr>
          <a:xfrm>
            <a:off x="571500" y="814730"/>
            <a:ext cx="38405" cy="228600"/>
          </a:xfrm>
          <a:prstGeom prst="rect">
            <a:avLst/>
          </a:prstGeom>
        </p:spPr>
      </p:pic>
      <p:sp>
        <p:nvSpPr>
          <p:cNvPr id="7" name="Text 2"/>
          <p:cNvSpPr txBox="1"/>
          <p:nvPr/>
        </p:nvSpPr>
        <p:spPr>
          <a:xfrm>
            <a:off x="724205" y="800100"/>
            <a:ext cx="1368857"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プロモーション</a:t>
            </a:r>
            <a:endParaRPr lang="en-US" sz="1300" dirty="0"/>
          </a:p>
        </p:txBody>
      </p:sp>
      <p:sp>
        <p:nvSpPr>
          <p:cNvPr id="8" name="Text 3"/>
          <p:cNvSpPr txBox="1"/>
          <p:nvPr/>
        </p:nvSpPr>
        <p:spPr>
          <a:xfrm>
            <a:off x="571500" y="1343254"/>
            <a:ext cx="11354105" cy="553212"/>
          </a:xfrm>
          <a:prstGeom prst="rect">
            <a:avLst/>
          </a:prstGeom>
          <a:noFill/>
          <a:ln/>
        </p:spPr>
        <p:txBody>
          <a:bodyPr wrap="square" lIns="0" tIns="0" rIns="0" bIns="0" rtlCol="0" anchor="ctr"/>
          <a:lstStyle/>
          <a:p>
            <a:pPr marL="0" indent="0" algn="l">
              <a:buNone/>
            </a:pPr>
            <a:r>
              <a:rPr lang="en-US" sz="3600" b="1" kern="0" spc="-75" dirty="0">
                <a:solidFill>
                  <a:srgbClr val="1A3A8A"/>
                </a:solidFill>
                <a:latin typeface="Noto Sans JP" pitchFamily="34" charset="0"/>
                <a:ea typeface="Noto Sans JP" pitchFamily="34" charset="-122"/>
                <a:cs typeface="Noto Sans JP" pitchFamily="34" charset="-120"/>
              </a:rPr>
              <a:t>露出・プロモーション計画</a:t>
            </a:r>
            <a:endParaRPr lang="en-US" sz="3600" dirty="0"/>
          </a:p>
        </p:txBody>
      </p:sp>
      <p:pic>
        <p:nvPicPr>
          <p:cNvPr id="9" name="Image 3" descr="preencoded.png"/>
          <p:cNvPicPr>
            <a:picLocks noChangeAspect="1"/>
          </p:cNvPicPr>
          <p:nvPr/>
        </p:nvPicPr>
        <p:blipFill>
          <a:blip r:embed="rId6"/>
          <a:srcRect l="-6" r="-6"/>
          <a:stretch/>
        </p:blipFill>
        <p:spPr>
          <a:xfrm>
            <a:off x="571500" y="2177186"/>
            <a:ext cx="3530498" cy="3918204"/>
          </a:xfrm>
          <a:prstGeom prst="rect">
            <a:avLst/>
          </a:prstGeom>
        </p:spPr>
      </p:pic>
      <p:sp>
        <p:nvSpPr>
          <p:cNvPr id="10" name="Shape 4"/>
          <p:cNvSpPr/>
          <p:nvPr/>
        </p:nvSpPr>
        <p:spPr>
          <a:xfrm>
            <a:off x="800100" y="2520086"/>
            <a:ext cx="571500" cy="571500"/>
          </a:xfrm>
          <a:prstGeom prst="ellipse">
            <a:avLst/>
          </a:prstGeom>
          <a:solidFill>
            <a:srgbClr val="E6F0FA"/>
          </a:solidFill>
          <a:ln w="12700">
            <a:solidFill>
              <a:srgbClr val="FFFFFF">
                <a:alpha val="0"/>
              </a:srgbClr>
            </a:solidFill>
            <a:prstDash val="solid"/>
          </a:ln>
        </p:spPr>
        <p:txBody>
          <a:bodyPr/>
          <a:lstStyle/>
          <a:p>
            <a:endParaRPr lang="ja-JP" altLang="en-US"/>
          </a:p>
        </p:txBody>
      </p:sp>
      <p:pic>
        <p:nvPicPr>
          <p:cNvPr id="11" name="Image 4" descr="preencoded.png"/>
          <p:cNvPicPr>
            <a:picLocks noChangeAspect="1"/>
          </p:cNvPicPr>
          <p:nvPr/>
        </p:nvPicPr>
        <p:blipFill>
          <a:blip r:embed="rId7"/>
          <a:srcRect l="-685" r="-685"/>
          <a:stretch/>
        </p:blipFill>
        <p:spPr>
          <a:xfrm>
            <a:off x="933602" y="2672791"/>
            <a:ext cx="304495" cy="267005"/>
          </a:xfrm>
          <a:prstGeom prst="rect">
            <a:avLst/>
          </a:prstGeom>
        </p:spPr>
      </p:pic>
      <p:sp>
        <p:nvSpPr>
          <p:cNvPr id="12" name="Shape 5"/>
          <p:cNvSpPr/>
          <p:nvPr/>
        </p:nvSpPr>
        <p:spPr>
          <a:xfrm>
            <a:off x="800100" y="3701491"/>
            <a:ext cx="3076956" cy="19202"/>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13" name="Text 6"/>
          <p:cNvSpPr txBox="1"/>
          <p:nvPr/>
        </p:nvSpPr>
        <p:spPr>
          <a:xfrm>
            <a:off x="800100" y="3282696"/>
            <a:ext cx="3162910" cy="30541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TGC TEEN</a:t>
            </a:r>
            <a:endParaRPr lang="en-US" sz="1800" dirty="0"/>
          </a:p>
        </p:txBody>
      </p:sp>
      <p:sp>
        <p:nvSpPr>
          <p:cNvPr id="14" name="Text 7"/>
          <p:cNvSpPr txBox="1"/>
          <p:nvPr/>
        </p:nvSpPr>
        <p:spPr>
          <a:xfrm>
            <a:off x="800100" y="3826764"/>
            <a:ext cx="3267151" cy="228600"/>
          </a:xfrm>
          <a:prstGeom prst="rect">
            <a:avLst/>
          </a:prstGeom>
          <a:noFill/>
          <a:ln/>
        </p:spPr>
        <p:txBody>
          <a:bodyPr wrap="square" lIns="0" tIns="0" rIns="0" bIns="0" rtlCol="0" anchor="ctr"/>
          <a:lstStyle/>
          <a:p>
            <a:pPr marL="0" indent="0" algn="l">
              <a:buNone/>
            </a:pPr>
            <a:r>
              <a:rPr lang="en-US" sz="1200" b="1" dirty="0">
                <a:solidFill>
                  <a:srgbClr val="1E8CA6"/>
                </a:solidFill>
                <a:latin typeface="Noto Sans JP" pitchFamily="34" charset="0"/>
                <a:ea typeface="Noto Sans JP" pitchFamily="34" charset="-122"/>
                <a:cs typeface="Noto Sans JP" pitchFamily="34" charset="-120"/>
              </a:rPr>
              <a:t>デビューお披露目の場</a:t>
            </a:r>
            <a:endParaRPr lang="en-US" sz="1200" dirty="0"/>
          </a:p>
        </p:txBody>
      </p:sp>
      <p:sp>
        <p:nvSpPr>
          <p:cNvPr id="15" name="Text 8"/>
          <p:cNvSpPr txBox="1"/>
          <p:nvPr/>
        </p:nvSpPr>
        <p:spPr>
          <a:xfrm>
            <a:off x="800100" y="4208069"/>
            <a:ext cx="3152851" cy="1610258"/>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Z世代女性が最も注目するファッションイベントでの華々しいデビュー。 ターゲット層である女性ファンに直撃し、初期の熱狂的なファンダムを形成する最大の機会として活用。</a:t>
            </a:r>
            <a:endParaRPr lang="en-US" sz="1100" dirty="0"/>
          </a:p>
        </p:txBody>
      </p:sp>
      <p:pic>
        <p:nvPicPr>
          <p:cNvPr id="16" name="Image 5" descr="preencoded.png"/>
          <p:cNvPicPr>
            <a:picLocks noChangeAspect="1"/>
          </p:cNvPicPr>
          <p:nvPr/>
        </p:nvPicPr>
        <p:blipFill>
          <a:blip r:embed="rId8"/>
          <a:srcRect l="-3" r="-3"/>
          <a:stretch/>
        </p:blipFill>
        <p:spPr>
          <a:xfrm>
            <a:off x="4330598" y="2177186"/>
            <a:ext cx="3530498" cy="3918204"/>
          </a:xfrm>
          <a:prstGeom prst="rect">
            <a:avLst/>
          </a:prstGeom>
        </p:spPr>
      </p:pic>
      <p:sp>
        <p:nvSpPr>
          <p:cNvPr id="17" name="Shape 9"/>
          <p:cNvSpPr/>
          <p:nvPr/>
        </p:nvSpPr>
        <p:spPr>
          <a:xfrm>
            <a:off x="4559198" y="2520086"/>
            <a:ext cx="571500" cy="571500"/>
          </a:xfrm>
          <a:prstGeom prst="ellipse">
            <a:avLst/>
          </a:prstGeom>
          <a:solidFill>
            <a:srgbClr val="E6F0FA"/>
          </a:solidFill>
          <a:ln w="12700">
            <a:solidFill>
              <a:srgbClr val="FFFFFF">
                <a:alpha val="0"/>
              </a:srgbClr>
            </a:solidFill>
            <a:prstDash val="solid"/>
          </a:ln>
        </p:spPr>
        <p:txBody>
          <a:bodyPr/>
          <a:lstStyle/>
          <a:p>
            <a:endParaRPr lang="ja-JP" altLang="en-US"/>
          </a:p>
        </p:txBody>
      </p:sp>
      <p:pic>
        <p:nvPicPr>
          <p:cNvPr id="18" name="Image 6" descr="preencoded.png"/>
          <p:cNvPicPr>
            <a:picLocks noChangeAspect="1"/>
          </p:cNvPicPr>
          <p:nvPr/>
        </p:nvPicPr>
        <p:blipFill>
          <a:blip r:embed="rId9"/>
          <a:srcRect l="-685" r="-685"/>
          <a:stretch/>
        </p:blipFill>
        <p:spPr>
          <a:xfrm>
            <a:off x="4692701" y="2672791"/>
            <a:ext cx="304495" cy="267005"/>
          </a:xfrm>
          <a:prstGeom prst="rect">
            <a:avLst/>
          </a:prstGeom>
        </p:spPr>
      </p:pic>
      <p:sp>
        <p:nvSpPr>
          <p:cNvPr id="19" name="Shape 10"/>
          <p:cNvSpPr/>
          <p:nvPr/>
        </p:nvSpPr>
        <p:spPr>
          <a:xfrm>
            <a:off x="4559198" y="3701491"/>
            <a:ext cx="3076956" cy="19202"/>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20" name="Text 11"/>
          <p:cNvSpPr txBox="1"/>
          <p:nvPr/>
        </p:nvSpPr>
        <p:spPr>
          <a:xfrm>
            <a:off x="4559198" y="3282696"/>
            <a:ext cx="3162910" cy="30541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ミスターコンテスト</a:t>
            </a:r>
            <a:endParaRPr lang="en-US" sz="1800" dirty="0"/>
          </a:p>
        </p:txBody>
      </p:sp>
      <p:sp>
        <p:nvSpPr>
          <p:cNvPr id="21" name="Text 12"/>
          <p:cNvSpPr txBox="1"/>
          <p:nvPr/>
        </p:nvSpPr>
        <p:spPr>
          <a:xfrm>
            <a:off x="4559198" y="3826764"/>
            <a:ext cx="3267151" cy="228600"/>
          </a:xfrm>
          <a:prstGeom prst="rect">
            <a:avLst/>
          </a:prstGeom>
          <a:noFill/>
          <a:ln/>
        </p:spPr>
        <p:txBody>
          <a:bodyPr wrap="square" lIns="0" tIns="0" rIns="0" bIns="0" rtlCol="0" anchor="ctr"/>
          <a:lstStyle/>
          <a:p>
            <a:pPr marL="0" indent="0" algn="l">
              <a:buNone/>
            </a:pPr>
            <a:r>
              <a:rPr lang="en-US" sz="1200" b="1" dirty="0">
                <a:solidFill>
                  <a:srgbClr val="1E8CA6"/>
                </a:solidFill>
                <a:latin typeface="Noto Sans JP" pitchFamily="34" charset="0"/>
                <a:ea typeface="Noto Sans JP" pitchFamily="34" charset="-122"/>
                <a:cs typeface="Noto Sans JP" pitchFamily="34" charset="-120"/>
              </a:rPr>
              <a:t>DC/DK応募者との相互シナジー</a:t>
            </a:r>
            <a:endParaRPr lang="en-US" sz="1200" dirty="0"/>
          </a:p>
        </p:txBody>
      </p:sp>
      <p:sp>
        <p:nvSpPr>
          <p:cNvPr id="22" name="Text 13"/>
          <p:cNvSpPr txBox="1"/>
          <p:nvPr/>
        </p:nvSpPr>
        <p:spPr>
          <a:xfrm>
            <a:off x="4559198" y="4208069"/>
            <a:ext cx="3152851" cy="1610258"/>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過去3年の男子高生ミスターコンテスト（DC/DK）のネットワークを活用。 既存のイケメンファン層をスムーズに移行させ、コンテスト出身者同士の化学反応で話題性を最大化する。</a:t>
            </a:r>
            <a:endParaRPr lang="en-US" sz="1100" dirty="0"/>
          </a:p>
        </p:txBody>
      </p:sp>
      <p:pic>
        <p:nvPicPr>
          <p:cNvPr id="23" name="Image 7" descr="preencoded.png"/>
          <p:cNvPicPr>
            <a:picLocks noChangeAspect="1"/>
          </p:cNvPicPr>
          <p:nvPr/>
        </p:nvPicPr>
        <p:blipFill>
          <a:blip r:embed="rId8"/>
          <a:srcRect l="-3" r="-3"/>
          <a:stretch/>
        </p:blipFill>
        <p:spPr>
          <a:xfrm>
            <a:off x="8089697" y="2177186"/>
            <a:ext cx="3530498" cy="3918204"/>
          </a:xfrm>
          <a:prstGeom prst="rect">
            <a:avLst/>
          </a:prstGeom>
        </p:spPr>
      </p:pic>
      <p:sp>
        <p:nvSpPr>
          <p:cNvPr id="24" name="Shape 14"/>
          <p:cNvSpPr/>
          <p:nvPr/>
        </p:nvSpPr>
        <p:spPr>
          <a:xfrm>
            <a:off x="8318297" y="2520086"/>
            <a:ext cx="571500" cy="571500"/>
          </a:xfrm>
          <a:prstGeom prst="ellipse">
            <a:avLst/>
          </a:prstGeom>
          <a:solidFill>
            <a:srgbClr val="E6F0FA"/>
          </a:solidFill>
          <a:ln w="12700">
            <a:solidFill>
              <a:srgbClr val="FFFFFF">
                <a:alpha val="0"/>
              </a:srgbClr>
            </a:solidFill>
            <a:prstDash val="solid"/>
          </a:ln>
        </p:spPr>
        <p:txBody>
          <a:bodyPr/>
          <a:lstStyle/>
          <a:p>
            <a:endParaRPr lang="ja-JP" altLang="en-US"/>
          </a:p>
        </p:txBody>
      </p:sp>
      <p:pic>
        <p:nvPicPr>
          <p:cNvPr id="25" name="Image 8" descr="preencoded.png"/>
          <p:cNvPicPr>
            <a:picLocks noChangeAspect="1"/>
          </p:cNvPicPr>
          <p:nvPr/>
        </p:nvPicPr>
        <p:blipFill>
          <a:blip r:embed="rId10"/>
          <a:srcRect/>
          <a:stretch/>
        </p:blipFill>
        <p:spPr>
          <a:xfrm>
            <a:off x="8437169" y="2672791"/>
            <a:ext cx="333756" cy="267005"/>
          </a:xfrm>
          <a:prstGeom prst="rect">
            <a:avLst/>
          </a:prstGeom>
        </p:spPr>
      </p:pic>
      <p:sp>
        <p:nvSpPr>
          <p:cNvPr id="26" name="Shape 15"/>
          <p:cNvSpPr/>
          <p:nvPr/>
        </p:nvSpPr>
        <p:spPr>
          <a:xfrm>
            <a:off x="8318297" y="3701491"/>
            <a:ext cx="3076956" cy="19202"/>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27" name="Text 16"/>
          <p:cNvSpPr txBox="1"/>
          <p:nvPr/>
        </p:nvSpPr>
        <p:spPr>
          <a:xfrm>
            <a:off x="8318297" y="3282696"/>
            <a:ext cx="3162910" cy="305410"/>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l">
              <a:buNone/>
            </a:pPr>
            <a:r>
              <a:rPr lang="en-US" sz="1800" b="1" dirty="0">
                <a:solidFill>
                  <a:srgbClr val="1A3A8A"/>
                </a:solidFill>
                <a:latin typeface="Noto Sans JP" pitchFamily="34" charset="0"/>
                <a:ea typeface="Noto Sans JP" pitchFamily="34" charset="-122"/>
                <a:cs typeface="Noto Sans JP" pitchFamily="34" charset="-120"/>
              </a:rPr>
              <a:t>地上波連携</a:t>
            </a:r>
            <a:endParaRPr lang="en-US" sz="1800" dirty="0"/>
          </a:p>
        </p:txBody>
      </p:sp>
      <p:sp>
        <p:nvSpPr>
          <p:cNvPr id="28" name="Text 17"/>
          <p:cNvSpPr txBox="1"/>
          <p:nvPr/>
        </p:nvSpPr>
        <p:spPr>
          <a:xfrm>
            <a:off x="8318297" y="3826764"/>
            <a:ext cx="3267151" cy="228600"/>
          </a:xfrm>
          <a:prstGeom prst="rect">
            <a:avLst/>
          </a:prstGeom>
          <a:noFill/>
          <a:ln/>
        </p:spPr>
        <p:txBody>
          <a:bodyPr wrap="square" lIns="0" tIns="0" rIns="0" bIns="0" rtlCol="0" anchor="ctr"/>
          <a:lstStyle/>
          <a:p>
            <a:pPr marL="0" indent="0" algn="l">
              <a:buNone/>
            </a:pPr>
            <a:r>
              <a:rPr lang="en-US" sz="1200" b="1" dirty="0">
                <a:solidFill>
                  <a:srgbClr val="1E8CA6"/>
                </a:solidFill>
                <a:latin typeface="Noto Sans JP" pitchFamily="34" charset="0"/>
                <a:ea typeface="Noto Sans JP" pitchFamily="34" charset="-122"/>
                <a:cs typeface="Noto Sans JP" pitchFamily="34" charset="-120"/>
              </a:rPr>
              <a:t>TBS等／アイドル番組出演</a:t>
            </a:r>
            <a:endParaRPr lang="en-US" sz="1200" dirty="0"/>
          </a:p>
        </p:txBody>
      </p:sp>
      <p:sp>
        <p:nvSpPr>
          <p:cNvPr id="29" name="Text 18"/>
          <p:cNvSpPr txBox="1"/>
          <p:nvPr/>
        </p:nvSpPr>
        <p:spPr>
          <a:xfrm>
            <a:off x="8318297" y="4208069"/>
            <a:ext cx="3152851" cy="1610258"/>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TBS等の地上波キー局と連携し、アイドル番組やバラエティ番組への出演を計画。 SNSでの話題性をマス媒体へと波及させ、一般層への認知拡大と国民的スターへの階段を設計する。</a:t>
            </a:r>
            <a:endParaRPr lang="en-US" sz="1100" dirty="0"/>
          </a:p>
        </p:txBody>
      </p:sp>
      <p:sp>
        <p:nvSpPr>
          <p:cNvPr id="30" name="Text 19"/>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31" name="Text 20"/>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
        <p:nvSpPr>
          <p:cNvPr id="32" name="Shape 21"/>
          <p:cNvSpPr/>
          <p:nvPr/>
        </p:nvSpPr>
        <p:spPr>
          <a:xfrm>
            <a:off x="0" y="6476695"/>
            <a:ext cx="12191695" cy="381305"/>
          </a:xfrm>
          <a:prstGeom prst="rect">
            <a:avLst/>
          </a:prstGeom>
          <a:solidFill>
            <a:srgbClr val="FFFFFF"/>
          </a:solidFill>
          <a:ln/>
        </p:spPr>
        <p:txBody>
          <a:bodyPr/>
          <a:lstStyle/>
          <a:p>
            <a:endParaRPr lang="ja-JP" altLang="en-US"/>
          </a:p>
        </p:txBody>
      </p:sp>
      <p:sp>
        <p:nvSpPr>
          <p:cNvPr id="33" name="Shape 22"/>
          <p:cNvSpPr/>
          <p:nvPr/>
        </p:nvSpPr>
        <p:spPr>
          <a:xfrm>
            <a:off x="0" y="647669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34" name="Text 23"/>
          <p:cNvSpPr txBox="1"/>
          <p:nvPr/>
        </p:nvSpPr>
        <p:spPr>
          <a:xfrm>
            <a:off x="381305" y="6601054"/>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35" name="Text 24"/>
          <p:cNvSpPr txBox="1"/>
          <p:nvPr/>
        </p:nvSpPr>
        <p:spPr>
          <a:xfrm>
            <a:off x="11698834" y="6601054"/>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l="-553" r="-553"/>
          <a:stretch/>
        </p:blipFill>
        <p:spPr>
          <a:xfrm>
            <a:off x="0" y="0"/>
            <a:ext cx="12191695" cy="30175"/>
          </a:xfrm>
          <a:prstGeom prst="rect">
            <a:avLst/>
          </a:prstGeom>
        </p:spPr>
      </p:pic>
      <p:pic>
        <p:nvPicPr>
          <p:cNvPr id="4" name="Image 1" descr="preencoded.png"/>
          <p:cNvPicPr>
            <a:picLocks noChangeAspect="1"/>
          </p:cNvPicPr>
          <p:nvPr/>
        </p:nvPicPr>
        <p:blipFill>
          <a:blip r:embed="rId4"/>
          <a:srcRect l="-400" r="-400"/>
          <a:stretch/>
        </p:blipFill>
        <p:spPr>
          <a:xfrm>
            <a:off x="571500" y="806501"/>
            <a:ext cx="38405" cy="228600"/>
          </a:xfrm>
          <a:prstGeom prst="rect">
            <a:avLst/>
          </a:prstGeom>
        </p:spPr>
      </p:pic>
      <p:sp>
        <p:nvSpPr>
          <p:cNvPr id="5" name="Text 1"/>
          <p:cNvSpPr txBox="1"/>
          <p:nvPr/>
        </p:nvSpPr>
        <p:spPr>
          <a:xfrm>
            <a:off x="724205" y="792785"/>
            <a:ext cx="981151"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パートナー</a:t>
            </a:r>
            <a:endParaRPr lang="en-US" sz="1300" dirty="0"/>
          </a:p>
        </p:txBody>
      </p:sp>
      <p:sp>
        <p:nvSpPr>
          <p:cNvPr id="6" name="Text 2"/>
          <p:cNvSpPr txBox="1"/>
          <p:nvPr/>
        </p:nvSpPr>
        <p:spPr>
          <a:xfrm>
            <a:off x="571500" y="1239926"/>
            <a:ext cx="11354105" cy="553212"/>
          </a:xfrm>
          <a:prstGeom prst="rect">
            <a:avLst/>
          </a:prstGeom>
          <a:noFill/>
          <a:ln/>
        </p:spPr>
        <p:txBody>
          <a:bodyPr wrap="square" lIns="0" tIns="0" rIns="0" bIns="0" rtlCol="0" anchor="ctr"/>
          <a:lstStyle/>
          <a:p>
            <a:pPr marL="0" indent="0" algn="l">
              <a:buNone/>
            </a:pPr>
            <a:r>
              <a:rPr lang="en-US" sz="3600" b="1" kern="0" spc="-75" dirty="0">
                <a:solidFill>
                  <a:srgbClr val="1A3A8A"/>
                </a:solidFill>
                <a:latin typeface="Noto Sans JP" pitchFamily="34" charset="0"/>
                <a:ea typeface="Noto Sans JP" pitchFamily="34" charset="-122"/>
                <a:cs typeface="Noto Sans JP" pitchFamily="34" charset="-120"/>
              </a:rPr>
              <a:t>連携パートナー</a:t>
            </a:r>
            <a:endParaRPr lang="en-US" sz="3600" dirty="0"/>
          </a:p>
        </p:txBody>
      </p:sp>
      <p:sp>
        <p:nvSpPr>
          <p:cNvPr id="7" name="Text 3"/>
          <p:cNvSpPr txBox="1"/>
          <p:nvPr/>
        </p:nvSpPr>
        <p:spPr>
          <a:xfrm>
            <a:off x="-1058875" y="3312871"/>
            <a:ext cx="13640105" cy="2857500"/>
          </a:xfrm>
          <a:prstGeom prst="rect">
            <a:avLst/>
          </a:prstGeom>
          <a:noFill/>
          <a:ln/>
        </p:spPr>
        <p:txBody>
          <a:bodyPr wrap="square" lIns="0" tIns="0" rIns="0" bIns="0" rtlCol="0" anchor="ctr"/>
          <a:lstStyle/>
          <a:p>
            <a:pPr marL="0" indent="0" algn="l">
              <a:buNone/>
            </a:pPr>
            <a:r>
              <a:rPr lang="en-US" sz="22500" b="1" dirty="0">
                <a:solidFill>
                  <a:srgbClr val="1A3A8A">
                    <a:alpha val="3000"/>
                  </a:srgbClr>
                </a:solidFill>
                <a:latin typeface="Noto Sans JP" pitchFamily="34" charset="0"/>
                <a:ea typeface="Noto Sans JP" pitchFamily="34" charset="-122"/>
                <a:cs typeface="Noto Sans JP" pitchFamily="34" charset="-120"/>
              </a:rPr>
              <a:t>PARTNER</a:t>
            </a:r>
            <a:endParaRPr lang="en-US" sz="22500" dirty="0"/>
          </a:p>
        </p:txBody>
      </p:sp>
      <p:pic>
        <p:nvPicPr>
          <p:cNvPr id="8" name="Image 2" descr="preencoded.png"/>
          <p:cNvPicPr>
            <a:picLocks noChangeAspect="1"/>
          </p:cNvPicPr>
          <p:nvPr/>
        </p:nvPicPr>
        <p:blipFill>
          <a:blip r:embed="rId5"/>
          <a:srcRect t="-9" b="-9"/>
          <a:stretch/>
        </p:blipFill>
        <p:spPr>
          <a:xfrm>
            <a:off x="571500" y="2169871"/>
            <a:ext cx="5410505" cy="1886407"/>
          </a:xfrm>
          <a:prstGeom prst="rect">
            <a:avLst/>
          </a:prstGeom>
        </p:spPr>
      </p:pic>
      <p:sp>
        <p:nvSpPr>
          <p:cNvPr id="9" name="Shape 4"/>
          <p:cNvSpPr/>
          <p:nvPr/>
        </p:nvSpPr>
        <p:spPr>
          <a:xfrm>
            <a:off x="857707" y="2484425"/>
            <a:ext cx="457200" cy="457200"/>
          </a:xfrm>
          <a:prstGeom prst="roundRect">
            <a:avLst>
              <a:gd name="adj" fmla="val 66667"/>
            </a:avLst>
          </a:prstGeom>
          <a:solidFill>
            <a:srgbClr val="FFFFFF"/>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t="-45" b="-45"/>
          <a:stretch/>
        </p:blipFill>
        <p:spPr>
          <a:xfrm>
            <a:off x="957377" y="2598725"/>
            <a:ext cx="256946" cy="228600"/>
          </a:xfrm>
          <a:prstGeom prst="rect">
            <a:avLst/>
          </a:prstGeom>
        </p:spPr>
      </p:pic>
      <p:sp>
        <p:nvSpPr>
          <p:cNvPr id="11" name="Text 5"/>
          <p:cNvSpPr txBox="1"/>
          <p:nvPr/>
        </p:nvSpPr>
        <p:spPr>
          <a:xfrm>
            <a:off x="1466698" y="2569464"/>
            <a:ext cx="2598725" cy="286207"/>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ミスターコンテスト DC/DK</a:t>
            </a:r>
            <a:endParaRPr lang="en-US" sz="1500" dirty="0"/>
          </a:p>
        </p:txBody>
      </p:sp>
      <p:sp>
        <p:nvSpPr>
          <p:cNvPr id="12" name="Text 6"/>
          <p:cNvSpPr txBox="1"/>
          <p:nvPr/>
        </p:nvSpPr>
        <p:spPr>
          <a:xfrm>
            <a:off x="1466698" y="3055925"/>
            <a:ext cx="4362602"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【メンバー発掘・露出源】</a:t>
            </a:r>
            <a:endParaRPr lang="en-US" sz="1100" dirty="0"/>
          </a:p>
          <a:p>
            <a:pPr marL="0" indent="0" algn="l">
              <a:buNone/>
            </a:pPr>
            <a:r>
              <a:rPr lang="en-US" sz="1100" dirty="0">
                <a:solidFill>
                  <a:srgbClr val="555555"/>
                </a:solidFill>
                <a:latin typeface="Noto Sans JP" pitchFamily="34" charset="0"/>
                <a:ea typeface="Noto Sans JP" pitchFamily="34" charset="-122"/>
                <a:cs typeface="Noto Sans JP" pitchFamily="34" charset="-120"/>
              </a:rPr>
              <a:t>年間数万人の応募者数を誇る日本最大級の男子高生コンテストと連携。スターの原石を直接発掘し、プロジェクトへ抜擢。</a:t>
            </a:r>
            <a:endParaRPr lang="en-US" sz="1100" dirty="0"/>
          </a:p>
        </p:txBody>
      </p:sp>
      <p:pic>
        <p:nvPicPr>
          <p:cNvPr id="13" name="Image 4" descr="preencoded.png"/>
          <p:cNvPicPr>
            <a:picLocks noChangeAspect="1"/>
          </p:cNvPicPr>
          <p:nvPr/>
        </p:nvPicPr>
        <p:blipFill>
          <a:blip r:embed="rId7"/>
          <a:srcRect t="-9" b="-9"/>
          <a:stretch/>
        </p:blipFill>
        <p:spPr>
          <a:xfrm>
            <a:off x="6210605" y="2169871"/>
            <a:ext cx="5410505" cy="1886407"/>
          </a:xfrm>
          <a:prstGeom prst="rect">
            <a:avLst/>
          </a:prstGeom>
        </p:spPr>
      </p:pic>
      <p:sp>
        <p:nvSpPr>
          <p:cNvPr id="14" name="Shape 7"/>
          <p:cNvSpPr/>
          <p:nvPr/>
        </p:nvSpPr>
        <p:spPr>
          <a:xfrm>
            <a:off x="6495898" y="2484425"/>
            <a:ext cx="457200" cy="457200"/>
          </a:xfrm>
          <a:prstGeom prst="roundRect">
            <a:avLst>
              <a:gd name="adj" fmla="val 66667"/>
            </a:avLst>
          </a:prstGeom>
          <a:solidFill>
            <a:srgbClr val="FFFF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8"/>
          <a:srcRect t="-45" b="-45"/>
          <a:stretch/>
        </p:blipFill>
        <p:spPr>
          <a:xfrm>
            <a:off x="6596482" y="2598725"/>
            <a:ext cx="256946" cy="228600"/>
          </a:xfrm>
          <a:prstGeom prst="rect">
            <a:avLst/>
          </a:prstGeom>
        </p:spPr>
      </p:pic>
      <p:sp>
        <p:nvSpPr>
          <p:cNvPr id="16" name="Text 8"/>
          <p:cNvSpPr txBox="1"/>
          <p:nvPr/>
        </p:nvSpPr>
        <p:spPr>
          <a:xfrm>
            <a:off x="7105802" y="2569464"/>
            <a:ext cx="991210" cy="286207"/>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TGC TEEN</a:t>
            </a:r>
            <a:endParaRPr lang="en-US" sz="1500" dirty="0"/>
          </a:p>
        </p:txBody>
      </p:sp>
      <p:sp>
        <p:nvSpPr>
          <p:cNvPr id="17" name="Text 9"/>
          <p:cNvSpPr txBox="1"/>
          <p:nvPr/>
        </p:nvSpPr>
        <p:spPr>
          <a:xfrm>
            <a:off x="7105802" y="3055925"/>
            <a:ext cx="4362602"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【デビュー舞台・ファン接点】</a:t>
            </a:r>
            <a:endParaRPr lang="en-US" sz="1100" dirty="0"/>
          </a:p>
          <a:p>
            <a:pPr marL="0" indent="0" algn="l">
              <a:buNone/>
            </a:pPr>
            <a:r>
              <a:rPr lang="en-US" sz="1100" dirty="0">
                <a:solidFill>
                  <a:srgbClr val="555555"/>
                </a:solidFill>
                <a:latin typeface="Noto Sans JP" pitchFamily="34" charset="0"/>
                <a:ea typeface="Noto Sans JP" pitchFamily="34" charset="-122"/>
                <a:cs typeface="Noto Sans JP" pitchFamily="34" charset="-120"/>
              </a:rPr>
              <a:t>Z世代女性が集結するガールズフェスタでお披露目。デビュー初日から数千人の前でパフォーマンスを行い、認知を最大化する。</a:t>
            </a:r>
            <a:endParaRPr lang="en-US" sz="1100" dirty="0"/>
          </a:p>
        </p:txBody>
      </p:sp>
      <p:pic>
        <p:nvPicPr>
          <p:cNvPr id="18" name="Image 6" descr="preencoded.png"/>
          <p:cNvPicPr>
            <a:picLocks noChangeAspect="1"/>
          </p:cNvPicPr>
          <p:nvPr/>
        </p:nvPicPr>
        <p:blipFill>
          <a:blip r:embed="rId7"/>
          <a:srcRect t="-9" b="-9"/>
          <a:stretch/>
        </p:blipFill>
        <p:spPr>
          <a:xfrm>
            <a:off x="571500" y="4283964"/>
            <a:ext cx="5410505" cy="1886407"/>
          </a:xfrm>
          <a:prstGeom prst="rect">
            <a:avLst/>
          </a:prstGeom>
        </p:spPr>
      </p:pic>
      <p:sp>
        <p:nvSpPr>
          <p:cNvPr id="19" name="Shape 10"/>
          <p:cNvSpPr/>
          <p:nvPr/>
        </p:nvSpPr>
        <p:spPr>
          <a:xfrm>
            <a:off x="857707" y="4598518"/>
            <a:ext cx="457200" cy="457200"/>
          </a:xfrm>
          <a:prstGeom prst="roundRect">
            <a:avLst>
              <a:gd name="adj" fmla="val 66667"/>
            </a:avLst>
          </a:prstGeom>
          <a:solidFill>
            <a:srgbClr val="FFFFFF"/>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9"/>
          <a:srcRect/>
          <a:stretch/>
        </p:blipFill>
        <p:spPr>
          <a:xfrm>
            <a:off x="972007" y="4712818"/>
            <a:ext cx="228600" cy="228600"/>
          </a:xfrm>
          <a:prstGeom prst="rect">
            <a:avLst/>
          </a:prstGeom>
        </p:spPr>
      </p:pic>
      <p:sp>
        <p:nvSpPr>
          <p:cNvPr id="21" name="Text 11"/>
          <p:cNvSpPr txBox="1"/>
          <p:nvPr/>
        </p:nvSpPr>
        <p:spPr>
          <a:xfrm>
            <a:off x="1466698" y="4684471"/>
            <a:ext cx="2263140" cy="286207"/>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東映・東宝（将来構想）</a:t>
            </a:r>
            <a:endParaRPr lang="en-US" sz="1500" dirty="0"/>
          </a:p>
        </p:txBody>
      </p:sp>
      <p:sp>
        <p:nvSpPr>
          <p:cNvPr id="22" name="Text 12"/>
          <p:cNvSpPr txBox="1"/>
          <p:nvPr/>
        </p:nvSpPr>
        <p:spPr>
          <a:xfrm>
            <a:off x="1466698" y="5170018"/>
            <a:ext cx="4362602"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【映画・コンテンツ展開】</a:t>
            </a:r>
            <a:endParaRPr lang="en-US" sz="1100" dirty="0"/>
          </a:p>
          <a:p>
            <a:pPr marL="0" indent="0" algn="l">
              <a:buNone/>
            </a:pPr>
            <a:r>
              <a:rPr lang="en-US" sz="1100" dirty="0">
                <a:solidFill>
                  <a:srgbClr val="555555"/>
                </a:solidFill>
                <a:latin typeface="Noto Sans JP" pitchFamily="34" charset="0"/>
                <a:ea typeface="Noto Sans JP" pitchFamily="34" charset="-122"/>
                <a:cs typeface="Noto Sans JP" pitchFamily="34" charset="-120"/>
              </a:rPr>
              <a:t>短編映画の実績を積み上げ、将来的には大手配給会社との提携による劇場公開を目指す。スクリーンでの物語展開。</a:t>
            </a:r>
            <a:endParaRPr lang="en-US" sz="1100" dirty="0"/>
          </a:p>
        </p:txBody>
      </p:sp>
      <p:pic>
        <p:nvPicPr>
          <p:cNvPr id="23" name="Image 8" descr="preencoded.png"/>
          <p:cNvPicPr>
            <a:picLocks noChangeAspect="1"/>
          </p:cNvPicPr>
          <p:nvPr/>
        </p:nvPicPr>
        <p:blipFill>
          <a:blip r:embed="rId5"/>
          <a:srcRect t="-9" b="-9"/>
          <a:stretch/>
        </p:blipFill>
        <p:spPr>
          <a:xfrm>
            <a:off x="6210605" y="4283964"/>
            <a:ext cx="5410505" cy="1886407"/>
          </a:xfrm>
          <a:prstGeom prst="rect">
            <a:avLst/>
          </a:prstGeom>
        </p:spPr>
      </p:pic>
      <p:sp>
        <p:nvSpPr>
          <p:cNvPr id="24" name="Shape 13"/>
          <p:cNvSpPr/>
          <p:nvPr/>
        </p:nvSpPr>
        <p:spPr>
          <a:xfrm>
            <a:off x="6495898" y="4598518"/>
            <a:ext cx="457200" cy="457200"/>
          </a:xfrm>
          <a:prstGeom prst="roundRect">
            <a:avLst>
              <a:gd name="adj" fmla="val 66667"/>
            </a:avLst>
          </a:prstGeom>
          <a:solidFill>
            <a:srgbClr val="FFFFFF"/>
          </a:solidFill>
          <a:ln w="12700">
            <a:solidFill>
              <a:srgbClr val="FFFFFF">
                <a:alpha val="0"/>
              </a:srgbClr>
            </a:solidFill>
            <a:prstDash val="solid"/>
          </a:ln>
        </p:spPr>
        <p:txBody>
          <a:bodyPr/>
          <a:lstStyle/>
          <a:p>
            <a:endParaRPr lang="ja-JP" altLang="en-US"/>
          </a:p>
        </p:txBody>
      </p:sp>
      <p:pic>
        <p:nvPicPr>
          <p:cNvPr id="25" name="Image 9" descr="preencoded.png"/>
          <p:cNvPicPr>
            <a:picLocks noChangeAspect="1"/>
          </p:cNvPicPr>
          <p:nvPr/>
        </p:nvPicPr>
        <p:blipFill>
          <a:blip r:embed="rId10"/>
          <a:srcRect l="-80" r="-80"/>
          <a:stretch/>
        </p:blipFill>
        <p:spPr>
          <a:xfrm>
            <a:off x="6581851" y="4712818"/>
            <a:ext cx="286207" cy="228600"/>
          </a:xfrm>
          <a:prstGeom prst="rect">
            <a:avLst/>
          </a:prstGeom>
        </p:spPr>
      </p:pic>
      <p:sp>
        <p:nvSpPr>
          <p:cNvPr id="26" name="Text 14"/>
          <p:cNvSpPr txBox="1"/>
          <p:nvPr/>
        </p:nvSpPr>
        <p:spPr>
          <a:xfrm>
            <a:off x="7105802" y="4684471"/>
            <a:ext cx="1440180" cy="286207"/>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地上波テレビ局</a:t>
            </a:r>
            <a:endParaRPr lang="en-US" sz="1500" dirty="0"/>
          </a:p>
        </p:txBody>
      </p:sp>
      <p:sp>
        <p:nvSpPr>
          <p:cNvPr id="27" name="Text 15"/>
          <p:cNvSpPr txBox="1"/>
          <p:nvPr/>
        </p:nvSpPr>
        <p:spPr>
          <a:xfrm>
            <a:off x="7105802" y="5170018"/>
            <a:ext cx="4362602" cy="685800"/>
          </a:xfrm>
          <a:prstGeom prst="rect">
            <a:avLst/>
          </a:prstGeom>
          <a:noFill/>
          <a:ln/>
        </p:spPr>
        <p:txBody>
          <a:bodyPr wrap="square" lIns="0" tIns="0" rIns="0" bIns="0" rtlCol="0" anchor="t"/>
          <a:lstStyle/>
          <a:p>
            <a:pPr marL="0" indent="0" algn="l">
              <a:buNone/>
            </a:pPr>
            <a:r>
              <a:rPr lang="en-US" sz="1100" dirty="0">
                <a:solidFill>
                  <a:srgbClr val="555555"/>
                </a:solidFill>
                <a:latin typeface="Noto Sans JP" pitchFamily="34" charset="0"/>
                <a:ea typeface="Noto Sans JP" pitchFamily="34" charset="-122"/>
                <a:cs typeface="Noto Sans JP" pitchFamily="34" charset="-120"/>
              </a:rPr>
              <a:t>【番組・バラエティ出演】</a:t>
            </a:r>
            <a:endParaRPr lang="en-US" sz="1100" dirty="0"/>
          </a:p>
          <a:p>
            <a:pPr marL="0" indent="0" algn="l">
              <a:buNone/>
            </a:pPr>
            <a:r>
              <a:rPr lang="en-US" sz="1100" dirty="0">
                <a:solidFill>
                  <a:srgbClr val="555555"/>
                </a:solidFill>
                <a:latin typeface="Noto Sans JP" pitchFamily="34" charset="0"/>
                <a:ea typeface="Noto Sans JP" pitchFamily="34" charset="-122"/>
                <a:cs typeface="Noto Sans JP" pitchFamily="34" charset="-120"/>
              </a:rPr>
              <a:t>深夜帯の冠番組や、人気バラエティへのゲスト出演枠を確保。SNS発の熱狂をお茶の間へ広げ、国民的アイドルへ。</a:t>
            </a:r>
            <a:endParaRPr lang="en-US" sz="1100" dirty="0"/>
          </a:p>
        </p:txBody>
      </p:sp>
      <p:sp>
        <p:nvSpPr>
          <p:cNvPr id="28" name="Text 16"/>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29" name="Text 17"/>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
        <p:nvSpPr>
          <p:cNvPr id="30" name="Shape 18"/>
          <p:cNvSpPr/>
          <p:nvPr/>
        </p:nvSpPr>
        <p:spPr>
          <a:xfrm>
            <a:off x="0" y="6551676"/>
            <a:ext cx="12191695" cy="314554"/>
          </a:xfrm>
          <a:prstGeom prst="rect">
            <a:avLst/>
          </a:prstGeom>
          <a:solidFill>
            <a:srgbClr val="FFFFFF"/>
          </a:solidFill>
          <a:ln/>
        </p:spPr>
        <p:txBody>
          <a:bodyPr/>
          <a:lstStyle/>
          <a:p>
            <a:endParaRPr lang="ja-JP" altLang="en-US"/>
          </a:p>
        </p:txBody>
      </p:sp>
      <p:sp>
        <p:nvSpPr>
          <p:cNvPr id="31" name="Shape 19"/>
          <p:cNvSpPr/>
          <p:nvPr/>
        </p:nvSpPr>
        <p:spPr>
          <a:xfrm>
            <a:off x="0" y="6551676"/>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32" name="Text 20"/>
          <p:cNvSpPr txBox="1"/>
          <p:nvPr/>
        </p:nvSpPr>
        <p:spPr>
          <a:xfrm>
            <a:off x="381305" y="6637630"/>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33" name="Text 21"/>
          <p:cNvSpPr txBox="1"/>
          <p:nvPr/>
        </p:nvSpPr>
        <p:spPr>
          <a:xfrm>
            <a:off x="11698834" y="6637630"/>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6762902"/>
            <a:ext cx="12191695" cy="152705"/>
          </a:xfrm>
          <a:prstGeom prst="rect">
            <a:avLst/>
          </a:prstGeom>
          <a:solidFill>
            <a:srgbClr val="FFFFFF"/>
          </a:solidFill>
          <a:ln/>
        </p:spPr>
        <p:txBody>
          <a:bodyPr/>
          <a:lstStyle/>
          <a:p>
            <a:endParaRPr lang="ja-JP" altLang="en-US"/>
          </a:p>
        </p:txBody>
      </p:sp>
      <p:sp>
        <p:nvSpPr>
          <p:cNvPr id="4" name="Shape 2"/>
          <p:cNvSpPr/>
          <p:nvPr/>
        </p:nvSpPr>
        <p:spPr>
          <a:xfrm>
            <a:off x="0" y="6762902"/>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5" name="Text 3"/>
          <p:cNvSpPr txBox="1"/>
          <p:nvPr/>
        </p:nvSpPr>
        <p:spPr>
          <a:xfrm>
            <a:off x="381305" y="6772046"/>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6" name="Text 4"/>
          <p:cNvSpPr txBox="1"/>
          <p:nvPr/>
        </p:nvSpPr>
        <p:spPr>
          <a:xfrm>
            <a:off x="11698834" y="6772046"/>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17</a:t>
            </a:r>
            <a:endParaRPr lang="en-US" sz="800" dirty="0"/>
          </a:p>
        </p:txBody>
      </p:sp>
      <p:pic>
        <p:nvPicPr>
          <p:cNvPr id="7" name="Image 0" descr="preencoded.png"/>
          <p:cNvPicPr>
            <a:picLocks noChangeAspect="1"/>
          </p:cNvPicPr>
          <p:nvPr/>
        </p:nvPicPr>
        <p:blipFill>
          <a:blip r:embed="rId3"/>
          <a:srcRect l="-400" r="-400"/>
          <a:stretch/>
        </p:blipFill>
        <p:spPr>
          <a:xfrm>
            <a:off x="571500" y="776326"/>
            <a:ext cx="38405" cy="228600"/>
          </a:xfrm>
          <a:prstGeom prst="rect">
            <a:avLst/>
          </a:prstGeom>
        </p:spPr>
      </p:pic>
      <p:sp>
        <p:nvSpPr>
          <p:cNvPr id="8" name="Text 5"/>
          <p:cNvSpPr txBox="1"/>
          <p:nvPr/>
        </p:nvSpPr>
        <p:spPr>
          <a:xfrm>
            <a:off x="724205" y="761695"/>
            <a:ext cx="438912"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予算</a:t>
            </a:r>
            <a:endParaRPr lang="en-US" sz="1300" dirty="0"/>
          </a:p>
        </p:txBody>
      </p:sp>
      <p:sp>
        <p:nvSpPr>
          <p:cNvPr id="9" name="Text 6"/>
          <p:cNvSpPr txBox="1"/>
          <p:nvPr/>
        </p:nvSpPr>
        <p:spPr>
          <a:xfrm>
            <a:off x="571500" y="1304849"/>
            <a:ext cx="11354105" cy="600761"/>
          </a:xfrm>
          <a:prstGeom prst="rect">
            <a:avLst/>
          </a:prstGeom>
          <a:noFill/>
          <a:ln/>
        </p:spPr>
        <p:txBody>
          <a:bodyPr wrap="square" lIns="0" tIns="0" rIns="0" bIns="0" rtlCol="0" anchor="ctr"/>
          <a:lstStyle/>
          <a:p>
            <a:pPr marL="0" indent="0" algn="l">
              <a:buNone/>
            </a:pPr>
            <a:r>
              <a:rPr lang="en-US" sz="3100" b="1" kern="0" spc="-75" dirty="0">
                <a:solidFill>
                  <a:srgbClr val="1A3A8A"/>
                </a:solidFill>
                <a:latin typeface="Noto Sans JP" pitchFamily="34" charset="0"/>
                <a:ea typeface="Noto Sans JP" pitchFamily="34" charset="-122"/>
                <a:cs typeface="Noto Sans JP" pitchFamily="34" charset="-120"/>
              </a:rPr>
              <a:t>予算計画</a:t>
            </a:r>
            <a:endParaRPr lang="en-US" sz="3100" dirty="0"/>
          </a:p>
        </p:txBody>
      </p:sp>
      <p:sp>
        <p:nvSpPr>
          <p:cNvPr id="10" name="Shape 7"/>
          <p:cNvSpPr/>
          <p:nvPr/>
        </p:nvSpPr>
        <p:spPr>
          <a:xfrm>
            <a:off x="3715207" y="1857146"/>
            <a:ext cx="4762195" cy="4762195"/>
          </a:xfrm>
          <a:prstGeom prst="ellipse">
            <a:avLst/>
          </a:prstGeom>
          <a:noFill/>
          <a:ln w="25400">
            <a:solidFill>
              <a:srgbClr val="F1F5F9"/>
            </a:solidFill>
            <a:prstDash val="solid"/>
          </a:ln>
        </p:spPr>
        <p:txBody>
          <a:bodyPr/>
          <a:lstStyle/>
          <a:p>
            <a:endParaRPr lang="ja-JP" altLang="en-US"/>
          </a:p>
        </p:txBody>
      </p:sp>
      <p:sp>
        <p:nvSpPr>
          <p:cNvPr id="11" name="Shape 8"/>
          <p:cNvSpPr/>
          <p:nvPr/>
        </p:nvSpPr>
        <p:spPr>
          <a:xfrm>
            <a:off x="4429354" y="2572207"/>
            <a:ext cx="3333902" cy="3333902"/>
          </a:xfrm>
          <a:prstGeom prst="ellipse">
            <a:avLst/>
          </a:prstGeom>
          <a:noFill/>
          <a:ln w="12700">
            <a:solidFill>
              <a:srgbClr val="E2E8F0"/>
            </a:solidFill>
            <a:prstDash val="solid"/>
          </a:ln>
        </p:spPr>
        <p:txBody>
          <a:bodyPr/>
          <a:lstStyle/>
          <a:p>
            <a:endParaRPr lang="ja-JP" altLang="en-US"/>
          </a:p>
        </p:txBody>
      </p:sp>
      <p:pic>
        <p:nvPicPr>
          <p:cNvPr id="12" name="Image 1" descr="preencoded.png"/>
          <p:cNvPicPr>
            <a:picLocks noChangeAspect="1"/>
          </p:cNvPicPr>
          <p:nvPr/>
        </p:nvPicPr>
        <p:blipFill>
          <a:blip r:embed="rId4"/>
          <a:srcRect l="-22" r="-22"/>
          <a:stretch/>
        </p:blipFill>
        <p:spPr>
          <a:xfrm>
            <a:off x="1809598" y="4058107"/>
            <a:ext cx="4190695" cy="833018"/>
          </a:xfrm>
          <a:prstGeom prst="rect">
            <a:avLst/>
          </a:prstGeom>
        </p:spPr>
      </p:pic>
      <p:sp>
        <p:nvSpPr>
          <p:cNvPr id="13" name="Text 9"/>
          <p:cNvSpPr txBox="1"/>
          <p:nvPr/>
        </p:nvSpPr>
        <p:spPr>
          <a:xfrm>
            <a:off x="2076602" y="4248302"/>
            <a:ext cx="2193646" cy="228600"/>
          </a:xfrm>
          <a:prstGeom prst="rect">
            <a:avLst/>
          </a:prstGeom>
          <a:noFill/>
          <a:ln/>
        </p:spPr>
        <p:txBody>
          <a:bodyPr wrap="square" lIns="0" tIns="0" rIns="0" bIns="0" rtlCol="0" anchor="ctr"/>
          <a:lstStyle/>
          <a:p>
            <a:pPr marL="0" indent="0" algn="l">
              <a:buNone/>
            </a:pPr>
            <a:r>
              <a:rPr lang="en-US" sz="1200" b="1" dirty="0">
                <a:solidFill>
                  <a:srgbClr val="334155"/>
                </a:solidFill>
                <a:latin typeface="Noto Sans JP" pitchFamily="34" charset="0"/>
                <a:ea typeface="Noto Sans JP" pitchFamily="34" charset="-122"/>
                <a:cs typeface="Noto Sans JP" pitchFamily="34" charset="-120"/>
              </a:rPr>
              <a:t>演出P / 現場ディレクション</a:t>
            </a:r>
            <a:endParaRPr lang="en-US" sz="1200" dirty="0"/>
          </a:p>
        </p:txBody>
      </p:sp>
      <p:sp>
        <p:nvSpPr>
          <p:cNvPr id="14" name="Text 10"/>
          <p:cNvSpPr txBox="1"/>
          <p:nvPr/>
        </p:nvSpPr>
        <p:spPr>
          <a:xfrm>
            <a:off x="2076602" y="4515307"/>
            <a:ext cx="2057400" cy="191110"/>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棒人間</a:t>
            </a:r>
            <a:endParaRPr lang="en-US" sz="900" dirty="0"/>
          </a:p>
        </p:txBody>
      </p:sp>
      <p:sp>
        <p:nvSpPr>
          <p:cNvPr id="15" name="Text 11"/>
          <p:cNvSpPr txBox="1"/>
          <p:nvPr/>
        </p:nvSpPr>
        <p:spPr>
          <a:xfrm>
            <a:off x="5166360" y="4331513"/>
            <a:ext cx="685800" cy="286207"/>
          </a:xfrm>
          <a:prstGeom prst="rect">
            <a:avLst/>
          </a:prstGeom>
          <a:noFill/>
          <a:ln/>
        </p:spPr>
        <p:txBody>
          <a:bodyPr wrap="square" lIns="0" tIns="0" rIns="0" bIns="0" rtlCol="0" anchor="ctr"/>
          <a:lstStyle/>
          <a:p>
            <a:pPr marL="0" indent="0" algn="l">
              <a:buNone/>
            </a:pPr>
            <a:r>
              <a:rPr lang="en-US" sz="1500" b="1" dirty="0">
                <a:solidFill>
                  <a:srgbClr val="1E8CA6"/>
                </a:solidFill>
                <a:latin typeface="Noto Sans JP" pitchFamily="34" charset="0"/>
                <a:ea typeface="Noto Sans JP" pitchFamily="34" charset="-122"/>
                <a:cs typeface="Noto Sans JP" pitchFamily="34" charset="-120"/>
              </a:rPr>
              <a:t>10万円</a:t>
            </a:r>
            <a:endParaRPr lang="en-US" sz="1500" dirty="0"/>
          </a:p>
        </p:txBody>
      </p:sp>
      <p:pic>
        <p:nvPicPr>
          <p:cNvPr id="16" name="Image 2" descr="preencoded.png"/>
          <p:cNvPicPr>
            <a:picLocks noChangeAspect="1"/>
          </p:cNvPicPr>
          <p:nvPr/>
        </p:nvPicPr>
        <p:blipFill>
          <a:blip r:embed="rId4"/>
          <a:srcRect l="-22" r="-22"/>
          <a:stretch/>
        </p:blipFill>
        <p:spPr>
          <a:xfrm>
            <a:off x="6191402" y="4058107"/>
            <a:ext cx="4190695" cy="833018"/>
          </a:xfrm>
          <a:prstGeom prst="rect">
            <a:avLst/>
          </a:prstGeom>
        </p:spPr>
      </p:pic>
      <p:sp>
        <p:nvSpPr>
          <p:cNvPr id="17" name="Text 12"/>
          <p:cNvSpPr txBox="1"/>
          <p:nvPr/>
        </p:nvSpPr>
        <p:spPr>
          <a:xfrm>
            <a:off x="6458407" y="4248302"/>
            <a:ext cx="2304288" cy="228600"/>
          </a:xfrm>
          <a:prstGeom prst="rect">
            <a:avLst/>
          </a:prstGeom>
          <a:noFill/>
          <a:ln/>
        </p:spPr>
        <p:txBody>
          <a:bodyPr wrap="square" lIns="0" tIns="0" rIns="0" bIns="0" rtlCol="0" anchor="ctr"/>
          <a:lstStyle/>
          <a:p>
            <a:pPr marL="0" indent="0" algn="l">
              <a:buNone/>
            </a:pPr>
            <a:r>
              <a:rPr lang="en-US" sz="1200" b="1" dirty="0">
                <a:solidFill>
                  <a:srgbClr val="334155"/>
                </a:solidFill>
                <a:latin typeface="Noto Sans JP" pitchFamily="34" charset="0"/>
                <a:ea typeface="Noto Sans JP" pitchFamily="34" charset="-122"/>
                <a:cs typeface="Noto Sans JP" pitchFamily="34" charset="-120"/>
              </a:rPr>
              <a:t>コミュニケーションプランナー</a:t>
            </a:r>
            <a:endParaRPr lang="en-US" sz="1200" dirty="0"/>
          </a:p>
        </p:txBody>
      </p:sp>
      <p:sp>
        <p:nvSpPr>
          <p:cNvPr id="18" name="Text 13"/>
          <p:cNvSpPr txBox="1"/>
          <p:nvPr/>
        </p:nvSpPr>
        <p:spPr>
          <a:xfrm>
            <a:off x="6458407" y="4515307"/>
            <a:ext cx="2304288" cy="191110"/>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日本テレビ 平岡辰太朗</a:t>
            </a:r>
            <a:endParaRPr lang="en-US" sz="900" dirty="0"/>
          </a:p>
        </p:txBody>
      </p:sp>
      <p:sp>
        <p:nvSpPr>
          <p:cNvPr id="19" name="Text 14"/>
          <p:cNvSpPr txBox="1"/>
          <p:nvPr/>
        </p:nvSpPr>
        <p:spPr>
          <a:xfrm>
            <a:off x="9548165" y="4331513"/>
            <a:ext cx="685800" cy="286207"/>
          </a:xfrm>
          <a:prstGeom prst="rect">
            <a:avLst/>
          </a:prstGeom>
          <a:noFill/>
          <a:ln/>
        </p:spPr>
        <p:txBody>
          <a:bodyPr wrap="square" lIns="0" tIns="0" rIns="0" bIns="0" rtlCol="0" anchor="ctr"/>
          <a:lstStyle/>
          <a:p>
            <a:pPr marL="0" indent="0" algn="l">
              <a:buNone/>
            </a:pPr>
            <a:r>
              <a:rPr lang="en-US" sz="1500" b="1" dirty="0">
                <a:solidFill>
                  <a:srgbClr val="1E8CA6"/>
                </a:solidFill>
                <a:latin typeface="Noto Sans JP" pitchFamily="34" charset="0"/>
                <a:ea typeface="Noto Sans JP" pitchFamily="34" charset="-122"/>
                <a:cs typeface="Noto Sans JP" pitchFamily="34" charset="-120"/>
              </a:rPr>
              <a:t>30万円</a:t>
            </a:r>
            <a:endParaRPr lang="en-US" sz="1500" dirty="0"/>
          </a:p>
        </p:txBody>
      </p:sp>
      <p:pic>
        <p:nvPicPr>
          <p:cNvPr id="20" name="Image 3" descr="preencoded.png"/>
          <p:cNvPicPr>
            <a:picLocks noChangeAspect="1"/>
          </p:cNvPicPr>
          <p:nvPr/>
        </p:nvPicPr>
        <p:blipFill>
          <a:blip r:embed="rId5"/>
          <a:srcRect l="-22" r="-22"/>
          <a:stretch/>
        </p:blipFill>
        <p:spPr>
          <a:xfrm>
            <a:off x="1809598" y="5081321"/>
            <a:ext cx="4190695" cy="833018"/>
          </a:xfrm>
          <a:prstGeom prst="rect">
            <a:avLst/>
          </a:prstGeom>
        </p:spPr>
      </p:pic>
      <p:sp>
        <p:nvSpPr>
          <p:cNvPr id="21" name="Text 15"/>
          <p:cNvSpPr txBox="1"/>
          <p:nvPr/>
        </p:nvSpPr>
        <p:spPr>
          <a:xfrm>
            <a:off x="2076602" y="5272430"/>
            <a:ext cx="1645920" cy="228600"/>
          </a:xfrm>
          <a:prstGeom prst="rect">
            <a:avLst/>
          </a:prstGeom>
          <a:noFill/>
          <a:ln/>
        </p:spPr>
        <p:txBody>
          <a:bodyPr wrap="square" lIns="0" tIns="0" rIns="0" bIns="0" rtlCol="0" anchor="ctr"/>
          <a:lstStyle/>
          <a:p>
            <a:pPr marL="0" indent="0" algn="l">
              <a:buNone/>
            </a:pPr>
            <a:r>
              <a:rPr lang="en-US" sz="1200" b="1" dirty="0">
                <a:solidFill>
                  <a:srgbClr val="334155"/>
                </a:solidFill>
                <a:latin typeface="Noto Sans JP" pitchFamily="34" charset="0"/>
                <a:ea typeface="Noto Sans JP" pitchFamily="34" charset="-122"/>
                <a:cs typeface="Noto Sans JP" pitchFamily="34" charset="-120"/>
              </a:rPr>
              <a:t>撮影・制作クルー一式</a:t>
            </a:r>
            <a:endParaRPr lang="en-US" sz="1200" dirty="0"/>
          </a:p>
        </p:txBody>
      </p:sp>
      <p:sp>
        <p:nvSpPr>
          <p:cNvPr id="22" name="Text 16"/>
          <p:cNvSpPr txBox="1"/>
          <p:nvPr/>
        </p:nvSpPr>
        <p:spPr>
          <a:xfrm>
            <a:off x="2076602" y="5538521"/>
            <a:ext cx="1799539" cy="191110"/>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カメラ / 照明 / 音声 / 編集</a:t>
            </a:r>
            <a:endParaRPr lang="en-US" sz="900" dirty="0"/>
          </a:p>
        </p:txBody>
      </p:sp>
      <p:sp>
        <p:nvSpPr>
          <p:cNvPr id="23" name="Text 17"/>
          <p:cNvSpPr txBox="1"/>
          <p:nvPr/>
        </p:nvSpPr>
        <p:spPr>
          <a:xfrm>
            <a:off x="4819802" y="5355641"/>
            <a:ext cx="1028700" cy="286207"/>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（変動費）</a:t>
            </a:r>
            <a:endParaRPr lang="en-US" sz="1500" dirty="0"/>
          </a:p>
        </p:txBody>
      </p:sp>
      <p:pic>
        <p:nvPicPr>
          <p:cNvPr id="24" name="Image 4" descr="preencoded.png"/>
          <p:cNvPicPr>
            <a:picLocks noChangeAspect="1"/>
          </p:cNvPicPr>
          <p:nvPr/>
        </p:nvPicPr>
        <p:blipFill>
          <a:blip r:embed="rId5"/>
          <a:srcRect l="-22" r="-22"/>
          <a:stretch/>
        </p:blipFill>
        <p:spPr>
          <a:xfrm>
            <a:off x="6191402" y="5081321"/>
            <a:ext cx="4190695" cy="833018"/>
          </a:xfrm>
          <a:prstGeom prst="rect">
            <a:avLst/>
          </a:prstGeom>
        </p:spPr>
      </p:pic>
      <p:sp>
        <p:nvSpPr>
          <p:cNvPr id="25" name="Text 18"/>
          <p:cNvSpPr txBox="1"/>
          <p:nvPr/>
        </p:nvSpPr>
        <p:spPr>
          <a:xfrm>
            <a:off x="6458407" y="5272430"/>
            <a:ext cx="2092147" cy="228600"/>
          </a:xfrm>
          <a:prstGeom prst="rect">
            <a:avLst/>
          </a:prstGeom>
          <a:noFill/>
          <a:ln/>
        </p:spPr>
        <p:txBody>
          <a:bodyPr wrap="square" lIns="0" tIns="0" rIns="0" bIns="0" rtlCol="0" anchor="ctr"/>
          <a:lstStyle/>
          <a:p>
            <a:pPr marL="0" indent="0" algn="l">
              <a:buNone/>
            </a:pPr>
            <a:r>
              <a:rPr lang="en-US" sz="1200" b="1" dirty="0">
                <a:solidFill>
                  <a:srgbClr val="334155"/>
                </a:solidFill>
                <a:latin typeface="Noto Sans JP" pitchFamily="34" charset="0"/>
                <a:ea typeface="Noto Sans JP" pitchFamily="34" charset="-122"/>
                <a:cs typeface="Noto Sans JP" pitchFamily="34" charset="-120"/>
              </a:rPr>
              <a:t>マネジメント / その他経費</a:t>
            </a:r>
            <a:endParaRPr lang="en-US" sz="1200" dirty="0"/>
          </a:p>
        </p:txBody>
      </p:sp>
      <p:sp>
        <p:nvSpPr>
          <p:cNvPr id="26" name="Text 19"/>
          <p:cNvSpPr txBox="1"/>
          <p:nvPr/>
        </p:nvSpPr>
        <p:spPr>
          <a:xfrm>
            <a:off x="6458407" y="5538521"/>
            <a:ext cx="2121408" cy="191110"/>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スタジオ / 美術 / 衣装 / 交通費</a:t>
            </a:r>
            <a:endParaRPr lang="en-US" sz="900" dirty="0"/>
          </a:p>
        </p:txBody>
      </p:sp>
      <p:sp>
        <p:nvSpPr>
          <p:cNvPr id="27" name="Text 20"/>
          <p:cNvSpPr txBox="1"/>
          <p:nvPr/>
        </p:nvSpPr>
        <p:spPr>
          <a:xfrm>
            <a:off x="9201607" y="5355641"/>
            <a:ext cx="1028700" cy="286207"/>
          </a:xfrm>
          <a:prstGeom prst="rect">
            <a:avLst/>
          </a:prstGeom>
          <a:noFill/>
          <a:ln/>
        </p:spPr>
        <p:txBody>
          <a:bodyPr wrap="square" lIns="0" tIns="0" rIns="0" bIns="0" rtlCol="0" anchor="ctr"/>
          <a:lstStyle/>
          <a:p>
            <a:pPr marL="0" indent="0" algn="l">
              <a:buNone/>
            </a:pPr>
            <a:r>
              <a:rPr lang="en-US" sz="1500" b="1" dirty="0">
                <a:solidFill>
                  <a:srgbClr val="1A3A8A"/>
                </a:solidFill>
                <a:latin typeface="Noto Sans JP" pitchFamily="34" charset="0"/>
                <a:ea typeface="Noto Sans JP" pitchFamily="34" charset="-122"/>
                <a:cs typeface="Noto Sans JP" pitchFamily="34" charset="-120"/>
              </a:rPr>
              <a:t>（変動費）</a:t>
            </a:r>
            <a:endParaRPr lang="en-US" sz="1500" dirty="0"/>
          </a:p>
        </p:txBody>
      </p:sp>
      <p:sp>
        <p:nvSpPr>
          <p:cNvPr id="28" name="Text 21"/>
          <p:cNvSpPr txBox="1"/>
          <p:nvPr/>
        </p:nvSpPr>
        <p:spPr>
          <a:xfrm>
            <a:off x="4604004" y="2562149"/>
            <a:ext cx="2991002" cy="257861"/>
          </a:xfrm>
          <a:prstGeom prst="rect">
            <a:avLst/>
          </a:prstGeom>
          <a:noFill/>
          <a:ln/>
        </p:spPr>
        <p:txBody>
          <a:bodyPr wrap="square" lIns="0" tIns="0" rIns="0" bIns="0" rtlCol="0" anchor="ctr"/>
          <a:lstStyle/>
          <a:p>
            <a:pPr marL="0" indent="0" algn="ctr">
              <a:buNone/>
            </a:pPr>
            <a:r>
              <a:rPr lang="en-US" sz="1300" b="1" kern="0" spc="150" dirty="0">
                <a:solidFill>
                  <a:srgbClr val="64748B"/>
                </a:solidFill>
                <a:latin typeface="Noto Sans JP" pitchFamily="34" charset="0"/>
                <a:ea typeface="Noto Sans JP" pitchFamily="34" charset="-122"/>
                <a:cs typeface="Noto Sans JP" pitchFamily="34" charset="-120"/>
              </a:rPr>
              <a:t>Monthly Budget Estimate</a:t>
            </a:r>
            <a:endParaRPr lang="en-US" sz="1300" dirty="0"/>
          </a:p>
        </p:txBody>
      </p:sp>
      <p:sp>
        <p:nvSpPr>
          <p:cNvPr id="29" name="Text 22"/>
          <p:cNvSpPr txBox="1"/>
          <p:nvPr/>
        </p:nvSpPr>
        <p:spPr>
          <a:xfrm>
            <a:off x="3846881" y="2915107"/>
            <a:ext cx="4506163" cy="762610"/>
          </a:xfrm>
          <a:prstGeom prst="rect">
            <a:avLst/>
          </a:prstGeom>
          <a:noFill/>
          <a:ln/>
        </p:spPr>
        <p:txBody>
          <a:bodyPr wrap="square" lIns="0" tIns="0" rIns="0" bIns="0" rtlCol="0" anchor="ctr"/>
          <a:lstStyle/>
          <a:p>
            <a:pPr marL="0" indent="0" algn="ctr">
              <a:buNone/>
            </a:pPr>
            <a:r>
              <a:rPr lang="en-US" sz="6000" b="1" kern="0" spc="-150" dirty="0">
                <a:solidFill>
                  <a:srgbClr val="1A3A8A"/>
                </a:solidFill>
                <a:latin typeface="Noto Sans JP" pitchFamily="34" charset="0"/>
                <a:ea typeface="Noto Sans JP" pitchFamily="34" charset="-122"/>
                <a:cs typeface="Noto Sans JP" pitchFamily="34" charset="-120"/>
              </a:rPr>
              <a:t>300</a:t>
            </a:r>
            <a:r>
              <a:rPr lang="en-US" sz="2400" b="1" kern="0" spc="-150" dirty="0">
                <a:solidFill>
                  <a:srgbClr val="64748B"/>
                </a:solidFill>
                <a:latin typeface="Noto Sans JP" pitchFamily="34" charset="0"/>
                <a:ea typeface="Noto Sans JP" pitchFamily="34" charset="-122"/>
                <a:cs typeface="Noto Sans JP" pitchFamily="34" charset="-120"/>
              </a:rPr>
              <a:t>万円 / 月</a:t>
            </a:r>
            <a:endParaRPr lang="en-US" sz="6000" dirty="0"/>
          </a:p>
        </p:txBody>
      </p:sp>
      <p:sp>
        <p:nvSpPr>
          <p:cNvPr id="30" name="Text 23"/>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31" name="Text 24"/>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7010705"/>
            <a:ext cx="12191695" cy="152705"/>
          </a:xfrm>
          <a:prstGeom prst="rect">
            <a:avLst/>
          </a:prstGeom>
          <a:solidFill>
            <a:srgbClr val="FFFFFF"/>
          </a:solidFill>
          <a:ln/>
        </p:spPr>
        <p:txBody>
          <a:bodyPr/>
          <a:lstStyle/>
          <a:p>
            <a:endParaRPr lang="ja-JP" altLang="en-US"/>
          </a:p>
        </p:txBody>
      </p:sp>
      <p:sp>
        <p:nvSpPr>
          <p:cNvPr id="4" name="Shape 2"/>
          <p:cNvSpPr/>
          <p:nvPr/>
        </p:nvSpPr>
        <p:spPr>
          <a:xfrm>
            <a:off x="0" y="7010705"/>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5" name="Text 3"/>
          <p:cNvSpPr txBox="1"/>
          <p:nvPr/>
        </p:nvSpPr>
        <p:spPr>
          <a:xfrm>
            <a:off x="381305" y="7019849"/>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6" name="Text 4"/>
          <p:cNvSpPr txBox="1"/>
          <p:nvPr/>
        </p:nvSpPr>
        <p:spPr>
          <a:xfrm>
            <a:off x="11698834" y="7019849"/>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18</a:t>
            </a:r>
            <a:endParaRPr lang="en-US" sz="800" dirty="0"/>
          </a:p>
        </p:txBody>
      </p:sp>
      <p:pic>
        <p:nvPicPr>
          <p:cNvPr id="7" name="Image 0" descr="preencoded.png"/>
          <p:cNvPicPr>
            <a:picLocks noChangeAspect="1"/>
          </p:cNvPicPr>
          <p:nvPr/>
        </p:nvPicPr>
        <p:blipFill>
          <a:blip r:embed="rId3"/>
          <a:srcRect l="-400" r="-400"/>
          <a:stretch/>
        </p:blipFill>
        <p:spPr>
          <a:xfrm>
            <a:off x="571500" y="776326"/>
            <a:ext cx="38405" cy="228600"/>
          </a:xfrm>
          <a:prstGeom prst="rect">
            <a:avLst/>
          </a:prstGeom>
        </p:spPr>
      </p:pic>
      <p:sp>
        <p:nvSpPr>
          <p:cNvPr id="8" name="Text 5"/>
          <p:cNvSpPr txBox="1"/>
          <p:nvPr/>
        </p:nvSpPr>
        <p:spPr>
          <a:xfrm>
            <a:off x="724205" y="761695"/>
            <a:ext cx="400507" cy="257861"/>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KPI</a:t>
            </a:r>
            <a:endParaRPr lang="en-US" sz="1300" dirty="0"/>
          </a:p>
        </p:txBody>
      </p:sp>
      <p:sp>
        <p:nvSpPr>
          <p:cNvPr id="9" name="Text 6"/>
          <p:cNvSpPr txBox="1"/>
          <p:nvPr/>
        </p:nvSpPr>
        <p:spPr>
          <a:xfrm>
            <a:off x="571500" y="1209751"/>
            <a:ext cx="11354105" cy="600761"/>
          </a:xfrm>
          <a:prstGeom prst="rect">
            <a:avLst/>
          </a:prstGeom>
          <a:noFill/>
          <a:ln/>
        </p:spPr>
        <p:txBody>
          <a:bodyPr wrap="square" lIns="0" tIns="0" rIns="0" bIns="0" rtlCol="0" anchor="ctr"/>
          <a:lstStyle/>
          <a:p>
            <a:pPr marL="0" indent="0" algn="l">
              <a:buNone/>
            </a:pPr>
            <a:r>
              <a:rPr lang="en-US" sz="3100" b="1" kern="0" spc="-75" dirty="0">
                <a:solidFill>
                  <a:srgbClr val="1A3A8A"/>
                </a:solidFill>
                <a:latin typeface="Noto Sans JP" pitchFamily="34" charset="0"/>
                <a:ea typeface="Noto Sans JP" pitchFamily="34" charset="-122"/>
                <a:cs typeface="Noto Sans JP" pitchFamily="34" charset="-120"/>
              </a:rPr>
              <a:t>KPI・成功指標</a:t>
            </a:r>
            <a:endParaRPr lang="en-US" sz="3100" dirty="0"/>
          </a:p>
        </p:txBody>
      </p:sp>
      <p:sp>
        <p:nvSpPr>
          <p:cNvPr id="10" name="Shape 7"/>
          <p:cNvSpPr/>
          <p:nvPr/>
        </p:nvSpPr>
        <p:spPr>
          <a:xfrm>
            <a:off x="571500" y="6001207"/>
            <a:ext cx="11048695" cy="629107"/>
          </a:xfrm>
          <a:prstGeom prst="roundRect">
            <a:avLst>
              <a:gd name="adj" fmla="val 35236"/>
            </a:avLst>
          </a:prstGeom>
          <a:solidFill>
            <a:srgbClr val="1A3A8A"/>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11" name="Text 8"/>
          <p:cNvSpPr txBox="1"/>
          <p:nvPr/>
        </p:nvSpPr>
        <p:spPr>
          <a:xfrm>
            <a:off x="3816706" y="6143854"/>
            <a:ext cx="4909414" cy="342900"/>
          </a:xfrm>
          <a:prstGeom prst="rect">
            <a:avLst/>
          </a:prstGeom>
          <a:noFill/>
          <a:ln/>
        </p:spPr>
        <p:txBody>
          <a:bodyPr wrap="square" lIns="0" tIns="0" rIns="0" bIns="0" rtlCol="0" anchor="ctr"/>
          <a:lstStyle/>
          <a:p>
            <a:pPr marL="0" indent="0" algn="l">
              <a:buNone/>
            </a:pPr>
            <a:r>
              <a:rPr lang="en-US" sz="1500" b="1" dirty="0">
                <a:solidFill>
                  <a:srgbClr val="FFFFFF"/>
                </a:solidFill>
                <a:latin typeface="Noto Sans JP" pitchFamily="34" charset="0"/>
                <a:ea typeface="Noto Sans JP" pitchFamily="34" charset="-122"/>
                <a:cs typeface="Noto Sans JP" pitchFamily="34" charset="-120"/>
              </a:rPr>
              <a:t> 2028年、メンズ芸能部門</a:t>
            </a:r>
            <a:r>
              <a:rPr lang="en-US" sz="1800" b="1" dirty="0">
                <a:solidFill>
                  <a:srgbClr val="1E8CA6"/>
                </a:solidFill>
                <a:latin typeface="Noto Sans JP" pitchFamily="34" charset="0"/>
                <a:ea typeface="Noto Sans JP" pitchFamily="34" charset="-122"/>
                <a:cs typeface="Noto Sans JP" pitchFamily="34" charset="-120"/>
              </a:rPr>
              <a:t>1位</a:t>
            </a:r>
            <a:r>
              <a:rPr lang="en-US" sz="1500" b="1" dirty="0">
                <a:solidFill>
                  <a:srgbClr val="FFFFFF"/>
                </a:solidFill>
                <a:latin typeface="Noto Sans JP" pitchFamily="34" charset="0"/>
                <a:ea typeface="Noto Sans JP" pitchFamily="34" charset="-122"/>
                <a:cs typeface="Noto Sans JP" pitchFamily="34" charset="-120"/>
              </a:rPr>
              <a:t> ＝ </a:t>
            </a:r>
            <a:r>
              <a:rPr lang="en-US" sz="1800" b="1" dirty="0">
                <a:solidFill>
                  <a:srgbClr val="1E8CA6"/>
                </a:solidFill>
                <a:latin typeface="Noto Sans JP" pitchFamily="34" charset="0"/>
                <a:ea typeface="Noto Sans JP" pitchFamily="34" charset="-122"/>
                <a:cs typeface="Noto Sans JP" pitchFamily="34" charset="-120"/>
              </a:rPr>
              <a:t>100億円IP</a:t>
            </a:r>
            <a:r>
              <a:rPr lang="en-US" sz="1500" b="1" dirty="0">
                <a:solidFill>
                  <a:srgbClr val="FFFFFF"/>
                </a:solidFill>
                <a:latin typeface="Noto Sans JP" pitchFamily="34" charset="0"/>
                <a:ea typeface="Noto Sans JP" pitchFamily="34" charset="-122"/>
                <a:cs typeface="Noto Sans JP" pitchFamily="34" charset="-120"/>
              </a:rPr>
              <a:t>の実現</a:t>
            </a:r>
            <a:endParaRPr lang="en-US" sz="1500" dirty="0"/>
          </a:p>
        </p:txBody>
      </p:sp>
      <p:pic>
        <p:nvPicPr>
          <p:cNvPr id="12" name="Image 1" descr="preencoded.png"/>
          <p:cNvPicPr>
            <a:picLocks noChangeAspect="1"/>
          </p:cNvPicPr>
          <p:nvPr/>
        </p:nvPicPr>
        <p:blipFill>
          <a:blip r:embed="rId4"/>
          <a:srcRect/>
          <a:stretch/>
        </p:blipFill>
        <p:spPr>
          <a:xfrm>
            <a:off x="3582619" y="6243523"/>
            <a:ext cx="190195" cy="190195"/>
          </a:xfrm>
          <a:prstGeom prst="rect">
            <a:avLst/>
          </a:prstGeom>
        </p:spPr>
      </p:pic>
      <p:sp>
        <p:nvSpPr>
          <p:cNvPr id="13" name="Shape 9"/>
          <p:cNvSpPr/>
          <p:nvPr/>
        </p:nvSpPr>
        <p:spPr>
          <a:xfrm>
            <a:off x="571500" y="2095805"/>
            <a:ext cx="5410505" cy="1695298"/>
          </a:xfrm>
          <a:prstGeom prst="roundRect">
            <a:avLst>
              <a:gd name="adj" fmla="val 4848"/>
            </a:avLst>
          </a:prstGeom>
          <a:solidFill>
            <a:srgbClr val="F8FAFC"/>
          </a:solidFill>
          <a:ln w="12700">
            <a:solidFill>
              <a:srgbClr val="E2E8F0"/>
            </a:solidFill>
            <a:prstDash val="solid"/>
          </a:ln>
        </p:spPr>
        <p:txBody>
          <a:bodyPr/>
          <a:lstStyle/>
          <a:p>
            <a:endParaRPr lang="ja-JP" altLang="en-US"/>
          </a:p>
        </p:txBody>
      </p:sp>
      <p:sp>
        <p:nvSpPr>
          <p:cNvPr id="14" name="Shape 10"/>
          <p:cNvSpPr/>
          <p:nvPr/>
        </p:nvSpPr>
        <p:spPr>
          <a:xfrm>
            <a:off x="571500" y="2095805"/>
            <a:ext cx="57607" cy="1676095"/>
          </a:xfrm>
          <a:prstGeom prst="rect">
            <a:avLst/>
          </a:prstGeom>
          <a:solidFill>
            <a:srgbClr val="1E8CA6"/>
          </a:solidFill>
          <a:ln w="12700">
            <a:solidFill>
              <a:srgbClr val="FFFFFF">
                <a:alpha val="0"/>
              </a:srgbClr>
            </a:solidFill>
            <a:prstDash val="solid"/>
          </a:ln>
        </p:spPr>
        <p:txBody>
          <a:bodyPr/>
          <a:lstStyle/>
          <a:p>
            <a:endParaRPr lang="ja-JP" altLang="en-US"/>
          </a:p>
        </p:txBody>
      </p:sp>
      <p:pic>
        <p:nvPicPr>
          <p:cNvPr id="15" name="Image 2" descr="preencoded.png"/>
          <p:cNvPicPr>
            <a:picLocks noChangeAspect="1"/>
          </p:cNvPicPr>
          <p:nvPr/>
        </p:nvPicPr>
        <p:blipFill>
          <a:blip r:embed="rId5"/>
          <a:srcRect l="-50" r="-50"/>
          <a:stretch/>
        </p:blipFill>
        <p:spPr>
          <a:xfrm>
            <a:off x="5438851" y="2295144"/>
            <a:ext cx="342900" cy="304495"/>
          </a:xfrm>
          <a:prstGeom prst="rect">
            <a:avLst/>
          </a:prstGeom>
        </p:spPr>
      </p:pic>
      <p:sp>
        <p:nvSpPr>
          <p:cNvPr id="16" name="Text 11"/>
          <p:cNvSpPr txBox="1"/>
          <p:nvPr/>
        </p:nvSpPr>
        <p:spPr>
          <a:xfrm>
            <a:off x="2619756" y="2476195"/>
            <a:ext cx="2077517" cy="609905"/>
          </a:xfrm>
          <a:prstGeom prst="rect">
            <a:avLst/>
          </a:prstGeom>
          <a:noFill/>
          <a:ln/>
        </p:spPr>
        <p:txBody>
          <a:bodyPr wrap="square" lIns="0" tIns="0" rIns="0" bIns="0" rtlCol="0" anchor="ctr"/>
          <a:lstStyle/>
          <a:p>
            <a:pPr marL="0" indent="0" algn="l">
              <a:buNone/>
            </a:pPr>
            <a:r>
              <a:rPr lang="en-US" sz="4800" b="1" kern="0" spc="-150" dirty="0">
                <a:solidFill>
                  <a:srgbClr val="1A3A8A"/>
                </a:solidFill>
                <a:latin typeface="Noto Sans JP" pitchFamily="34" charset="0"/>
                <a:ea typeface="Noto Sans JP" pitchFamily="34" charset="-122"/>
                <a:cs typeface="Noto Sans JP" pitchFamily="34" charset="-120"/>
              </a:rPr>
              <a:t>100</a:t>
            </a:r>
            <a:r>
              <a:rPr lang="en-US" sz="1800" b="1" kern="0" spc="-150" dirty="0">
                <a:solidFill>
                  <a:srgbClr val="64748B"/>
                </a:solidFill>
                <a:latin typeface="Noto Sans JP" pitchFamily="34" charset="0"/>
                <a:ea typeface="Noto Sans JP" pitchFamily="34" charset="-122"/>
                <a:cs typeface="Noto Sans JP" pitchFamily="34" charset="-120"/>
              </a:rPr>
              <a:t>万</a:t>
            </a:r>
            <a:endParaRPr lang="en-US" sz="4800" dirty="0"/>
          </a:p>
        </p:txBody>
      </p:sp>
      <p:sp>
        <p:nvSpPr>
          <p:cNvPr id="17" name="Text 12"/>
          <p:cNvSpPr txBox="1"/>
          <p:nvPr/>
        </p:nvSpPr>
        <p:spPr>
          <a:xfrm>
            <a:off x="2358238" y="3181198"/>
            <a:ext cx="1838858" cy="228600"/>
          </a:xfrm>
          <a:prstGeom prst="rect">
            <a:avLst/>
          </a:prstGeom>
          <a:noFill/>
          <a:ln/>
        </p:spPr>
        <p:txBody>
          <a:bodyPr wrap="square" lIns="0" tIns="0" rIns="0" bIns="0" rtlCol="0" anchor="ctr"/>
          <a:lstStyle/>
          <a:p>
            <a:pPr marL="0" indent="0" algn="ctr">
              <a:buNone/>
            </a:pPr>
            <a:r>
              <a:rPr lang="en-US" sz="1200" b="1" kern="0" spc="75" dirty="0">
                <a:solidFill>
                  <a:srgbClr val="475569"/>
                </a:solidFill>
                <a:latin typeface="Noto Sans JP" pitchFamily="34" charset="0"/>
                <a:ea typeface="Noto Sans JP" pitchFamily="34" charset="-122"/>
                <a:cs typeface="Noto Sans JP" pitchFamily="34" charset="-120"/>
              </a:rPr>
              <a:t>YouTube登録者数目標</a:t>
            </a:r>
            <a:endParaRPr lang="en-US" sz="1200" dirty="0"/>
          </a:p>
        </p:txBody>
      </p:sp>
      <p:sp>
        <p:nvSpPr>
          <p:cNvPr id="18" name="Shape 13"/>
          <p:cNvSpPr/>
          <p:nvPr/>
        </p:nvSpPr>
        <p:spPr>
          <a:xfrm>
            <a:off x="6210605" y="2095805"/>
            <a:ext cx="5410505" cy="1695298"/>
          </a:xfrm>
          <a:prstGeom prst="roundRect">
            <a:avLst>
              <a:gd name="adj" fmla="val 4848"/>
            </a:avLst>
          </a:prstGeom>
          <a:solidFill>
            <a:srgbClr val="F8FAFC"/>
          </a:solidFill>
          <a:ln w="12700">
            <a:solidFill>
              <a:srgbClr val="E2E8F0"/>
            </a:solidFill>
            <a:prstDash val="solid"/>
          </a:ln>
        </p:spPr>
        <p:txBody>
          <a:bodyPr/>
          <a:lstStyle/>
          <a:p>
            <a:endParaRPr lang="ja-JP" altLang="en-US"/>
          </a:p>
        </p:txBody>
      </p:sp>
      <p:sp>
        <p:nvSpPr>
          <p:cNvPr id="19" name="Shape 14"/>
          <p:cNvSpPr/>
          <p:nvPr/>
        </p:nvSpPr>
        <p:spPr>
          <a:xfrm>
            <a:off x="6210605" y="2095805"/>
            <a:ext cx="57607" cy="1676095"/>
          </a:xfrm>
          <a:prstGeom prst="rect">
            <a:avLst/>
          </a:prstGeom>
          <a:solidFill>
            <a:srgbClr val="1A3A8A"/>
          </a:solidFill>
          <a:ln w="12700">
            <a:solidFill>
              <a:srgbClr val="FFFFFF">
                <a:alpha val="0"/>
              </a:srgbClr>
            </a:solidFill>
            <a:prstDash val="solid"/>
          </a:ln>
        </p:spPr>
        <p:txBody>
          <a:bodyPr/>
          <a:lstStyle/>
          <a:p>
            <a:endParaRPr lang="ja-JP" altLang="en-US"/>
          </a:p>
        </p:txBody>
      </p:sp>
      <p:pic>
        <p:nvPicPr>
          <p:cNvPr id="20" name="Image 3" descr="preencoded.png"/>
          <p:cNvPicPr>
            <a:picLocks noChangeAspect="1"/>
          </p:cNvPicPr>
          <p:nvPr/>
        </p:nvPicPr>
        <p:blipFill>
          <a:blip r:embed="rId6"/>
          <a:srcRect l="-107" r="-107"/>
          <a:stretch/>
        </p:blipFill>
        <p:spPr>
          <a:xfrm>
            <a:off x="11153851" y="2295144"/>
            <a:ext cx="267005" cy="304495"/>
          </a:xfrm>
          <a:prstGeom prst="rect">
            <a:avLst/>
          </a:prstGeom>
        </p:spPr>
      </p:pic>
      <p:sp>
        <p:nvSpPr>
          <p:cNvPr id="21" name="Text 15"/>
          <p:cNvSpPr txBox="1"/>
          <p:nvPr/>
        </p:nvSpPr>
        <p:spPr>
          <a:xfrm>
            <a:off x="8082382" y="2476195"/>
            <a:ext cx="2532888" cy="609905"/>
          </a:xfrm>
          <a:prstGeom prst="rect">
            <a:avLst/>
          </a:prstGeom>
          <a:noFill/>
          <a:ln/>
        </p:spPr>
        <p:txBody>
          <a:bodyPr wrap="square" lIns="0" tIns="0" rIns="0" bIns="0" rtlCol="0" anchor="ctr"/>
          <a:lstStyle/>
          <a:p>
            <a:pPr marL="0" indent="0" algn="l">
              <a:buNone/>
            </a:pPr>
            <a:r>
              <a:rPr lang="en-US" sz="4800" b="1" kern="0" spc="-150" dirty="0">
                <a:solidFill>
                  <a:srgbClr val="1A3A8A"/>
                </a:solidFill>
                <a:latin typeface="Noto Sans JP" pitchFamily="34" charset="0"/>
                <a:ea typeface="Noto Sans JP" pitchFamily="34" charset="-122"/>
                <a:cs typeface="Noto Sans JP" pitchFamily="34" charset="-120"/>
              </a:rPr>
              <a:t>2028</a:t>
            </a:r>
            <a:r>
              <a:rPr lang="en-US" sz="1800" b="1" kern="0" spc="-150" dirty="0">
                <a:solidFill>
                  <a:srgbClr val="64748B"/>
                </a:solidFill>
                <a:latin typeface="Noto Sans JP" pitchFamily="34" charset="0"/>
                <a:ea typeface="Noto Sans JP" pitchFamily="34" charset="-122"/>
                <a:cs typeface="Noto Sans JP" pitchFamily="34" charset="-120"/>
              </a:rPr>
              <a:t>年</a:t>
            </a:r>
            <a:endParaRPr lang="en-US" sz="4800" dirty="0"/>
          </a:p>
        </p:txBody>
      </p:sp>
      <p:sp>
        <p:nvSpPr>
          <p:cNvPr id="22" name="Text 16"/>
          <p:cNvSpPr txBox="1"/>
          <p:nvPr/>
        </p:nvSpPr>
        <p:spPr>
          <a:xfrm>
            <a:off x="8471916" y="3181198"/>
            <a:ext cx="896112" cy="228600"/>
          </a:xfrm>
          <a:prstGeom prst="rect">
            <a:avLst/>
          </a:prstGeom>
          <a:noFill/>
          <a:ln/>
        </p:spPr>
        <p:txBody>
          <a:bodyPr wrap="square" lIns="0" tIns="0" rIns="0" bIns="0" rtlCol="0" anchor="ctr"/>
          <a:lstStyle/>
          <a:p>
            <a:pPr marL="0" indent="0" algn="ctr">
              <a:buNone/>
            </a:pPr>
            <a:r>
              <a:rPr lang="en-US" sz="1200" b="1" kern="0" spc="75" dirty="0">
                <a:solidFill>
                  <a:srgbClr val="475569"/>
                </a:solidFill>
                <a:latin typeface="Noto Sans JP" pitchFamily="34" charset="0"/>
                <a:ea typeface="Noto Sans JP" pitchFamily="34" charset="-122"/>
                <a:cs typeface="Noto Sans JP" pitchFamily="34" charset="-120"/>
              </a:rPr>
              <a:t>目標達成年</a:t>
            </a:r>
            <a:endParaRPr lang="en-US" sz="1200" dirty="0"/>
          </a:p>
        </p:txBody>
      </p:sp>
      <p:sp>
        <p:nvSpPr>
          <p:cNvPr id="23" name="Shape 17"/>
          <p:cNvSpPr/>
          <p:nvPr/>
        </p:nvSpPr>
        <p:spPr>
          <a:xfrm>
            <a:off x="571500" y="4019702"/>
            <a:ext cx="5410505" cy="1695298"/>
          </a:xfrm>
          <a:prstGeom prst="roundRect">
            <a:avLst>
              <a:gd name="adj" fmla="val 4848"/>
            </a:avLst>
          </a:prstGeom>
          <a:solidFill>
            <a:srgbClr val="F8FAFC"/>
          </a:solidFill>
          <a:ln w="12700">
            <a:solidFill>
              <a:srgbClr val="E2E8F0"/>
            </a:solidFill>
            <a:prstDash val="solid"/>
          </a:ln>
        </p:spPr>
        <p:txBody>
          <a:bodyPr/>
          <a:lstStyle/>
          <a:p>
            <a:endParaRPr lang="ja-JP" altLang="en-US"/>
          </a:p>
        </p:txBody>
      </p:sp>
      <p:sp>
        <p:nvSpPr>
          <p:cNvPr id="24" name="Shape 18"/>
          <p:cNvSpPr/>
          <p:nvPr/>
        </p:nvSpPr>
        <p:spPr>
          <a:xfrm>
            <a:off x="571500" y="4019702"/>
            <a:ext cx="57607" cy="1676095"/>
          </a:xfrm>
          <a:prstGeom prst="rect">
            <a:avLst/>
          </a:prstGeom>
          <a:solidFill>
            <a:srgbClr val="1A3A8A"/>
          </a:solidFill>
          <a:ln w="12700">
            <a:solidFill>
              <a:srgbClr val="FFFFFF">
                <a:alpha val="0"/>
              </a:srgbClr>
            </a:solidFill>
            <a:prstDash val="solid"/>
          </a:ln>
        </p:spPr>
        <p:txBody>
          <a:bodyPr/>
          <a:lstStyle/>
          <a:p>
            <a:endParaRPr lang="ja-JP" altLang="en-US"/>
          </a:p>
        </p:txBody>
      </p:sp>
      <p:pic>
        <p:nvPicPr>
          <p:cNvPr id="25" name="Image 4" descr="preencoded.png"/>
          <p:cNvPicPr>
            <a:picLocks noChangeAspect="1"/>
          </p:cNvPicPr>
          <p:nvPr/>
        </p:nvPicPr>
        <p:blipFill>
          <a:blip r:embed="rId7"/>
          <a:srcRect/>
          <a:stretch/>
        </p:blipFill>
        <p:spPr>
          <a:xfrm>
            <a:off x="5477256" y="4219956"/>
            <a:ext cx="304495" cy="304495"/>
          </a:xfrm>
          <a:prstGeom prst="rect">
            <a:avLst/>
          </a:prstGeom>
        </p:spPr>
      </p:pic>
      <p:sp>
        <p:nvSpPr>
          <p:cNvPr id="26" name="Text 19"/>
          <p:cNvSpPr txBox="1"/>
          <p:nvPr/>
        </p:nvSpPr>
        <p:spPr>
          <a:xfrm>
            <a:off x="2479853" y="4401007"/>
            <a:ext cx="2528316" cy="609905"/>
          </a:xfrm>
          <a:prstGeom prst="rect">
            <a:avLst/>
          </a:prstGeom>
          <a:noFill/>
          <a:ln/>
        </p:spPr>
        <p:txBody>
          <a:bodyPr wrap="square" lIns="0" tIns="0" rIns="0" bIns="0" rtlCol="0" anchor="ctr"/>
          <a:lstStyle/>
          <a:p>
            <a:pPr marL="0" indent="0" algn="l">
              <a:buNone/>
            </a:pPr>
            <a:r>
              <a:rPr lang="en-US" sz="4800" b="1" kern="0" spc="-150" dirty="0">
                <a:solidFill>
                  <a:srgbClr val="1A3A8A"/>
                </a:solidFill>
                <a:latin typeface="Noto Sans JP" pitchFamily="34" charset="0"/>
                <a:ea typeface="Noto Sans JP" pitchFamily="34" charset="-122"/>
                <a:cs typeface="Noto Sans JP" pitchFamily="34" charset="-120"/>
              </a:rPr>
              <a:t>300</a:t>
            </a:r>
            <a:r>
              <a:rPr lang="en-US" sz="1800" b="1" kern="0" spc="-150" dirty="0">
                <a:solidFill>
                  <a:srgbClr val="64748B"/>
                </a:solidFill>
                <a:latin typeface="Noto Sans JP" pitchFamily="34" charset="0"/>
                <a:ea typeface="Noto Sans JP" pitchFamily="34" charset="-122"/>
                <a:cs typeface="Noto Sans JP" pitchFamily="34" charset="-120"/>
              </a:rPr>
              <a:t>万/月</a:t>
            </a:r>
            <a:endParaRPr lang="en-US" sz="4800" dirty="0"/>
          </a:p>
        </p:txBody>
      </p:sp>
      <p:sp>
        <p:nvSpPr>
          <p:cNvPr id="27" name="Text 20"/>
          <p:cNvSpPr txBox="1"/>
          <p:nvPr/>
        </p:nvSpPr>
        <p:spPr>
          <a:xfrm>
            <a:off x="2751430" y="5105095"/>
            <a:ext cx="1059790" cy="228600"/>
          </a:xfrm>
          <a:prstGeom prst="rect">
            <a:avLst/>
          </a:prstGeom>
          <a:noFill/>
          <a:ln/>
        </p:spPr>
        <p:txBody>
          <a:bodyPr wrap="square" lIns="0" tIns="0" rIns="0" bIns="0" rtlCol="0" anchor="ctr"/>
          <a:lstStyle/>
          <a:p>
            <a:pPr marL="0" indent="0" algn="ctr">
              <a:buNone/>
            </a:pPr>
            <a:r>
              <a:rPr lang="en-US" sz="1200" b="1" kern="0" spc="75" dirty="0">
                <a:solidFill>
                  <a:srgbClr val="475569"/>
                </a:solidFill>
                <a:latin typeface="Noto Sans JP" pitchFamily="34" charset="0"/>
                <a:ea typeface="Noto Sans JP" pitchFamily="34" charset="-122"/>
                <a:cs typeface="Noto Sans JP" pitchFamily="34" charset="-120"/>
              </a:rPr>
              <a:t>月次制作予算</a:t>
            </a:r>
            <a:endParaRPr lang="en-US" sz="1200" dirty="0"/>
          </a:p>
        </p:txBody>
      </p:sp>
      <p:sp>
        <p:nvSpPr>
          <p:cNvPr id="28" name="Shape 21"/>
          <p:cNvSpPr/>
          <p:nvPr/>
        </p:nvSpPr>
        <p:spPr>
          <a:xfrm>
            <a:off x="6210605" y="4019702"/>
            <a:ext cx="5410505" cy="1695298"/>
          </a:xfrm>
          <a:prstGeom prst="roundRect">
            <a:avLst>
              <a:gd name="adj" fmla="val 4848"/>
            </a:avLst>
          </a:prstGeom>
          <a:solidFill>
            <a:srgbClr val="F8FAFC"/>
          </a:solidFill>
          <a:ln w="12700">
            <a:solidFill>
              <a:srgbClr val="E2E8F0"/>
            </a:solidFill>
            <a:prstDash val="solid"/>
          </a:ln>
        </p:spPr>
        <p:txBody>
          <a:bodyPr/>
          <a:lstStyle/>
          <a:p>
            <a:endParaRPr lang="ja-JP" altLang="en-US"/>
          </a:p>
        </p:txBody>
      </p:sp>
      <p:sp>
        <p:nvSpPr>
          <p:cNvPr id="29" name="Shape 22"/>
          <p:cNvSpPr/>
          <p:nvPr/>
        </p:nvSpPr>
        <p:spPr>
          <a:xfrm>
            <a:off x="6210605" y="4019702"/>
            <a:ext cx="57607" cy="1676095"/>
          </a:xfrm>
          <a:prstGeom prst="rect">
            <a:avLst/>
          </a:prstGeom>
          <a:solidFill>
            <a:srgbClr val="1E8CA6"/>
          </a:solidFill>
          <a:ln w="12700">
            <a:solidFill>
              <a:srgbClr val="FFFFFF">
                <a:alpha val="0"/>
              </a:srgbClr>
            </a:solidFill>
            <a:prstDash val="solid"/>
          </a:ln>
        </p:spPr>
        <p:txBody>
          <a:bodyPr/>
          <a:lstStyle/>
          <a:p>
            <a:endParaRPr lang="ja-JP" altLang="en-US"/>
          </a:p>
        </p:txBody>
      </p:sp>
      <p:pic>
        <p:nvPicPr>
          <p:cNvPr id="30" name="Image 5" descr="preencoded.png"/>
          <p:cNvPicPr>
            <a:picLocks noChangeAspect="1"/>
          </p:cNvPicPr>
          <p:nvPr/>
        </p:nvPicPr>
        <p:blipFill>
          <a:blip r:embed="rId8"/>
          <a:srcRect l="-50" r="-50"/>
          <a:stretch/>
        </p:blipFill>
        <p:spPr>
          <a:xfrm>
            <a:off x="11077956" y="4219956"/>
            <a:ext cx="342900" cy="304495"/>
          </a:xfrm>
          <a:prstGeom prst="rect">
            <a:avLst/>
          </a:prstGeom>
        </p:spPr>
      </p:pic>
      <p:sp>
        <p:nvSpPr>
          <p:cNvPr id="31" name="Text 23"/>
          <p:cNvSpPr txBox="1"/>
          <p:nvPr/>
        </p:nvSpPr>
        <p:spPr>
          <a:xfrm>
            <a:off x="8610905" y="4401007"/>
            <a:ext cx="963778" cy="609905"/>
          </a:xfrm>
          <a:prstGeom prst="rect">
            <a:avLst/>
          </a:prstGeom>
          <a:noFill/>
          <a:ln/>
        </p:spPr>
        <p:txBody>
          <a:bodyPr wrap="square" lIns="0" tIns="0" rIns="0" bIns="0" rtlCol="0" anchor="ctr"/>
          <a:lstStyle/>
          <a:p>
            <a:pPr marL="0" indent="0" algn="l">
              <a:buNone/>
            </a:pPr>
            <a:r>
              <a:rPr lang="en-US" sz="4800" b="1" kern="0" spc="-150" dirty="0">
                <a:solidFill>
                  <a:srgbClr val="1A3A8A"/>
                </a:solidFill>
                <a:latin typeface="Noto Sans JP" pitchFamily="34" charset="0"/>
                <a:ea typeface="Noto Sans JP" pitchFamily="34" charset="-122"/>
                <a:cs typeface="Noto Sans JP" pitchFamily="34" charset="-120"/>
              </a:rPr>
              <a:t>1</a:t>
            </a:r>
            <a:r>
              <a:rPr lang="en-US" sz="1800" b="1" kern="0" spc="-150" dirty="0">
                <a:solidFill>
                  <a:srgbClr val="64748B"/>
                </a:solidFill>
                <a:latin typeface="Noto Sans JP" pitchFamily="34" charset="0"/>
                <a:ea typeface="Noto Sans JP" pitchFamily="34" charset="-122"/>
                <a:cs typeface="Noto Sans JP" pitchFamily="34" charset="-120"/>
              </a:rPr>
              <a:t>位</a:t>
            </a:r>
            <a:endParaRPr lang="en-US" sz="4800" dirty="0"/>
          </a:p>
        </p:txBody>
      </p:sp>
      <p:sp>
        <p:nvSpPr>
          <p:cNvPr id="32" name="Text 24"/>
          <p:cNvSpPr txBox="1"/>
          <p:nvPr/>
        </p:nvSpPr>
        <p:spPr>
          <a:xfrm>
            <a:off x="7955280" y="5105095"/>
            <a:ext cx="1923898" cy="228600"/>
          </a:xfrm>
          <a:prstGeom prst="rect">
            <a:avLst/>
          </a:prstGeom>
          <a:noFill/>
          <a:ln/>
        </p:spPr>
        <p:txBody>
          <a:bodyPr wrap="square" lIns="0" tIns="0" rIns="0" bIns="0" rtlCol="0" anchor="ctr"/>
          <a:lstStyle/>
          <a:p>
            <a:pPr marL="0" indent="0" algn="ctr">
              <a:buNone/>
            </a:pPr>
            <a:r>
              <a:rPr lang="en-US" sz="1200" b="1" kern="0" spc="75" dirty="0">
                <a:solidFill>
                  <a:srgbClr val="475569"/>
                </a:solidFill>
                <a:latin typeface="Noto Sans JP" pitchFamily="34" charset="0"/>
                <a:ea typeface="Noto Sans JP" pitchFamily="34" charset="-122"/>
                <a:cs typeface="Noto Sans JP" pitchFamily="34" charset="-120"/>
              </a:rPr>
              <a:t>メンズ芸能部門順位目標</a:t>
            </a:r>
            <a:endParaRPr lang="en-US" sz="1200" dirty="0"/>
          </a:p>
        </p:txBody>
      </p:sp>
      <p:sp>
        <p:nvSpPr>
          <p:cNvPr id="33" name="Text 25"/>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34" name="Text 26"/>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6981444"/>
            <a:ext cx="12191695" cy="342900"/>
          </a:xfrm>
          <a:prstGeom prst="rect">
            <a:avLst/>
          </a:prstGeom>
          <a:solidFill>
            <a:srgbClr val="FFFFFF"/>
          </a:solidFill>
          <a:ln/>
        </p:spPr>
        <p:txBody>
          <a:bodyPr/>
          <a:lstStyle/>
          <a:p>
            <a:endParaRPr lang="ja-JP" altLang="en-US"/>
          </a:p>
        </p:txBody>
      </p:sp>
      <p:sp>
        <p:nvSpPr>
          <p:cNvPr id="4" name="Shape 2"/>
          <p:cNvSpPr/>
          <p:nvPr/>
        </p:nvSpPr>
        <p:spPr>
          <a:xfrm>
            <a:off x="0" y="6981444"/>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5" name="Text 3"/>
          <p:cNvSpPr txBox="1"/>
          <p:nvPr/>
        </p:nvSpPr>
        <p:spPr>
          <a:xfrm>
            <a:off x="381305" y="7086600"/>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6" name="Text 4"/>
          <p:cNvSpPr txBox="1"/>
          <p:nvPr/>
        </p:nvSpPr>
        <p:spPr>
          <a:xfrm>
            <a:off x="11698834" y="7086600"/>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19</a:t>
            </a:r>
            <a:endParaRPr lang="en-US" sz="800" dirty="0"/>
          </a:p>
        </p:txBody>
      </p:sp>
      <p:pic>
        <p:nvPicPr>
          <p:cNvPr id="7" name="Image 0" descr="preencoded.png"/>
          <p:cNvPicPr>
            <a:picLocks noChangeAspect="1"/>
          </p:cNvPicPr>
          <p:nvPr/>
        </p:nvPicPr>
        <p:blipFill>
          <a:blip r:embed="rId3"/>
          <a:srcRect l="-400" r="-400"/>
          <a:stretch/>
        </p:blipFill>
        <p:spPr>
          <a:xfrm>
            <a:off x="571500" y="942746"/>
            <a:ext cx="38405" cy="228600"/>
          </a:xfrm>
          <a:prstGeom prst="rect">
            <a:avLst/>
          </a:prstGeom>
        </p:spPr>
      </p:pic>
      <p:sp>
        <p:nvSpPr>
          <p:cNvPr id="8" name="Text 5"/>
          <p:cNvSpPr txBox="1"/>
          <p:nvPr/>
        </p:nvSpPr>
        <p:spPr>
          <a:xfrm>
            <a:off x="724205" y="933602"/>
            <a:ext cx="1173175" cy="247802"/>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ロードマップ</a:t>
            </a:r>
            <a:endParaRPr lang="en-US" sz="1300" dirty="0"/>
          </a:p>
        </p:txBody>
      </p:sp>
      <p:sp>
        <p:nvSpPr>
          <p:cNvPr id="9" name="Text 6"/>
          <p:cNvSpPr txBox="1"/>
          <p:nvPr/>
        </p:nvSpPr>
        <p:spPr>
          <a:xfrm>
            <a:off x="571500" y="1543507"/>
            <a:ext cx="11239805" cy="581558"/>
          </a:xfrm>
          <a:prstGeom prst="rect">
            <a:avLst/>
          </a:prstGeom>
          <a:noFill/>
          <a:ln/>
        </p:spPr>
        <p:txBody>
          <a:bodyPr wrap="square" lIns="0" tIns="0" rIns="0" bIns="0" rtlCol="0" anchor="ctr"/>
          <a:lstStyle/>
          <a:p>
            <a:pPr marL="0" indent="0" algn="l">
              <a:buNone/>
            </a:pPr>
            <a:r>
              <a:rPr lang="en-US" sz="3100" b="1" kern="0" spc="-75" dirty="0">
                <a:solidFill>
                  <a:srgbClr val="1A3A8A"/>
                </a:solidFill>
                <a:latin typeface="Noto Sans JP" pitchFamily="34" charset="0"/>
                <a:ea typeface="Noto Sans JP" pitchFamily="34" charset="-122"/>
                <a:cs typeface="Noto Sans JP" pitchFamily="34" charset="-120"/>
              </a:rPr>
              <a:t>2026-2028 詳細ロードマップ</a:t>
            </a:r>
            <a:endParaRPr lang="en-US" sz="3100" dirty="0"/>
          </a:p>
        </p:txBody>
      </p:sp>
      <p:pic>
        <p:nvPicPr>
          <p:cNvPr id="10" name="Image 1" descr="preencoded.png"/>
          <p:cNvPicPr>
            <a:picLocks noChangeAspect="1"/>
          </p:cNvPicPr>
          <p:nvPr/>
        </p:nvPicPr>
        <p:blipFill>
          <a:blip r:embed="rId4"/>
          <a:srcRect l="-2" r="-2"/>
          <a:stretch/>
        </p:blipFill>
        <p:spPr>
          <a:xfrm>
            <a:off x="571500" y="2600554"/>
            <a:ext cx="3556102" cy="4000500"/>
          </a:xfrm>
          <a:prstGeom prst="rect">
            <a:avLst/>
          </a:prstGeom>
        </p:spPr>
      </p:pic>
      <p:sp>
        <p:nvSpPr>
          <p:cNvPr id="11" name="Shape 7"/>
          <p:cNvSpPr/>
          <p:nvPr/>
        </p:nvSpPr>
        <p:spPr>
          <a:xfrm>
            <a:off x="771754" y="4934102"/>
            <a:ext cx="3161995" cy="19202"/>
          </a:xfrm>
          <a:prstGeom prst="rect">
            <a:avLst/>
          </a:prstGeom>
          <a:solidFill>
            <a:srgbClr val="1A3A8A"/>
          </a:solidFill>
          <a:ln w="12700">
            <a:solidFill>
              <a:srgbClr val="1A3A8A">
                <a:alpha val="0"/>
              </a:srgbClr>
            </a:solidFill>
            <a:prstDash val="solid"/>
          </a:ln>
        </p:spPr>
        <p:txBody>
          <a:bodyPr/>
          <a:lstStyle/>
          <a:p>
            <a:endParaRPr lang="ja-JP" altLang="en-US"/>
          </a:p>
        </p:txBody>
      </p:sp>
      <p:sp>
        <p:nvSpPr>
          <p:cNvPr id="12" name="Text 8"/>
          <p:cNvSpPr txBox="1"/>
          <p:nvPr/>
        </p:nvSpPr>
        <p:spPr>
          <a:xfrm>
            <a:off x="733349" y="4591202"/>
            <a:ext cx="3238805" cy="247802"/>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ctr">
              <a:buNone/>
            </a:pPr>
            <a:r>
              <a:rPr lang="en-US" sz="1300" b="1" dirty="0">
                <a:solidFill>
                  <a:srgbClr val="1A3A8A"/>
                </a:solidFill>
                <a:latin typeface="Noto Sans JP" pitchFamily="34" charset="0"/>
                <a:ea typeface="Noto Sans JP" pitchFamily="34" charset="-122"/>
                <a:cs typeface="Noto Sans JP" pitchFamily="34" charset="-120"/>
              </a:rPr>
              <a:t>SNS始動・認知拡大</a:t>
            </a:r>
            <a:endParaRPr lang="en-US" sz="1300" dirty="0"/>
          </a:p>
        </p:txBody>
      </p:sp>
      <p:sp>
        <p:nvSpPr>
          <p:cNvPr id="13" name="Text 9"/>
          <p:cNvSpPr txBox="1"/>
          <p:nvPr/>
        </p:nvSpPr>
        <p:spPr>
          <a:xfrm>
            <a:off x="981151" y="5095951"/>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SNSアカウント開設・運用開始</a:t>
            </a:r>
            <a:endParaRPr lang="en-US" sz="1000" dirty="0"/>
          </a:p>
        </p:txBody>
      </p:sp>
      <p:pic>
        <p:nvPicPr>
          <p:cNvPr id="14" name="Image 2" descr="preencoded.png"/>
          <p:cNvPicPr>
            <a:picLocks noChangeAspect="1"/>
          </p:cNvPicPr>
          <p:nvPr/>
        </p:nvPicPr>
        <p:blipFill>
          <a:blip r:embed="rId5"/>
          <a:srcRect/>
          <a:stretch/>
        </p:blipFill>
        <p:spPr>
          <a:xfrm>
            <a:off x="771754" y="5134356"/>
            <a:ext cx="114300" cy="114300"/>
          </a:xfrm>
          <a:prstGeom prst="rect">
            <a:avLst/>
          </a:prstGeom>
        </p:spPr>
      </p:pic>
      <p:sp>
        <p:nvSpPr>
          <p:cNvPr id="15" name="Text 10"/>
          <p:cNvSpPr txBox="1"/>
          <p:nvPr/>
        </p:nvSpPr>
        <p:spPr>
          <a:xfrm>
            <a:off x="981151" y="5410505"/>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「学園」ショート動画量産体制確立</a:t>
            </a:r>
            <a:endParaRPr lang="en-US" sz="1000" dirty="0"/>
          </a:p>
        </p:txBody>
      </p:sp>
      <p:pic>
        <p:nvPicPr>
          <p:cNvPr id="16" name="Image 3" descr="preencoded.png"/>
          <p:cNvPicPr>
            <a:picLocks noChangeAspect="1"/>
          </p:cNvPicPr>
          <p:nvPr/>
        </p:nvPicPr>
        <p:blipFill>
          <a:blip r:embed="rId5"/>
          <a:srcRect/>
          <a:stretch/>
        </p:blipFill>
        <p:spPr>
          <a:xfrm>
            <a:off x="771754" y="5447995"/>
            <a:ext cx="114300" cy="114300"/>
          </a:xfrm>
          <a:prstGeom prst="rect">
            <a:avLst/>
          </a:prstGeom>
        </p:spPr>
      </p:pic>
      <p:sp>
        <p:nvSpPr>
          <p:cNvPr id="17" name="Text 11"/>
          <p:cNvSpPr txBox="1"/>
          <p:nvPr/>
        </p:nvSpPr>
        <p:spPr>
          <a:xfrm>
            <a:off x="981151" y="5724144"/>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TGC TEENでのデビューお披露目</a:t>
            </a:r>
            <a:endParaRPr lang="en-US" sz="1000" dirty="0"/>
          </a:p>
        </p:txBody>
      </p:sp>
      <p:pic>
        <p:nvPicPr>
          <p:cNvPr id="18" name="Image 4" descr="preencoded.png"/>
          <p:cNvPicPr>
            <a:picLocks noChangeAspect="1"/>
          </p:cNvPicPr>
          <p:nvPr/>
        </p:nvPicPr>
        <p:blipFill>
          <a:blip r:embed="rId5"/>
          <a:srcRect/>
          <a:stretch/>
        </p:blipFill>
        <p:spPr>
          <a:xfrm>
            <a:off x="771754" y="5762549"/>
            <a:ext cx="114300" cy="114300"/>
          </a:xfrm>
          <a:prstGeom prst="rect">
            <a:avLst/>
          </a:prstGeom>
        </p:spPr>
      </p:pic>
      <p:sp>
        <p:nvSpPr>
          <p:cNvPr id="19" name="Text 12"/>
          <p:cNvSpPr txBox="1"/>
          <p:nvPr/>
        </p:nvSpPr>
        <p:spPr>
          <a:xfrm>
            <a:off x="981151" y="6038698"/>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初期コアファン（F1層）の獲得</a:t>
            </a:r>
            <a:endParaRPr lang="en-US" sz="1000" dirty="0"/>
          </a:p>
        </p:txBody>
      </p:sp>
      <p:pic>
        <p:nvPicPr>
          <p:cNvPr id="20" name="Image 5" descr="preencoded.png"/>
          <p:cNvPicPr>
            <a:picLocks noChangeAspect="1"/>
          </p:cNvPicPr>
          <p:nvPr/>
        </p:nvPicPr>
        <p:blipFill>
          <a:blip r:embed="rId5"/>
          <a:srcRect/>
          <a:stretch/>
        </p:blipFill>
        <p:spPr>
          <a:xfrm>
            <a:off x="771754" y="6077102"/>
            <a:ext cx="114300" cy="114300"/>
          </a:xfrm>
          <a:prstGeom prst="rect">
            <a:avLst/>
          </a:prstGeom>
        </p:spPr>
      </p:pic>
      <p:pic>
        <p:nvPicPr>
          <p:cNvPr id="21" name="Image 6" descr="preencoded.png"/>
          <p:cNvPicPr>
            <a:picLocks noChangeAspect="1"/>
          </p:cNvPicPr>
          <p:nvPr/>
        </p:nvPicPr>
        <p:blipFill>
          <a:blip r:embed="rId6"/>
          <a:srcRect/>
          <a:stretch/>
        </p:blipFill>
        <p:spPr>
          <a:xfrm>
            <a:off x="2158898" y="6353251"/>
            <a:ext cx="381305" cy="381305"/>
          </a:xfrm>
          <a:prstGeom prst="rect">
            <a:avLst/>
          </a:prstGeom>
        </p:spPr>
      </p:pic>
      <p:sp>
        <p:nvSpPr>
          <p:cNvPr id="22" name="Shape 13"/>
          <p:cNvSpPr/>
          <p:nvPr/>
        </p:nvSpPr>
        <p:spPr>
          <a:xfrm>
            <a:off x="580644" y="2609698"/>
            <a:ext cx="3543300" cy="1524305"/>
          </a:xfrm>
          <a:prstGeom prst="roundRect">
            <a:avLst>
              <a:gd name="adj" fmla="val 8998"/>
            </a:avLst>
          </a:prstGeom>
          <a:solidFill>
            <a:srgbClr val="1A3A8A"/>
          </a:solidFill>
          <a:ln w="12700">
            <a:solidFill>
              <a:srgbClr val="FFFFFF">
                <a:alpha val="0"/>
              </a:srgbClr>
            </a:solidFill>
            <a:prstDash val="solid"/>
          </a:ln>
        </p:spPr>
        <p:txBody>
          <a:bodyPr/>
          <a:lstStyle/>
          <a:p>
            <a:endParaRPr lang="ja-JP" altLang="en-US"/>
          </a:p>
        </p:txBody>
      </p:sp>
      <p:sp>
        <p:nvSpPr>
          <p:cNvPr id="23" name="Text 14"/>
          <p:cNvSpPr txBox="1"/>
          <p:nvPr/>
        </p:nvSpPr>
        <p:spPr>
          <a:xfrm>
            <a:off x="676656" y="3143707"/>
            <a:ext cx="3353105" cy="342900"/>
          </a:xfrm>
          <a:prstGeom prst="rect">
            <a:avLst/>
          </a:prstGeom>
          <a:noFill/>
          <a:ln/>
        </p:spPr>
        <p:txBody>
          <a:bodyPr wrap="square" lIns="0" tIns="0" rIns="0" bIns="0" rtlCol="0" anchor="ctr"/>
          <a:lstStyle/>
          <a:p>
            <a:pPr marL="0" indent="0" algn="ctr">
              <a:buNone/>
            </a:pPr>
            <a:r>
              <a:rPr lang="en-US" sz="2700" b="1" dirty="0">
                <a:solidFill>
                  <a:srgbClr val="FFFFFF"/>
                </a:solidFill>
                <a:latin typeface="Noto Sans JP" pitchFamily="34" charset="0"/>
                <a:ea typeface="Noto Sans JP" pitchFamily="34" charset="-122"/>
                <a:cs typeface="Noto Sans JP" pitchFamily="34" charset="-120"/>
              </a:rPr>
              <a:t>2026</a:t>
            </a:r>
            <a:endParaRPr lang="en-US" sz="2700" dirty="0"/>
          </a:p>
        </p:txBody>
      </p:sp>
      <p:sp>
        <p:nvSpPr>
          <p:cNvPr id="24" name="Text 15"/>
          <p:cNvSpPr txBox="1"/>
          <p:nvPr/>
        </p:nvSpPr>
        <p:spPr>
          <a:xfrm>
            <a:off x="714146" y="3619195"/>
            <a:ext cx="3277210" cy="191110"/>
          </a:xfrm>
          <a:prstGeom prst="rect">
            <a:avLst/>
          </a:prstGeom>
          <a:noFill/>
          <a:ln/>
        </p:spPr>
        <p:txBody>
          <a:bodyPr wrap="square" lIns="0" tIns="0" rIns="0" bIns="0" rtlCol="0" anchor="ctr"/>
          <a:lstStyle/>
          <a:p>
            <a:pPr marL="0" indent="0" algn="ctr">
              <a:buNone/>
            </a:pPr>
            <a:r>
              <a:rPr lang="en-US" sz="1000" b="1" kern="0" spc="75" dirty="0">
                <a:solidFill>
                  <a:srgbClr val="FFFFFF">
                    <a:alpha val="90000"/>
                  </a:srgbClr>
                </a:solidFill>
                <a:latin typeface="Noto Sans JP" pitchFamily="34" charset="0"/>
                <a:ea typeface="Noto Sans JP" pitchFamily="34" charset="-122"/>
                <a:cs typeface="Noto Sans JP" pitchFamily="34" charset="-120"/>
              </a:rPr>
              <a:t>Start-up Phase</a:t>
            </a:r>
            <a:endParaRPr lang="en-US" sz="1000" dirty="0"/>
          </a:p>
        </p:txBody>
      </p:sp>
      <p:pic>
        <p:nvPicPr>
          <p:cNvPr id="25" name="Image 7" descr="preencoded.png"/>
          <p:cNvPicPr>
            <a:picLocks noChangeAspect="1"/>
          </p:cNvPicPr>
          <p:nvPr/>
        </p:nvPicPr>
        <p:blipFill>
          <a:blip r:embed="rId7"/>
          <a:srcRect t="-80" b="-80"/>
          <a:stretch/>
        </p:blipFill>
        <p:spPr>
          <a:xfrm>
            <a:off x="4146804" y="4500677"/>
            <a:ext cx="142646" cy="228600"/>
          </a:xfrm>
          <a:prstGeom prst="rect">
            <a:avLst/>
          </a:prstGeom>
        </p:spPr>
      </p:pic>
      <p:pic>
        <p:nvPicPr>
          <p:cNvPr id="26" name="Image 8" descr="preencoded.png"/>
          <p:cNvPicPr>
            <a:picLocks noChangeAspect="1"/>
          </p:cNvPicPr>
          <p:nvPr/>
        </p:nvPicPr>
        <p:blipFill>
          <a:blip r:embed="rId8"/>
          <a:srcRect/>
          <a:stretch/>
        </p:blipFill>
        <p:spPr>
          <a:xfrm>
            <a:off x="4317797" y="2600554"/>
            <a:ext cx="3556102" cy="4000500"/>
          </a:xfrm>
          <a:prstGeom prst="rect">
            <a:avLst/>
          </a:prstGeom>
        </p:spPr>
      </p:pic>
      <p:sp>
        <p:nvSpPr>
          <p:cNvPr id="27" name="Shape 16"/>
          <p:cNvSpPr/>
          <p:nvPr/>
        </p:nvSpPr>
        <p:spPr>
          <a:xfrm>
            <a:off x="4518050" y="4934102"/>
            <a:ext cx="3161995" cy="19202"/>
          </a:xfrm>
          <a:prstGeom prst="rect">
            <a:avLst/>
          </a:prstGeom>
          <a:solidFill>
            <a:srgbClr val="2454A5"/>
          </a:solidFill>
          <a:ln w="12700">
            <a:solidFill>
              <a:srgbClr val="2454A5">
                <a:alpha val="0"/>
              </a:srgbClr>
            </a:solidFill>
            <a:prstDash val="solid"/>
          </a:ln>
        </p:spPr>
        <p:txBody>
          <a:bodyPr/>
          <a:lstStyle/>
          <a:p>
            <a:endParaRPr lang="ja-JP" altLang="en-US"/>
          </a:p>
        </p:txBody>
      </p:sp>
      <p:sp>
        <p:nvSpPr>
          <p:cNvPr id="28" name="Text 17"/>
          <p:cNvSpPr txBox="1"/>
          <p:nvPr/>
        </p:nvSpPr>
        <p:spPr>
          <a:xfrm>
            <a:off x="4479646" y="4591202"/>
            <a:ext cx="3238805" cy="247802"/>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ctr">
              <a:buNone/>
            </a:pPr>
            <a:r>
              <a:rPr lang="en-US" sz="1300" b="1" dirty="0">
                <a:solidFill>
                  <a:srgbClr val="1A3A8A"/>
                </a:solidFill>
                <a:latin typeface="Noto Sans JP" pitchFamily="34" charset="0"/>
                <a:ea typeface="Noto Sans JP" pitchFamily="34" charset="-122"/>
                <a:cs typeface="Noto Sans JP" pitchFamily="34" charset="-120"/>
              </a:rPr>
              <a:t>短編映画・メディア連携</a:t>
            </a:r>
            <a:endParaRPr lang="en-US" sz="1300" dirty="0"/>
          </a:p>
        </p:txBody>
      </p:sp>
      <p:sp>
        <p:nvSpPr>
          <p:cNvPr id="29" name="Text 18"/>
          <p:cNvSpPr txBox="1"/>
          <p:nvPr/>
        </p:nvSpPr>
        <p:spPr>
          <a:xfrm>
            <a:off x="4727448" y="5095951"/>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短編映画の制作・公開（渋谷舞台）</a:t>
            </a:r>
            <a:endParaRPr lang="en-US" sz="1000" dirty="0"/>
          </a:p>
        </p:txBody>
      </p:sp>
      <p:pic>
        <p:nvPicPr>
          <p:cNvPr id="30" name="Image 9" descr="preencoded.png"/>
          <p:cNvPicPr>
            <a:picLocks noChangeAspect="1"/>
          </p:cNvPicPr>
          <p:nvPr/>
        </p:nvPicPr>
        <p:blipFill>
          <a:blip r:embed="rId5"/>
          <a:srcRect/>
          <a:stretch/>
        </p:blipFill>
        <p:spPr>
          <a:xfrm>
            <a:off x="4518050" y="5134356"/>
            <a:ext cx="114300" cy="114300"/>
          </a:xfrm>
          <a:prstGeom prst="rect">
            <a:avLst/>
          </a:prstGeom>
        </p:spPr>
      </p:pic>
      <p:sp>
        <p:nvSpPr>
          <p:cNvPr id="31" name="Text 19"/>
          <p:cNvSpPr txBox="1"/>
          <p:nvPr/>
        </p:nvSpPr>
        <p:spPr>
          <a:xfrm>
            <a:off x="4727448" y="5410505"/>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地上波番組との連動企画スタート</a:t>
            </a:r>
            <a:endParaRPr lang="en-US" sz="1000" dirty="0"/>
          </a:p>
        </p:txBody>
      </p:sp>
      <p:pic>
        <p:nvPicPr>
          <p:cNvPr id="32" name="Image 10" descr="preencoded.png"/>
          <p:cNvPicPr>
            <a:picLocks noChangeAspect="1"/>
          </p:cNvPicPr>
          <p:nvPr/>
        </p:nvPicPr>
        <p:blipFill>
          <a:blip r:embed="rId5"/>
          <a:srcRect/>
          <a:stretch/>
        </p:blipFill>
        <p:spPr>
          <a:xfrm>
            <a:off x="4518050" y="5447995"/>
            <a:ext cx="114300" cy="114300"/>
          </a:xfrm>
          <a:prstGeom prst="rect">
            <a:avLst/>
          </a:prstGeom>
        </p:spPr>
      </p:pic>
      <p:sp>
        <p:nvSpPr>
          <p:cNvPr id="33" name="Text 20"/>
          <p:cNvSpPr txBox="1"/>
          <p:nvPr/>
        </p:nvSpPr>
        <p:spPr>
          <a:xfrm>
            <a:off x="4727448" y="5724144"/>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ミスターコンテストとの相互送客強化</a:t>
            </a:r>
            <a:endParaRPr lang="en-US" sz="1000" dirty="0"/>
          </a:p>
        </p:txBody>
      </p:sp>
      <p:pic>
        <p:nvPicPr>
          <p:cNvPr id="34" name="Image 11" descr="preencoded.png"/>
          <p:cNvPicPr>
            <a:picLocks noChangeAspect="1"/>
          </p:cNvPicPr>
          <p:nvPr/>
        </p:nvPicPr>
        <p:blipFill>
          <a:blip r:embed="rId5"/>
          <a:srcRect/>
          <a:stretch/>
        </p:blipFill>
        <p:spPr>
          <a:xfrm>
            <a:off x="4518050" y="5762549"/>
            <a:ext cx="114300" cy="114300"/>
          </a:xfrm>
          <a:prstGeom prst="rect">
            <a:avLst/>
          </a:prstGeom>
        </p:spPr>
      </p:pic>
      <p:sp>
        <p:nvSpPr>
          <p:cNvPr id="35" name="Text 21"/>
          <p:cNvSpPr txBox="1"/>
          <p:nvPr/>
        </p:nvSpPr>
        <p:spPr>
          <a:xfrm>
            <a:off x="4727448" y="6038698"/>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ファンクラブ（FC）設立検討</a:t>
            </a:r>
            <a:endParaRPr lang="en-US" sz="1000" dirty="0"/>
          </a:p>
        </p:txBody>
      </p:sp>
      <p:pic>
        <p:nvPicPr>
          <p:cNvPr id="36" name="Image 12" descr="preencoded.png"/>
          <p:cNvPicPr>
            <a:picLocks noChangeAspect="1"/>
          </p:cNvPicPr>
          <p:nvPr/>
        </p:nvPicPr>
        <p:blipFill>
          <a:blip r:embed="rId5"/>
          <a:srcRect/>
          <a:stretch/>
        </p:blipFill>
        <p:spPr>
          <a:xfrm>
            <a:off x="4518050" y="6077102"/>
            <a:ext cx="114300" cy="114300"/>
          </a:xfrm>
          <a:prstGeom prst="rect">
            <a:avLst/>
          </a:prstGeom>
        </p:spPr>
      </p:pic>
      <p:pic>
        <p:nvPicPr>
          <p:cNvPr id="37" name="Image 13" descr="preencoded.png"/>
          <p:cNvPicPr>
            <a:picLocks noChangeAspect="1"/>
          </p:cNvPicPr>
          <p:nvPr/>
        </p:nvPicPr>
        <p:blipFill>
          <a:blip r:embed="rId9"/>
          <a:srcRect/>
          <a:stretch/>
        </p:blipFill>
        <p:spPr>
          <a:xfrm>
            <a:off x="5905195" y="6353251"/>
            <a:ext cx="381305" cy="381305"/>
          </a:xfrm>
          <a:prstGeom prst="rect">
            <a:avLst/>
          </a:prstGeom>
        </p:spPr>
      </p:pic>
      <p:sp>
        <p:nvSpPr>
          <p:cNvPr id="38" name="Shape 22"/>
          <p:cNvSpPr/>
          <p:nvPr/>
        </p:nvSpPr>
        <p:spPr>
          <a:xfrm>
            <a:off x="4327855" y="2609698"/>
            <a:ext cx="3543300" cy="1524305"/>
          </a:xfrm>
          <a:prstGeom prst="roundRect">
            <a:avLst>
              <a:gd name="adj" fmla="val 8998"/>
            </a:avLst>
          </a:prstGeom>
          <a:solidFill>
            <a:srgbClr val="2454A5"/>
          </a:solidFill>
          <a:ln w="12700">
            <a:solidFill>
              <a:srgbClr val="FFFFFF">
                <a:alpha val="0"/>
              </a:srgbClr>
            </a:solidFill>
            <a:prstDash val="solid"/>
          </a:ln>
        </p:spPr>
        <p:txBody>
          <a:bodyPr/>
          <a:lstStyle/>
          <a:p>
            <a:endParaRPr lang="ja-JP" altLang="en-US"/>
          </a:p>
        </p:txBody>
      </p:sp>
      <p:sp>
        <p:nvSpPr>
          <p:cNvPr id="39" name="Text 23"/>
          <p:cNvSpPr txBox="1"/>
          <p:nvPr/>
        </p:nvSpPr>
        <p:spPr>
          <a:xfrm>
            <a:off x="4422953" y="3143707"/>
            <a:ext cx="3353105" cy="342900"/>
          </a:xfrm>
          <a:prstGeom prst="rect">
            <a:avLst/>
          </a:prstGeom>
          <a:noFill/>
          <a:ln/>
        </p:spPr>
        <p:txBody>
          <a:bodyPr wrap="square" lIns="0" tIns="0" rIns="0" bIns="0" rtlCol="0" anchor="ctr"/>
          <a:lstStyle/>
          <a:p>
            <a:pPr marL="0" indent="0" algn="ctr">
              <a:buNone/>
            </a:pPr>
            <a:r>
              <a:rPr lang="en-US" sz="2700" b="1" dirty="0">
                <a:solidFill>
                  <a:srgbClr val="FFFFFF"/>
                </a:solidFill>
                <a:latin typeface="Noto Sans JP" pitchFamily="34" charset="0"/>
                <a:ea typeface="Noto Sans JP" pitchFamily="34" charset="-122"/>
                <a:cs typeface="Noto Sans JP" pitchFamily="34" charset="-120"/>
              </a:rPr>
              <a:t>2027</a:t>
            </a:r>
            <a:endParaRPr lang="en-US" sz="2700" dirty="0"/>
          </a:p>
        </p:txBody>
      </p:sp>
      <p:sp>
        <p:nvSpPr>
          <p:cNvPr id="40" name="Text 24"/>
          <p:cNvSpPr txBox="1"/>
          <p:nvPr/>
        </p:nvSpPr>
        <p:spPr>
          <a:xfrm>
            <a:off x="4460443" y="3619195"/>
            <a:ext cx="3277210" cy="191110"/>
          </a:xfrm>
          <a:prstGeom prst="rect">
            <a:avLst/>
          </a:prstGeom>
          <a:noFill/>
          <a:ln/>
        </p:spPr>
        <p:txBody>
          <a:bodyPr wrap="square" lIns="0" tIns="0" rIns="0" bIns="0" rtlCol="0" anchor="ctr"/>
          <a:lstStyle/>
          <a:p>
            <a:pPr marL="0" indent="0" algn="ctr">
              <a:buNone/>
            </a:pPr>
            <a:r>
              <a:rPr lang="en-US" sz="1000" b="1" kern="0" spc="75" dirty="0">
                <a:solidFill>
                  <a:srgbClr val="FFFFFF">
                    <a:alpha val="90000"/>
                  </a:srgbClr>
                </a:solidFill>
                <a:latin typeface="Noto Sans JP" pitchFamily="34" charset="0"/>
                <a:ea typeface="Noto Sans JP" pitchFamily="34" charset="-122"/>
                <a:cs typeface="Noto Sans JP" pitchFamily="34" charset="-120"/>
              </a:rPr>
              <a:t>Growth Phase</a:t>
            </a:r>
            <a:endParaRPr lang="en-US" sz="1000" dirty="0"/>
          </a:p>
        </p:txBody>
      </p:sp>
      <p:pic>
        <p:nvPicPr>
          <p:cNvPr id="41" name="Image 14" descr="preencoded.png"/>
          <p:cNvPicPr>
            <a:picLocks noChangeAspect="1"/>
          </p:cNvPicPr>
          <p:nvPr/>
        </p:nvPicPr>
        <p:blipFill>
          <a:blip r:embed="rId7"/>
          <a:srcRect t="-80" b="-80"/>
          <a:stretch/>
        </p:blipFill>
        <p:spPr>
          <a:xfrm>
            <a:off x="7893101" y="4500677"/>
            <a:ext cx="142646" cy="228600"/>
          </a:xfrm>
          <a:prstGeom prst="rect">
            <a:avLst/>
          </a:prstGeom>
        </p:spPr>
      </p:pic>
      <p:pic>
        <p:nvPicPr>
          <p:cNvPr id="42" name="Image 15" descr="preencoded.png"/>
          <p:cNvPicPr>
            <a:picLocks noChangeAspect="1"/>
          </p:cNvPicPr>
          <p:nvPr/>
        </p:nvPicPr>
        <p:blipFill>
          <a:blip r:embed="rId4"/>
          <a:srcRect l="-2" r="-2"/>
          <a:stretch/>
        </p:blipFill>
        <p:spPr>
          <a:xfrm>
            <a:off x="8064094" y="2600554"/>
            <a:ext cx="3556102" cy="4000500"/>
          </a:xfrm>
          <a:prstGeom prst="rect">
            <a:avLst/>
          </a:prstGeom>
        </p:spPr>
      </p:pic>
      <p:sp>
        <p:nvSpPr>
          <p:cNvPr id="43" name="Shape 25"/>
          <p:cNvSpPr/>
          <p:nvPr/>
        </p:nvSpPr>
        <p:spPr>
          <a:xfrm>
            <a:off x="8264347" y="4934102"/>
            <a:ext cx="3161995" cy="19202"/>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44" name="Text 26"/>
          <p:cNvSpPr txBox="1"/>
          <p:nvPr/>
        </p:nvSpPr>
        <p:spPr>
          <a:xfrm>
            <a:off x="8226857" y="4591202"/>
            <a:ext cx="3238805" cy="247802"/>
          </a:xfrm>
          <a:prstGeom prst="rect">
            <a:avLst/>
          </a:prstGeom>
          <a:solidFill>
            <a:srgbClr val="FFFFFF">
              <a:alpha val="0"/>
            </a:srgbClr>
          </a:solidFill>
          <a:ln>
            <a:solidFill>
              <a:srgbClr val="FFFFFF">
                <a:alpha val="0"/>
              </a:srgbClr>
            </a:solidFill>
          </a:ln>
        </p:spPr>
        <p:txBody>
          <a:bodyPr wrap="square" lIns="0" tIns="0" rIns="0" bIns="0" rtlCol="0" anchor="t"/>
          <a:lstStyle/>
          <a:p>
            <a:pPr marL="0" indent="0" algn="ctr">
              <a:buNone/>
            </a:pPr>
            <a:r>
              <a:rPr lang="en-US" sz="1300" b="1" dirty="0">
                <a:solidFill>
                  <a:srgbClr val="1A3A8A"/>
                </a:solidFill>
                <a:latin typeface="Noto Sans JP" pitchFamily="34" charset="0"/>
                <a:ea typeface="Noto Sans JP" pitchFamily="34" charset="-122"/>
                <a:cs typeface="Noto Sans JP" pitchFamily="34" charset="-120"/>
              </a:rPr>
              <a:t>IP確立・No.1へ</a:t>
            </a:r>
            <a:endParaRPr lang="en-US" sz="1300" dirty="0"/>
          </a:p>
        </p:txBody>
      </p:sp>
      <p:sp>
        <p:nvSpPr>
          <p:cNvPr id="45" name="Text 27"/>
          <p:cNvSpPr txBox="1"/>
          <p:nvPr/>
        </p:nvSpPr>
        <p:spPr>
          <a:xfrm>
            <a:off x="8473745" y="5095951"/>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地上波レギュラー番組放送開始</a:t>
            </a:r>
            <a:endParaRPr lang="en-US" sz="1000" dirty="0"/>
          </a:p>
        </p:txBody>
      </p:sp>
      <p:pic>
        <p:nvPicPr>
          <p:cNvPr id="46" name="Image 16" descr="preencoded.png"/>
          <p:cNvPicPr>
            <a:picLocks noChangeAspect="1"/>
          </p:cNvPicPr>
          <p:nvPr/>
        </p:nvPicPr>
        <p:blipFill>
          <a:blip r:embed="rId5"/>
          <a:srcRect/>
          <a:stretch/>
        </p:blipFill>
        <p:spPr>
          <a:xfrm>
            <a:off x="8264347" y="5134356"/>
            <a:ext cx="114300" cy="114300"/>
          </a:xfrm>
          <a:prstGeom prst="rect">
            <a:avLst/>
          </a:prstGeom>
        </p:spPr>
      </p:pic>
      <p:sp>
        <p:nvSpPr>
          <p:cNvPr id="47" name="Text 28"/>
          <p:cNvSpPr txBox="1"/>
          <p:nvPr/>
        </p:nvSpPr>
        <p:spPr>
          <a:xfrm>
            <a:off x="8473745" y="5410505"/>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大手サブスクPFでの独占配信</a:t>
            </a:r>
            <a:endParaRPr lang="en-US" sz="1000" dirty="0"/>
          </a:p>
        </p:txBody>
      </p:sp>
      <p:pic>
        <p:nvPicPr>
          <p:cNvPr id="48" name="Image 17" descr="preencoded.png"/>
          <p:cNvPicPr>
            <a:picLocks noChangeAspect="1"/>
          </p:cNvPicPr>
          <p:nvPr/>
        </p:nvPicPr>
        <p:blipFill>
          <a:blip r:embed="rId5"/>
          <a:srcRect/>
          <a:stretch/>
        </p:blipFill>
        <p:spPr>
          <a:xfrm>
            <a:off x="8264347" y="5447995"/>
            <a:ext cx="114300" cy="114300"/>
          </a:xfrm>
          <a:prstGeom prst="rect">
            <a:avLst/>
          </a:prstGeom>
        </p:spPr>
      </p:pic>
      <p:sp>
        <p:nvSpPr>
          <p:cNvPr id="49" name="Text 29"/>
          <p:cNvSpPr txBox="1"/>
          <p:nvPr/>
        </p:nvSpPr>
        <p:spPr>
          <a:xfrm>
            <a:off x="8473745" y="5724144"/>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メンズ芸能部門でのシェア1位獲得</a:t>
            </a:r>
            <a:endParaRPr lang="en-US" sz="1000" dirty="0"/>
          </a:p>
        </p:txBody>
      </p:sp>
      <p:pic>
        <p:nvPicPr>
          <p:cNvPr id="50" name="Image 18" descr="preencoded.png"/>
          <p:cNvPicPr>
            <a:picLocks noChangeAspect="1"/>
          </p:cNvPicPr>
          <p:nvPr/>
        </p:nvPicPr>
        <p:blipFill>
          <a:blip r:embed="rId5"/>
          <a:srcRect/>
          <a:stretch/>
        </p:blipFill>
        <p:spPr>
          <a:xfrm>
            <a:off x="8264347" y="5762549"/>
            <a:ext cx="114300" cy="114300"/>
          </a:xfrm>
          <a:prstGeom prst="rect">
            <a:avLst/>
          </a:prstGeom>
        </p:spPr>
      </p:pic>
      <p:sp>
        <p:nvSpPr>
          <p:cNvPr id="51" name="Text 30"/>
          <p:cNvSpPr txBox="1"/>
          <p:nvPr/>
        </p:nvSpPr>
        <p:spPr>
          <a:xfrm>
            <a:off x="8473745" y="6038698"/>
            <a:ext cx="3143707" cy="200254"/>
          </a:xfrm>
          <a:prstGeom prst="rect">
            <a:avLst/>
          </a:prstGeom>
          <a:noFill/>
          <a:ln/>
        </p:spPr>
        <p:txBody>
          <a:bodyPr wrap="square" lIns="0" tIns="0" rIns="0" bIns="0" rtlCol="0" anchor="ctr"/>
          <a:lstStyle/>
          <a:p>
            <a:pPr marL="0" indent="0" algn="l">
              <a:buNone/>
            </a:pPr>
            <a:r>
              <a:rPr lang="en-US" sz="1000" dirty="0">
                <a:solidFill>
                  <a:srgbClr val="444444"/>
                </a:solidFill>
                <a:latin typeface="Noto Sans JP" pitchFamily="34" charset="0"/>
                <a:ea typeface="Noto Sans JP" pitchFamily="34" charset="-122"/>
                <a:cs typeface="Noto Sans JP" pitchFamily="34" charset="-120"/>
              </a:rPr>
              <a:t>100億円規模のIP価値創出</a:t>
            </a:r>
            <a:endParaRPr lang="en-US" sz="1000" dirty="0"/>
          </a:p>
        </p:txBody>
      </p:sp>
      <p:pic>
        <p:nvPicPr>
          <p:cNvPr id="52" name="Image 19" descr="preencoded.png"/>
          <p:cNvPicPr>
            <a:picLocks noChangeAspect="1"/>
          </p:cNvPicPr>
          <p:nvPr/>
        </p:nvPicPr>
        <p:blipFill>
          <a:blip r:embed="rId5"/>
          <a:srcRect/>
          <a:stretch/>
        </p:blipFill>
        <p:spPr>
          <a:xfrm>
            <a:off x="8264347" y="6077102"/>
            <a:ext cx="114300" cy="114300"/>
          </a:xfrm>
          <a:prstGeom prst="rect">
            <a:avLst/>
          </a:prstGeom>
        </p:spPr>
      </p:pic>
      <p:pic>
        <p:nvPicPr>
          <p:cNvPr id="53" name="Image 20" descr="preencoded.png"/>
          <p:cNvPicPr>
            <a:picLocks noChangeAspect="1"/>
          </p:cNvPicPr>
          <p:nvPr/>
        </p:nvPicPr>
        <p:blipFill>
          <a:blip r:embed="rId10"/>
          <a:srcRect t="-13" b="-13"/>
          <a:stretch/>
        </p:blipFill>
        <p:spPr>
          <a:xfrm>
            <a:off x="9627718" y="6353251"/>
            <a:ext cx="428854" cy="381305"/>
          </a:xfrm>
          <a:prstGeom prst="rect">
            <a:avLst/>
          </a:prstGeom>
        </p:spPr>
      </p:pic>
      <p:sp>
        <p:nvSpPr>
          <p:cNvPr id="54" name="Shape 31"/>
          <p:cNvSpPr/>
          <p:nvPr/>
        </p:nvSpPr>
        <p:spPr>
          <a:xfrm>
            <a:off x="8074152" y="2609698"/>
            <a:ext cx="3543300" cy="1524305"/>
          </a:xfrm>
          <a:prstGeom prst="roundRect">
            <a:avLst>
              <a:gd name="adj" fmla="val 8998"/>
            </a:avLst>
          </a:prstGeom>
          <a:solidFill>
            <a:srgbClr val="1E8CA6"/>
          </a:solidFill>
          <a:ln w="12700">
            <a:solidFill>
              <a:srgbClr val="FFFFFF">
                <a:alpha val="0"/>
              </a:srgbClr>
            </a:solidFill>
            <a:prstDash val="solid"/>
          </a:ln>
        </p:spPr>
        <p:txBody>
          <a:bodyPr/>
          <a:lstStyle/>
          <a:p>
            <a:endParaRPr lang="ja-JP" altLang="en-US"/>
          </a:p>
        </p:txBody>
      </p:sp>
      <p:sp>
        <p:nvSpPr>
          <p:cNvPr id="55" name="Text 32"/>
          <p:cNvSpPr txBox="1"/>
          <p:nvPr/>
        </p:nvSpPr>
        <p:spPr>
          <a:xfrm>
            <a:off x="8169250" y="3143707"/>
            <a:ext cx="3353105" cy="342900"/>
          </a:xfrm>
          <a:prstGeom prst="rect">
            <a:avLst/>
          </a:prstGeom>
          <a:noFill/>
          <a:ln/>
        </p:spPr>
        <p:txBody>
          <a:bodyPr wrap="square" lIns="0" tIns="0" rIns="0" bIns="0" rtlCol="0" anchor="ctr"/>
          <a:lstStyle/>
          <a:p>
            <a:pPr marL="0" indent="0" algn="ctr">
              <a:buNone/>
            </a:pPr>
            <a:r>
              <a:rPr lang="en-US" sz="2700" b="1" dirty="0">
                <a:solidFill>
                  <a:srgbClr val="FFFFFF"/>
                </a:solidFill>
                <a:latin typeface="Noto Sans JP" pitchFamily="34" charset="0"/>
                <a:ea typeface="Noto Sans JP" pitchFamily="34" charset="-122"/>
                <a:cs typeface="Noto Sans JP" pitchFamily="34" charset="-120"/>
              </a:rPr>
              <a:t>2028</a:t>
            </a:r>
            <a:endParaRPr lang="en-US" sz="2700" dirty="0"/>
          </a:p>
        </p:txBody>
      </p:sp>
      <p:sp>
        <p:nvSpPr>
          <p:cNvPr id="56" name="Text 33"/>
          <p:cNvSpPr txBox="1"/>
          <p:nvPr/>
        </p:nvSpPr>
        <p:spPr>
          <a:xfrm>
            <a:off x="8207654" y="3619195"/>
            <a:ext cx="3277210" cy="191110"/>
          </a:xfrm>
          <a:prstGeom prst="rect">
            <a:avLst/>
          </a:prstGeom>
          <a:noFill/>
          <a:ln/>
        </p:spPr>
        <p:txBody>
          <a:bodyPr wrap="square" lIns="0" tIns="0" rIns="0" bIns="0" rtlCol="0" anchor="ctr"/>
          <a:lstStyle/>
          <a:p>
            <a:pPr marL="0" indent="0" algn="ctr">
              <a:buNone/>
            </a:pPr>
            <a:r>
              <a:rPr lang="en-US" sz="1000" b="1" kern="0" spc="75" dirty="0">
                <a:solidFill>
                  <a:srgbClr val="FFFFFF">
                    <a:alpha val="90000"/>
                  </a:srgbClr>
                </a:solidFill>
                <a:latin typeface="Noto Sans JP" pitchFamily="34" charset="0"/>
                <a:ea typeface="Noto Sans JP" pitchFamily="34" charset="-122"/>
                <a:cs typeface="Noto Sans JP" pitchFamily="34" charset="-120"/>
              </a:rPr>
              <a:t>Establishment Phase</a:t>
            </a:r>
            <a:endParaRPr lang="en-US" sz="1000" dirty="0"/>
          </a:p>
        </p:txBody>
      </p:sp>
      <p:sp>
        <p:nvSpPr>
          <p:cNvPr id="57" name="Text 34"/>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58" name="Text 35"/>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401" b="-401"/>
          <a:stretch/>
        </p:blipFill>
        <p:spPr>
          <a:xfrm>
            <a:off x="0" y="0"/>
            <a:ext cx="12191695" cy="38405"/>
          </a:xfrm>
          <a:prstGeom prst="rect">
            <a:avLst/>
          </a:prstGeom>
        </p:spPr>
      </p:pic>
      <p:sp>
        <p:nvSpPr>
          <p:cNvPr id="4" name="Text 1"/>
          <p:cNvSpPr txBox="1"/>
          <p:nvPr/>
        </p:nvSpPr>
        <p:spPr>
          <a:xfrm rot="16200000">
            <a:off x="-3540557" y="3507638"/>
            <a:ext cx="4610405" cy="1905610"/>
          </a:xfrm>
          <a:prstGeom prst="rect">
            <a:avLst/>
          </a:prstGeom>
          <a:noFill/>
          <a:ln/>
        </p:spPr>
        <p:txBody>
          <a:bodyPr wrap="square" lIns="0" tIns="0" rIns="0" bIns="0" rtlCol="0" anchor="ctr"/>
          <a:lstStyle/>
          <a:p>
            <a:pPr marL="0" indent="0" algn="l">
              <a:buNone/>
            </a:pPr>
            <a:r>
              <a:rPr lang="en-US" sz="15000" b="1" dirty="0">
                <a:solidFill>
                  <a:srgbClr val="1A3A8A">
                    <a:alpha val="3000"/>
                  </a:srgbClr>
                </a:solidFill>
                <a:latin typeface="Noto Sans JP" pitchFamily="34" charset="0"/>
                <a:ea typeface="Noto Sans JP" pitchFamily="34" charset="-122"/>
                <a:cs typeface="Noto Sans JP" pitchFamily="34" charset="-120"/>
              </a:rPr>
              <a:t>WHY</a:t>
            </a:r>
            <a:endParaRPr lang="en-US" sz="15000" dirty="0"/>
          </a:p>
        </p:txBody>
      </p:sp>
      <p:pic>
        <p:nvPicPr>
          <p:cNvPr id="5" name="Image 1" descr="preencoded.png"/>
          <p:cNvPicPr>
            <a:picLocks noChangeAspect="1"/>
          </p:cNvPicPr>
          <p:nvPr/>
        </p:nvPicPr>
        <p:blipFill>
          <a:blip r:embed="rId4"/>
          <a:srcRect l="-4" r="-4"/>
          <a:stretch/>
        </p:blipFill>
        <p:spPr>
          <a:xfrm>
            <a:off x="8382305" y="0"/>
            <a:ext cx="3810305" cy="6858000"/>
          </a:xfrm>
          <a:prstGeom prst="rect">
            <a:avLst/>
          </a:prstGeom>
        </p:spPr>
      </p:pic>
      <p:sp>
        <p:nvSpPr>
          <p:cNvPr id="6" name="Shape 2"/>
          <p:cNvSpPr/>
          <p:nvPr/>
        </p:nvSpPr>
        <p:spPr>
          <a:xfrm>
            <a:off x="0" y="6467551"/>
            <a:ext cx="12191695" cy="390449"/>
          </a:xfrm>
          <a:prstGeom prst="rect">
            <a:avLst/>
          </a:prstGeom>
          <a:solidFill>
            <a:srgbClr val="FFFFFF"/>
          </a:solidFill>
          <a:ln/>
        </p:spPr>
        <p:txBody>
          <a:bodyPr/>
          <a:lstStyle/>
          <a:p>
            <a:endParaRPr lang="ja-JP" altLang="en-US"/>
          </a:p>
        </p:txBody>
      </p:sp>
      <p:sp>
        <p:nvSpPr>
          <p:cNvPr id="7" name="Shape 3"/>
          <p:cNvSpPr/>
          <p:nvPr/>
        </p:nvSpPr>
        <p:spPr>
          <a:xfrm>
            <a:off x="0" y="6467551"/>
            <a:ext cx="1219169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8" name="Text 4"/>
          <p:cNvSpPr txBox="1"/>
          <p:nvPr/>
        </p:nvSpPr>
        <p:spPr>
          <a:xfrm>
            <a:off x="381305" y="6596482"/>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9" name="Text 5"/>
          <p:cNvSpPr txBox="1"/>
          <p:nvPr/>
        </p:nvSpPr>
        <p:spPr>
          <a:xfrm>
            <a:off x="11698834" y="6596482"/>
            <a:ext cx="191110" cy="143561"/>
          </a:xfrm>
          <a:prstGeom prst="rect">
            <a:avLst/>
          </a:prstGeom>
          <a:noFill/>
          <a:ln/>
        </p:spPr>
        <p:txBody>
          <a:bodyPr wrap="square" lIns="0" tIns="0" rIns="0" bIns="0" rtlCol="0" anchor="ctr"/>
          <a:lstStyle/>
          <a:p>
            <a:pPr marL="0" indent="0" algn="l">
              <a:buNone/>
            </a:pPr>
            <a:r>
              <a:rPr lang="en-US" sz="800" b="1" dirty="0">
                <a:solidFill>
                  <a:srgbClr val="1A3A8A"/>
                </a:solidFill>
                <a:latin typeface="Noto Sans JP" pitchFamily="34" charset="0"/>
                <a:ea typeface="Noto Sans JP" pitchFamily="34" charset="-122"/>
                <a:cs typeface="Noto Sans JP" pitchFamily="34" charset="-120"/>
              </a:rPr>
              <a:t>20</a:t>
            </a:r>
            <a:endParaRPr lang="en-US" sz="800" dirty="0"/>
          </a:p>
        </p:txBody>
      </p:sp>
      <p:pic>
        <p:nvPicPr>
          <p:cNvPr id="10" name="Image 2" descr="preencoded.png"/>
          <p:cNvPicPr>
            <a:picLocks noChangeAspect="1"/>
          </p:cNvPicPr>
          <p:nvPr/>
        </p:nvPicPr>
        <p:blipFill>
          <a:blip r:embed="rId5"/>
          <a:srcRect l="-400" r="-400"/>
          <a:stretch/>
        </p:blipFill>
        <p:spPr>
          <a:xfrm>
            <a:off x="571500" y="981151"/>
            <a:ext cx="38405" cy="228600"/>
          </a:xfrm>
          <a:prstGeom prst="rect">
            <a:avLst/>
          </a:prstGeom>
        </p:spPr>
      </p:pic>
      <p:sp>
        <p:nvSpPr>
          <p:cNvPr id="11" name="Text 6"/>
          <p:cNvSpPr txBox="1"/>
          <p:nvPr/>
        </p:nvSpPr>
        <p:spPr>
          <a:xfrm>
            <a:off x="724205" y="972007"/>
            <a:ext cx="981151" cy="247802"/>
          </a:xfrm>
          <a:prstGeom prst="rect">
            <a:avLst/>
          </a:prstGeom>
          <a:noFill/>
          <a:ln/>
        </p:spPr>
        <p:txBody>
          <a:bodyPr wrap="square" lIns="0" tIns="0" rIns="0" bIns="0" rtlCol="0" anchor="ctr"/>
          <a:lstStyle/>
          <a:p>
            <a:pPr marL="0" indent="0" algn="l">
              <a:buNone/>
            </a:pPr>
            <a:r>
              <a:rPr lang="en-US" sz="1300" b="1" kern="0" spc="75" dirty="0">
                <a:solidFill>
                  <a:srgbClr val="1A3A8A"/>
                </a:solidFill>
                <a:latin typeface="Noto Sans JP" pitchFamily="34" charset="0"/>
                <a:ea typeface="Noto Sans JP" pitchFamily="34" charset="-122"/>
                <a:cs typeface="Noto Sans JP" pitchFamily="34" charset="-120"/>
              </a:rPr>
              <a:t>競合優位性</a:t>
            </a:r>
            <a:endParaRPr lang="en-US" sz="1300" dirty="0"/>
          </a:p>
        </p:txBody>
      </p:sp>
      <p:sp>
        <p:nvSpPr>
          <p:cNvPr id="12" name="Text 7"/>
          <p:cNvSpPr txBox="1"/>
          <p:nvPr/>
        </p:nvSpPr>
        <p:spPr>
          <a:xfrm>
            <a:off x="571500" y="2033626"/>
            <a:ext cx="4358945" cy="1924812"/>
          </a:xfrm>
          <a:prstGeom prst="rect">
            <a:avLst/>
          </a:prstGeom>
          <a:noFill/>
          <a:ln/>
        </p:spPr>
        <p:txBody>
          <a:bodyPr wrap="square" lIns="0" tIns="0" rIns="0" bIns="0" rtlCol="0" anchor="t"/>
          <a:lstStyle/>
          <a:p>
            <a:pPr marL="0" indent="0" algn="l">
              <a:buNone/>
            </a:pPr>
            <a:r>
              <a:rPr lang="en-US" sz="4200" b="1" kern="0" spc="-150" dirty="0">
                <a:solidFill>
                  <a:srgbClr val="1A3A8A"/>
                </a:solidFill>
                <a:latin typeface="Noto Sans JP" pitchFamily="34" charset="0"/>
                <a:ea typeface="Noto Sans JP" pitchFamily="34" charset="-122"/>
                <a:cs typeface="Noto Sans JP" pitchFamily="34" charset="-120"/>
              </a:rPr>
              <a:t> なぜSHIBU1が</a:t>
            </a:r>
            <a:endParaRPr lang="en-US" sz="4200" dirty="0"/>
          </a:p>
          <a:p>
            <a:pPr marL="0" indent="0" algn="l">
              <a:buNone/>
            </a:pPr>
            <a:r>
              <a:rPr lang="en-US" sz="4200" b="1" kern="0" spc="-150" dirty="0">
                <a:solidFill>
                  <a:srgbClr val="1A3A8A"/>
                </a:solidFill>
                <a:latin typeface="Noto Sans JP" pitchFamily="34" charset="0"/>
                <a:ea typeface="Noto Sans JP" pitchFamily="34" charset="-122"/>
                <a:cs typeface="Noto Sans JP" pitchFamily="34" charset="-120"/>
              </a:rPr>
              <a:t> 日本最大のIPに</a:t>
            </a:r>
            <a:endParaRPr lang="en-US" sz="4200" dirty="0"/>
          </a:p>
          <a:p>
            <a:pPr marL="0" indent="0" algn="l">
              <a:buNone/>
            </a:pPr>
            <a:r>
              <a:rPr lang="en-US" sz="4200" b="1" kern="0" spc="-150" dirty="0">
                <a:solidFill>
                  <a:srgbClr val="1A3A8A"/>
                </a:solidFill>
                <a:latin typeface="Noto Sans JP" pitchFamily="34" charset="0"/>
                <a:ea typeface="Noto Sans JP" pitchFamily="34" charset="-122"/>
                <a:cs typeface="Noto Sans JP" pitchFamily="34" charset="-120"/>
              </a:rPr>
              <a:t> なれるか</a:t>
            </a:r>
            <a:r>
              <a:rPr lang="en-US" sz="6000" b="1" kern="0" spc="-150" dirty="0">
                <a:solidFill>
                  <a:srgbClr val="1E8CA6"/>
                </a:solidFill>
                <a:latin typeface="Noto Sans JP" pitchFamily="34" charset="0"/>
                <a:ea typeface="Noto Sans JP" pitchFamily="34" charset="-122"/>
                <a:cs typeface="Noto Sans JP" pitchFamily="34" charset="-120"/>
              </a:rPr>
              <a:t>?</a:t>
            </a:r>
            <a:endParaRPr lang="en-US" sz="4200" dirty="0"/>
          </a:p>
        </p:txBody>
      </p:sp>
      <p:pic>
        <p:nvPicPr>
          <p:cNvPr id="13" name="Image 3" descr="preencoded.png"/>
          <p:cNvPicPr>
            <a:picLocks noChangeAspect="1"/>
          </p:cNvPicPr>
          <p:nvPr/>
        </p:nvPicPr>
        <p:blipFill>
          <a:blip r:embed="rId6"/>
          <a:srcRect t="-4" b="-4"/>
          <a:stretch/>
        </p:blipFill>
        <p:spPr>
          <a:xfrm>
            <a:off x="5333695" y="982980"/>
            <a:ext cx="6286500" cy="1554480"/>
          </a:xfrm>
          <a:prstGeom prst="rect">
            <a:avLst/>
          </a:prstGeom>
        </p:spPr>
      </p:pic>
      <p:sp>
        <p:nvSpPr>
          <p:cNvPr id="14" name="Shape 8"/>
          <p:cNvSpPr/>
          <p:nvPr/>
        </p:nvSpPr>
        <p:spPr>
          <a:xfrm>
            <a:off x="5715000" y="1211580"/>
            <a:ext cx="1181405" cy="304495"/>
          </a:xfrm>
          <a:prstGeom prst="roundRect">
            <a:avLst>
              <a:gd name="adj" fmla="val 300300"/>
            </a:avLst>
          </a:prstGeom>
          <a:solidFill>
            <a:srgbClr val="1A3A8A"/>
          </a:solidFill>
          <a:ln w="12700">
            <a:solidFill>
              <a:srgbClr val="FFFFFF">
                <a:alpha val="0"/>
              </a:srgbClr>
            </a:solidFill>
            <a:prstDash val="solid"/>
          </a:ln>
        </p:spPr>
        <p:txBody>
          <a:bodyPr/>
          <a:lstStyle/>
          <a:p>
            <a:endParaRPr lang="ja-JP" altLang="en-US"/>
          </a:p>
        </p:txBody>
      </p:sp>
      <p:sp>
        <p:nvSpPr>
          <p:cNvPr id="15" name="Text 9"/>
          <p:cNvSpPr/>
          <p:nvPr/>
        </p:nvSpPr>
        <p:spPr>
          <a:xfrm>
            <a:off x="5686654" y="1211580"/>
            <a:ext cx="1239012"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200" b="1" kern="0" spc="75" dirty="0">
                <a:solidFill>
                  <a:srgbClr val="FFFFFF"/>
                </a:solidFill>
                <a:latin typeface="Noto Sans JP" pitchFamily="34" charset="0"/>
                <a:ea typeface="Noto Sans JP" pitchFamily="34" charset="-122"/>
                <a:cs typeface="Noto Sans JP" pitchFamily="34" charset="-120"/>
              </a:rPr>
              <a:t>REASON 01</a:t>
            </a:r>
            <a:endParaRPr lang="en-US" sz="1200" dirty="0"/>
          </a:p>
        </p:txBody>
      </p:sp>
      <p:sp>
        <p:nvSpPr>
          <p:cNvPr id="16" name="Text 10"/>
          <p:cNvSpPr txBox="1"/>
          <p:nvPr/>
        </p:nvSpPr>
        <p:spPr>
          <a:xfrm>
            <a:off x="7040880" y="1211580"/>
            <a:ext cx="2714854" cy="305410"/>
          </a:xfrm>
          <a:prstGeom prst="rect">
            <a:avLst/>
          </a:prstGeom>
          <a:noFill/>
          <a:ln/>
        </p:spPr>
        <p:txBody>
          <a:bodyPr wrap="square" lIns="0" tIns="0" rIns="0" bIns="0" rtlCol="0" anchor="ctr"/>
          <a:lstStyle/>
          <a:p>
            <a:pPr marL="0" indent="0" algn="l">
              <a:buNone/>
            </a:pPr>
            <a:r>
              <a:rPr lang="en-US" sz="1600" b="1" dirty="0">
                <a:solidFill>
                  <a:srgbClr val="1A3A8A"/>
                </a:solidFill>
                <a:latin typeface="Noto Sans JP" pitchFamily="34" charset="0"/>
                <a:ea typeface="Noto Sans JP" pitchFamily="34" charset="-122"/>
                <a:cs typeface="Noto Sans JP" pitchFamily="34" charset="-120"/>
              </a:rPr>
              <a:t>渋谷という圧倒的ブランド</a:t>
            </a:r>
            <a:endParaRPr lang="en-US" sz="1600" dirty="0"/>
          </a:p>
        </p:txBody>
      </p:sp>
      <p:sp>
        <p:nvSpPr>
          <p:cNvPr id="17" name="Text 11"/>
          <p:cNvSpPr txBox="1"/>
          <p:nvPr/>
        </p:nvSpPr>
        <p:spPr>
          <a:xfrm>
            <a:off x="5715000" y="1668780"/>
            <a:ext cx="5677510" cy="495605"/>
          </a:xfrm>
          <a:prstGeom prst="rect">
            <a:avLst/>
          </a:prstGeom>
          <a:noFill/>
          <a:ln/>
        </p:spPr>
        <p:txBody>
          <a:bodyPr wrap="square" lIns="0" tIns="0" rIns="0" bIns="0" rtlCol="0" anchor="t"/>
          <a:lstStyle/>
          <a:p>
            <a:pPr marL="0" indent="0" algn="l">
              <a:buNone/>
            </a:pPr>
            <a:r>
              <a:rPr lang="en-US" sz="1200" dirty="0">
                <a:solidFill>
                  <a:srgbClr val="555555"/>
                </a:solidFill>
                <a:latin typeface="Noto Sans JP" pitchFamily="34" charset="0"/>
                <a:ea typeface="Noto Sans JP" pitchFamily="34" charset="-122"/>
                <a:cs typeface="Noto Sans JP" pitchFamily="34" charset="-120"/>
              </a:rPr>
              <a:t>Shibuyaは若者文化の聖地であり、トレンドの発信源。国内外への訴求力が最大であり、</a:t>
            </a:r>
            <a:r>
              <a:rPr lang="en-US" sz="1200" b="1" dirty="0">
                <a:solidFill>
                  <a:srgbClr val="1E8CA6"/>
                </a:solidFill>
                <a:latin typeface="Noto Sans JP" pitchFamily="34" charset="0"/>
                <a:ea typeface="Noto Sans JP" pitchFamily="34" charset="-122"/>
                <a:cs typeface="Noto Sans JP" pitchFamily="34" charset="-120"/>
              </a:rPr>
              <a:t>「渋谷」の看板自体が強力なIP</a:t>
            </a:r>
            <a:r>
              <a:rPr lang="en-US" sz="1200" dirty="0">
                <a:solidFill>
                  <a:srgbClr val="555555"/>
                </a:solidFill>
                <a:latin typeface="Noto Sans JP" pitchFamily="34" charset="0"/>
                <a:ea typeface="Noto Sans JP" pitchFamily="34" charset="-122"/>
                <a:cs typeface="Noto Sans JP" pitchFamily="34" charset="-120"/>
              </a:rPr>
              <a:t>となる。</a:t>
            </a:r>
            <a:endParaRPr lang="en-US" sz="1200" dirty="0"/>
          </a:p>
        </p:txBody>
      </p:sp>
      <p:pic>
        <p:nvPicPr>
          <p:cNvPr id="18" name="Image 4" descr="preencoded.png"/>
          <p:cNvPicPr>
            <a:picLocks noChangeAspect="1"/>
          </p:cNvPicPr>
          <p:nvPr/>
        </p:nvPicPr>
        <p:blipFill>
          <a:blip r:embed="rId6"/>
          <a:srcRect t="-4" b="-4"/>
          <a:stretch/>
        </p:blipFill>
        <p:spPr>
          <a:xfrm>
            <a:off x="5333695" y="2766060"/>
            <a:ext cx="6286500" cy="1554480"/>
          </a:xfrm>
          <a:prstGeom prst="rect">
            <a:avLst/>
          </a:prstGeom>
        </p:spPr>
      </p:pic>
      <p:sp>
        <p:nvSpPr>
          <p:cNvPr id="19" name="Shape 12"/>
          <p:cNvSpPr/>
          <p:nvPr/>
        </p:nvSpPr>
        <p:spPr>
          <a:xfrm>
            <a:off x="5715000" y="2994660"/>
            <a:ext cx="1181405" cy="304495"/>
          </a:xfrm>
          <a:prstGeom prst="roundRect">
            <a:avLst>
              <a:gd name="adj" fmla="val 300300"/>
            </a:avLst>
          </a:prstGeom>
          <a:solidFill>
            <a:srgbClr val="1A3A8A"/>
          </a:solidFill>
          <a:ln w="12700">
            <a:solidFill>
              <a:srgbClr val="FFFFFF">
                <a:alpha val="0"/>
              </a:srgbClr>
            </a:solidFill>
            <a:prstDash val="solid"/>
          </a:ln>
        </p:spPr>
        <p:txBody>
          <a:bodyPr/>
          <a:lstStyle/>
          <a:p>
            <a:endParaRPr lang="ja-JP" altLang="en-US"/>
          </a:p>
        </p:txBody>
      </p:sp>
      <p:sp>
        <p:nvSpPr>
          <p:cNvPr id="20" name="Text 13"/>
          <p:cNvSpPr/>
          <p:nvPr/>
        </p:nvSpPr>
        <p:spPr>
          <a:xfrm>
            <a:off x="5686654" y="2994660"/>
            <a:ext cx="1239012"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200" b="1" kern="0" spc="75" dirty="0">
                <a:solidFill>
                  <a:srgbClr val="FFFFFF"/>
                </a:solidFill>
                <a:latin typeface="Noto Sans JP" pitchFamily="34" charset="0"/>
                <a:ea typeface="Noto Sans JP" pitchFamily="34" charset="-122"/>
                <a:cs typeface="Noto Sans JP" pitchFamily="34" charset="-120"/>
              </a:rPr>
              <a:t>REASON 02</a:t>
            </a:r>
            <a:endParaRPr lang="en-US" sz="1200" dirty="0"/>
          </a:p>
        </p:txBody>
      </p:sp>
      <p:sp>
        <p:nvSpPr>
          <p:cNvPr id="21" name="Text 14"/>
          <p:cNvSpPr txBox="1"/>
          <p:nvPr/>
        </p:nvSpPr>
        <p:spPr>
          <a:xfrm>
            <a:off x="7040880" y="2994660"/>
            <a:ext cx="2971800" cy="305410"/>
          </a:xfrm>
          <a:prstGeom prst="rect">
            <a:avLst/>
          </a:prstGeom>
          <a:noFill/>
          <a:ln/>
        </p:spPr>
        <p:txBody>
          <a:bodyPr wrap="square" lIns="0" tIns="0" rIns="0" bIns="0" rtlCol="0" anchor="ctr"/>
          <a:lstStyle/>
          <a:p>
            <a:pPr marL="0" indent="0" algn="l">
              <a:buNone/>
            </a:pPr>
            <a:r>
              <a:rPr lang="en-US" sz="1600" b="1" dirty="0">
                <a:solidFill>
                  <a:srgbClr val="1A3A8A"/>
                </a:solidFill>
                <a:latin typeface="Noto Sans JP" pitchFamily="34" charset="0"/>
                <a:ea typeface="Noto Sans JP" pitchFamily="34" charset="-122"/>
                <a:cs typeface="Noto Sans JP" pitchFamily="34" charset="-120"/>
              </a:rPr>
              <a:t>Z・α世代女性の消費行動変化</a:t>
            </a:r>
            <a:endParaRPr lang="en-US" sz="1600" dirty="0"/>
          </a:p>
        </p:txBody>
      </p:sp>
      <p:sp>
        <p:nvSpPr>
          <p:cNvPr id="22" name="Text 15"/>
          <p:cNvSpPr txBox="1"/>
          <p:nvPr/>
        </p:nvSpPr>
        <p:spPr>
          <a:xfrm>
            <a:off x="5715000" y="3451860"/>
            <a:ext cx="5677510" cy="495605"/>
          </a:xfrm>
          <a:prstGeom prst="rect">
            <a:avLst/>
          </a:prstGeom>
          <a:noFill/>
          <a:ln/>
        </p:spPr>
        <p:txBody>
          <a:bodyPr wrap="square" lIns="0" tIns="0" rIns="0" bIns="0" rtlCol="0" anchor="t"/>
          <a:lstStyle/>
          <a:p>
            <a:pPr marL="0" indent="0" algn="l">
              <a:buNone/>
            </a:pPr>
            <a:r>
              <a:rPr lang="en-US" sz="1200" dirty="0">
                <a:solidFill>
                  <a:srgbClr val="555555"/>
                </a:solidFill>
                <a:latin typeface="Noto Sans JP" pitchFamily="34" charset="0"/>
                <a:ea typeface="Noto Sans JP" pitchFamily="34" charset="-122"/>
                <a:cs typeface="Noto Sans JP" pitchFamily="34" charset="-120"/>
              </a:rPr>
              <a:t>「推し」に課金するカルチャーが台頭。</a:t>
            </a:r>
            <a:r>
              <a:rPr lang="en-US" sz="1200" b="1" dirty="0">
                <a:solidFill>
                  <a:srgbClr val="1E8CA6"/>
                </a:solidFill>
                <a:latin typeface="Noto Sans JP" pitchFamily="34" charset="0"/>
                <a:ea typeface="Noto Sans JP" pitchFamily="34" charset="-122"/>
                <a:cs typeface="Noto Sans JP" pitchFamily="34" charset="-120"/>
              </a:rPr>
              <a:t>最初に推した経験が生涯価値（LTV）</a:t>
            </a:r>
            <a:r>
              <a:rPr lang="en-US" sz="1200" dirty="0">
                <a:solidFill>
                  <a:srgbClr val="555555"/>
                </a:solidFill>
                <a:latin typeface="Noto Sans JP" pitchFamily="34" charset="0"/>
                <a:ea typeface="Noto Sans JP" pitchFamily="34" charset="-122"/>
                <a:cs typeface="Noto Sans JP" pitchFamily="34" charset="-120"/>
              </a:rPr>
              <a:t>を生み、長期的なファンベースを形成する。</a:t>
            </a:r>
            <a:endParaRPr lang="en-US" sz="1200" dirty="0"/>
          </a:p>
        </p:txBody>
      </p:sp>
      <p:pic>
        <p:nvPicPr>
          <p:cNvPr id="23" name="Image 5" descr="preencoded.png"/>
          <p:cNvPicPr>
            <a:picLocks noChangeAspect="1"/>
          </p:cNvPicPr>
          <p:nvPr/>
        </p:nvPicPr>
        <p:blipFill>
          <a:blip r:embed="rId6"/>
          <a:srcRect t="-4" b="-4"/>
          <a:stretch/>
        </p:blipFill>
        <p:spPr>
          <a:xfrm>
            <a:off x="5333695" y="4549140"/>
            <a:ext cx="6286500" cy="1554480"/>
          </a:xfrm>
          <a:prstGeom prst="rect">
            <a:avLst/>
          </a:prstGeom>
        </p:spPr>
      </p:pic>
      <p:sp>
        <p:nvSpPr>
          <p:cNvPr id="24" name="Shape 16"/>
          <p:cNvSpPr/>
          <p:nvPr/>
        </p:nvSpPr>
        <p:spPr>
          <a:xfrm>
            <a:off x="5715000" y="4777740"/>
            <a:ext cx="1181405" cy="304495"/>
          </a:xfrm>
          <a:prstGeom prst="roundRect">
            <a:avLst>
              <a:gd name="adj" fmla="val 300300"/>
            </a:avLst>
          </a:prstGeom>
          <a:solidFill>
            <a:srgbClr val="1A3A8A"/>
          </a:solidFill>
          <a:ln w="12700">
            <a:solidFill>
              <a:srgbClr val="FFFFFF">
                <a:alpha val="0"/>
              </a:srgbClr>
            </a:solidFill>
            <a:prstDash val="solid"/>
          </a:ln>
        </p:spPr>
        <p:txBody>
          <a:bodyPr/>
          <a:lstStyle/>
          <a:p>
            <a:endParaRPr lang="ja-JP" altLang="en-US"/>
          </a:p>
        </p:txBody>
      </p:sp>
      <p:sp>
        <p:nvSpPr>
          <p:cNvPr id="25" name="Text 17"/>
          <p:cNvSpPr/>
          <p:nvPr/>
        </p:nvSpPr>
        <p:spPr>
          <a:xfrm>
            <a:off x="5686654" y="4777740"/>
            <a:ext cx="1239012"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200" b="1" kern="0" spc="75" dirty="0">
                <a:solidFill>
                  <a:srgbClr val="FFFFFF"/>
                </a:solidFill>
                <a:latin typeface="Noto Sans JP" pitchFamily="34" charset="0"/>
                <a:ea typeface="Noto Sans JP" pitchFamily="34" charset="-122"/>
                <a:cs typeface="Noto Sans JP" pitchFamily="34" charset="-120"/>
              </a:rPr>
              <a:t>REASON 03</a:t>
            </a:r>
            <a:endParaRPr lang="en-US" sz="1200" dirty="0"/>
          </a:p>
        </p:txBody>
      </p:sp>
      <p:sp>
        <p:nvSpPr>
          <p:cNvPr id="26" name="Text 18"/>
          <p:cNvSpPr txBox="1"/>
          <p:nvPr/>
        </p:nvSpPr>
        <p:spPr>
          <a:xfrm>
            <a:off x="7040880" y="4777740"/>
            <a:ext cx="2345436" cy="305410"/>
          </a:xfrm>
          <a:prstGeom prst="rect">
            <a:avLst/>
          </a:prstGeom>
          <a:noFill/>
          <a:ln/>
        </p:spPr>
        <p:txBody>
          <a:bodyPr wrap="square" lIns="0" tIns="0" rIns="0" bIns="0" rtlCol="0" anchor="ctr"/>
          <a:lstStyle/>
          <a:p>
            <a:pPr marL="0" indent="0" algn="l">
              <a:buNone/>
            </a:pPr>
            <a:r>
              <a:rPr lang="en-US" sz="1600" b="1" dirty="0">
                <a:solidFill>
                  <a:srgbClr val="1A3A8A"/>
                </a:solidFill>
                <a:latin typeface="Noto Sans JP" pitchFamily="34" charset="0"/>
                <a:ea typeface="Noto Sans JP" pitchFamily="34" charset="-122"/>
                <a:cs typeface="Noto Sans JP" pitchFamily="34" charset="-120"/>
              </a:rPr>
              <a:t>HJの独自ネットワーク</a:t>
            </a:r>
            <a:endParaRPr lang="en-US" sz="1600" dirty="0"/>
          </a:p>
        </p:txBody>
      </p:sp>
      <p:sp>
        <p:nvSpPr>
          <p:cNvPr id="27" name="Text 19"/>
          <p:cNvSpPr txBox="1"/>
          <p:nvPr/>
        </p:nvSpPr>
        <p:spPr>
          <a:xfrm>
            <a:off x="5715000" y="5234940"/>
            <a:ext cx="5677510" cy="495605"/>
          </a:xfrm>
          <a:prstGeom prst="rect">
            <a:avLst/>
          </a:prstGeom>
          <a:noFill/>
          <a:ln/>
        </p:spPr>
        <p:txBody>
          <a:bodyPr wrap="square" lIns="0" tIns="0" rIns="0" bIns="0" rtlCol="0" anchor="t"/>
          <a:lstStyle/>
          <a:p>
            <a:pPr marL="0" indent="0" algn="l">
              <a:buNone/>
            </a:pPr>
            <a:r>
              <a:rPr lang="en-US" sz="1200" dirty="0">
                <a:solidFill>
                  <a:srgbClr val="555555"/>
                </a:solidFill>
                <a:latin typeface="Noto Sans JP" pitchFamily="34" charset="0"/>
                <a:ea typeface="Noto Sans JP" pitchFamily="34" charset="-122"/>
                <a:cs typeface="Noto Sans JP" pitchFamily="34" charset="-120"/>
              </a:rPr>
              <a:t>ミスコン × TGC TEEN × 地上波という</a:t>
            </a:r>
            <a:r>
              <a:rPr lang="en-US" sz="1200" b="1" dirty="0">
                <a:solidFill>
                  <a:srgbClr val="1E8CA6"/>
                </a:solidFill>
                <a:latin typeface="Noto Sans JP" pitchFamily="34" charset="0"/>
                <a:ea typeface="Noto Sans JP" pitchFamily="34" charset="-122"/>
                <a:cs typeface="Noto Sans JP" pitchFamily="34" charset="-120"/>
              </a:rPr>
              <a:t>唯一無二の組み合わせ</a:t>
            </a:r>
            <a:r>
              <a:rPr lang="en-US" sz="1200" dirty="0">
                <a:solidFill>
                  <a:srgbClr val="555555"/>
                </a:solidFill>
                <a:latin typeface="Noto Sans JP" pitchFamily="34" charset="0"/>
                <a:ea typeface="Noto Sans JP" pitchFamily="34" charset="-122"/>
                <a:cs typeface="Noto Sans JP" pitchFamily="34" charset="-120"/>
              </a:rPr>
              <a:t>により、垂直立ち上げと持続的な露出を可能にする。</a:t>
            </a:r>
            <a:endParaRPr lang="en-US" sz="1200" dirty="0"/>
          </a:p>
        </p:txBody>
      </p:sp>
      <p:sp>
        <p:nvSpPr>
          <p:cNvPr id="28" name="Text 20"/>
          <p:cNvSpPr txBox="1"/>
          <p:nvPr/>
        </p:nvSpPr>
        <p:spPr>
          <a:xfrm>
            <a:off x="381305" y="228600"/>
            <a:ext cx="247802" cy="333756"/>
          </a:xfrm>
          <a:prstGeom prst="rect">
            <a:avLst/>
          </a:prstGeom>
          <a:noFill/>
          <a:ln/>
        </p:spPr>
        <p:txBody>
          <a:bodyPr wrap="square" lIns="0" tIns="0" rIns="0" bIns="0" rtlCol="0" anchor="ctr"/>
          <a:lstStyle/>
          <a:p>
            <a:pPr marL="0" indent="0" algn="l">
              <a:buNone/>
            </a:pPr>
            <a:r>
              <a:rPr lang="en-US" sz="1800" b="1" kern="0" spc="-75" dirty="0">
                <a:solidFill>
                  <a:srgbClr val="1E8CA6"/>
                </a:solidFill>
                <a:latin typeface="Noto Sans JP" pitchFamily="34" charset="0"/>
                <a:ea typeface="Noto Sans JP" pitchFamily="34" charset="-122"/>
                <a:cs typeface="Noto Sans JP" pitchFamily="34" charset="-120"/>
              </a:rPr>
              <a:t>H</a:t>
            </a:r>
            <a:endParaRPr lang="en-US" sz="1800" dirty="0"/>
          </a:p>
        </p:txBody>
      </p:sp>
      <p:sp>
        <p:nvSpPr>
          <p:cNvPr id="29" name="Text 21"/>
          <p:cNvSpPr txBox="1"/>
          <p:nvPr/>
        </p:nvSpPr>
        <p:spPr>
          <a:xfrm>
            <a:off x="548640" y="228600"/>
            <a:ext cx="210312" cy="333756"/>
          </a:xfrm>
          <a:prstGeom prst="rect">
            <a:avLst/>
          </a:prstGeom>
          <a:noFill/>
          <a:ln/>
        </p:spPr>
        <p:txBody>
          <a:bodyPr wrap="square" lIns="0" tIns="0" rIns="0" bIns="0" rtlCol="0" anchor="ctr"/>
          <a:lstStyle/>
          <a:p>
            <a:pPr marL="0" indent="0" algn="l">
              <a:buNone/>
            </a:pPr>
            <a:r>
              <a:rPr lang="en-US" sz="1800" b="1" kern="0" spc="-75" dirty="0">
                <a:solidFill>
                  <a:srgbClr val="1A3A8A"/>
                </a:solidFill>
                <a:latin typeface="Noto Sans JP" pitchFamily="34" charset="0"/>
                <a:ea typeface="Noto Sans JP" pitchFamily="34" charset="-122"/>
                <a:cs typeface="Noto Sans JP" pitchFamily="34" charset="-120"/>
              </a:rPr>
              <a:t>J</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285293"/>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6705295" y="0"/>
            <a:ext cx="5486400" cy="6858000"/>
          </a:xfrm>
          <a:custGeom>
            <a:avLst/>
            <a:gdLst/>
            <a:ahLst/>
            <a:cxnLst/>
            <a:rect l="l" t="t" r="r" b="b"/>
            <a:pathLst>
              <a:path w="5486400" h="6858000">
                <a:moveTo>
                  <a:pt x="1371600" y="0"/>
                </a:moveTo>
                <a:lnTo>
                  <a:pt x="5486400" y="0"/>
                </a:lnTo>
                <a:lnTo>
                  <a:pt x="5486400" y="6858000"/>
                </a:lnTo>
                <a:lnTo>
                  <a:pt x="0" y="6858000"/>
                </a:lnTo>
                <a:close/>
              </a:path>
            </a:pathLst>
          </a:custGeom>
          <a:solidFill>
            <a:srgbClr val="1A3A8A"/>
          </a:solidFill>
          <a:ln/>
        </p:spPr>
        <p:txBody>
          <a:bodyPr/>
          <a:lstStyle/>
          <a:p>
            <a:endParaRPr lang="ja-JP" altLang="en-US"/>
          </a:p>
        </p:txBody>
      </p:sp>
      <p:sp>
        <p:nvSpPr>
          <p:cNvPr id="4" name="Shape 2"/>
          <p:cNvSpPr/>
          <p:nvPr/>
        </p:nvSpPr>
        <p:spPr>
          <a:xfrm>
            <a:off x="9334195" y="4000500"/>
            <a:ext cx="3810305" cy="3810305"/>
          </a:xfrm>
          <a:prstGeom prst="ellipse">
            <a:avLst/>
          </a:prstGeom>
          <a:noFill/>
          <a:ln w="25400">
            <a:solidFill>
              <a:srgbClr val="FFFFFF">
                <a:alpha val="10000"/>
              </a:srgbClr>
            </a:solidFill>
            <a:prstDash val="solid"/>
          </a:ln>
        </p:spPr>
        <p:txBody>
          <a:bodyPr/>
          <a:lstStyle/>
          <a:p>
            <a:endParaRPr lang="ja-JP" altLang="en-US"/>
          </a:p>
        </p:txBody>
      </p:sp>
      <p:pic>
        <p:nvPicPr>
          <p:cNvPr id="5" name="Image 0" descr="preencoded.png"/>
          <p:cNvPicPr>
            <a:picLocks noChangeAspect="1"/>
          </p:cNvPicPr>
          <p:nvPr/>
        </p:nvPicPr>
        <p:blipFill>
          <a:blip r:embed="rId3"/>
          <a:srcRect l="-400" r="-400"/>
          <a:stretch/>
        </p:blipFill>
        <p:spPr>
          <a:xfrm>
            <a:off x="11350447" y="0"/>
            <a:ext cx="19202" cy="6858000"/>
          </a:xfrm>
          <a:prstGeom prst="rect">
            <a:avLst/>
          </a:prstGeom>
        </p:spPr>
      </p:pic>
      <p:sp>
        <p:nvSpPr>
          <p:cNvPr id="6" name="Text 3"/>
          <p:cNvSpPr txBox="1"/>
          <p:nvPr/>
        </p:nvSpPr>
        <p:spPr>
          <a:xfrm>
            <a:off x="9980676" y="2743200"/>
            <a:ext cx="1645006" cy="1143000"/>
          </a:xfrm>
          <a:prstGeom prst="rect">
            <a:avLst/>
          </a:prstGeom>
          <a:noFill/>
          <a:ln/>
        </p:spPr>
        <p:txBody>
          <a:bodyPr wrap="square" lIns="0" tIns="0" rIns="0" bIns="0" rtlCol="0" anchor="t"/>
          <a:lstStyle/>
          <a:p>
            <a:pPr marL="0" indent="0" algn="r">
              <a:buNone/>
            </a:pPr>
            <a:r>
              <a:rPr lang="en-US" sz="4500" b="1" dirty="0">
                <a:solidFill>
                  <a:srgbClr val="FFFFFF">
                    <a:alpha val="20000"/>
                  </a:srgbClr>
                </a:solidFill>
                <a:latin typeface="Noto Sans JP" pitchFamily="34" charset="0"/>
                <a:ea typeface="Noto Sans JP" pitchFamily="34" charset="-122"/>
                <a:cs typeface="Noto Sans JP" pitchFamily="34" charset="-120"/>
              </a:rPr>
              <a:t>2028</a:t>
            </a:r>
            <a:endParaRPr lang="en-US" sz="4500" dirty="0"/>
          </a:p>
          <a:p>
            <a:pPr marL="0" indent="0" algn="r">
              <a:buNone/>
            </a:pPr>
            <a:r>
              <a:rPr lang="en-US" sz="4500" b="1" dirty="0">
                <a:solidFill>
                  <a:srgbClr val="FFFFFF">
                    <a:alpha val="20000"/>
                  </a:srgbClr>
                </a:solidFill>
                <a:latin typeface="Noto Sans JP" pitchFamily="34" charset="0"/>
                <a:ea typeface="Noto Sans JP" pitchFamily="34" charset="-122"/>
                <a:cs typeface="Noto Sans JP" pitchFamily="34" charset="-120"/>
              </a:rPr>
              <a:t>GOAL</a:t>
            </a:r>
            <a:endParaRPr lang="en-US" sz="4500" dirty="0"/>
          </a:p>
        </p:txBody>
      </p:sp>
      <p:pic>
        <p:nvPicPr>
          <p:cNvPr id="7" name="Image 1" descr="preencoded.png"/>
          <p:cNvPicPr>
            <a:picLocks noChangeAspect="1"/>
          </p:cNvPicPr>
          <p:nvPr/>
        </p:nvPicPr>
        <p:blipFill>
          <a:blip r:embed="rId4"/>
          <a:srcRect l="-181" r="-181"/>
          <a:stretch/>
        </p:blipFill>
        <p:spPr>
          <a:xfrm>
            <a:off x="761695" y="1391717"/>
            <a:ext cx="761695" cy="75895"/>
          </a:xfrm>
          <a:prstGeom prst="rect">
            <a:avLst/>
          </a:prstGeom>
        </p:spPr>
      </p:pic>
      <p:sp>
        <p:nvSpPr>
          <p:cNvPr id="8" name="Text 4"/>
          <p:cNvSpPr txBox="1"/>
          <p:nvPr/>
        </p:nvSpPr>
        <p:spPr>
          <a:xfrm>
            <a:off x="761695" y="1753819"/>
            <a:ext cx="6591910" cy="819302"/>
          </a:xfrm>
          <a:prstGeom prst="rect">
            <a:avLst/>
          </a:prstGeom>
          <a:noFill/>
          <a:ln/>
        </p:spPr>
        <p:txBody>
          <a:bodyPr wrap="square" lIns="0" tIns="0" rIns="0" bIns="0" rtlCol="0" anchor="ctr"/>
          <a:lstStyle/>
          <a:p>
            <a:pPr marL="0" indent="0" algn="l">
              <a:buNone/>
            </a:pPr>
            <a:r>
              <a:rPr lang="en-US" sz="6400" b="1" kern="0" spc="-150" dirty="0" err="1">
                <a:solidFill>
                  <a:srgbClr val="1A3A8A"/>
                </a:solidFill>
                <a:latin typeface="Noto Sans JP" pitchFamily="34" charset="0"/>
                <a:ea typeface="Noto Sans JP" pitchFamily="34" charset="-122"/>
              </a:rPr>
              <a:t>渋一（シブワン</a:t>
            </a:r>
            <a:r>
              <a:rPr lang="en-US" sz="6400" b="1" kern="0" spc="-150" dirty="0">
                <a:solidFill>
                  <a:srgbClr val="1A3A8A"/>
                </a:solidFill>
                <a:latin typeface="Noto Sans JP" pitchFamily="34" charset="0"/>
                <a:ea typeface="Noto Sans JP" pitchFamily="34" charset="-122"/>
              </a:rPr>
              <a:t>）</a:t>
            </a:r>
            <a:endParaRPr lang="en-US" sz="6400" dirty="0"/>
          </a:p>
        </p:txBody>
      </p:sp>
      <p:sp>
        <p:nvSpPr>
          <p:cNvPr id="9" name="Text 5"/>
          <p:cNvSpPr txBox="1"/>
          <p:nvPr/>
        </p:nvSpPr>
        <p:spPr>
          <a:xfrm>
            <a:off x="761695" y="2668219"/>
            <a:ext cx="6591910" cy="457200"/>
          </a:xfrm>
          <a:prstGeom prst="rect">
            <a:avLst/>
          </a:prstGeom>
          <a:noFill/>
          <a:ln/>
        </p:spPr>
        <p:txBody>
          <a:bodyPr wrap="square" lIns="0" tIns="0" rIns="0" bIns="0" rtlCol="0" anchor="ctr"/>
          <a:lstStyle/>
          <a:p>
            <a:pPr marL="0" indent="0" algn="l">
              <a:buNone/>
            </a:pPr>
            <a:r>
              <a:rPr lang="en-US" sz="2400" b="1" kern="0" spc="75" dirty="0">
                <a:solidFill>
                  <a:srgbClr val="1A3A8A"/>
                </a:solidFill>
                <a:latin typeface="Noto Sans JP" pitchFamily="34" charset="0"/>
                <a:ea typeface="Noto Sans JP" pitchFamily="34" charset="-122"/>
                <a:cs typeface="Noto Sans JP" pitchFamily="34" charset="-120"/>
              </a:rPr>
              <a:t>日本最大のメンズIP創出装置</a:t>
            </a:r>
            <a:endParaRPr lang="en-US" sz="2400" dirty="0"/>
          </a:p>
        </p:txBody>
      </p:sp>
      <p:sp>
        <p:nvSpPr>
          <p:cNvPr id="10" name="Text 6"/>
          <p:cNvSpPr txBox="1"/>
          <p:nvPr/>
        </p:nvSpPr>
        <p:spPr>
          <a:xfrm>
            <a:off x="761695" y="3544214"/>
            <a:ext cx="6551676" cy="962863"/>
          </a:xfrm>
          <a:prstGeom prst="rect">
            <a:avLst/>
          </a:prstGeom>
          <a:noFill/>
          <a:ln/>
        </p:spPr>
        <p:txBody>
          <a:bodyPr wrap="square" lIns="0" tIns="0" rIns="0" bIns="0" rtlCol="0" anchor="t"/>
          <a:lstStyle/>
          <a:p>
            <a:pPr marL="0" indent="0" algn="l">
              <a:buNone/>
            </a:pPr>
            <a:r>
              <a:rPr lang="en-US" sz="3100" b="1" kern="0" spc="-75" dirty="0">
                <a:solidFill>
                  <a:srgbClr val="1E8CA6"/>
                </a:solidFill>
                <a:latin typeface="Noto Sans JP" pitchFamily="34" charset="0"/>
                <a:ea typeface="Noto Sans JP" pitchFamily="34" charset="-122"/>
                <a:cs typeface="Noto Sans JP" pitchFamily="34" charset="-120"/>
              </a:rPr>
              <a:t>2028年、</a:t>
            </a:r>
            <a:endParaRPr lang="en-US" sz="3100" dirty="0"/>
          </a:p>
          <a:p>
            <a:pPr marL="0" indent="0" algn="l">
              <a:buNone/>
            </a:pPr>
            <a:r>
              <a:rPr lang="en-US" sz="3100" b="1" kern="0" spc="-75" dirty="0">
                <a:solidFill>
                  <a:srgbClr val="1E8CA6"/>
                </a:solidFill>
                <a:latin typeface="Noto Sans JP" pitchFamily="34" charset="0"/>
                <a:ea typeface="Noto Sans JP" pitchFamily="34" charset="-122"/>
                <a:cs typeface="Noto Sans JP" pitchFamily="34" charset="-120"/>
              </a:rPr>
              <a:t>メンズ芸能部門1位へ。</a:t>
            </a:r>
            <a:endParaRPr lang="en-US" sz="3100" dirty="0"/>
          </a:p>
        </p:txBody>
      </p:sp>
      <p:sp>
        <p:nvSpPr>
          <p:cNvPr id="11" name="Shape 7"/>
          <p:cNvSpPr/>
          <p:nvPr/>
        </p:nvSpPr>
        <p:spPr>
          <a:xfrm>
            <a:off x="761695" y="4980737"/>
            <a:ext cx="38405" cy="609905"/>
          </a:xfrm>
          <a:prstGeom prst="rect">
            <a:avLst/>
          </a:prstGeom>
          <a:solidFill>
            <a:srgbClr val="1A3A8A"/>
          </a:solidFill>
          <a:ln w="12700">
            <a:solidFill>
              <a:srgbClr val="1A3A8A">
                <a:alpha val="0"/>
              </a:srgbClr>
            </a:solidFill>
            <a:prstDash val="solid"/>
          </a:ln>
        </p:spPr>
        <p:txBody>
          <a:bodyPr/>
          <a:lstStyle/>
          <a:p>
            <a:endParaRPr lang="ja-JP" altLang="en-US"/>
          </a:p>
        </p:txBody>
      </p:sp>
      <p:sp>
        <p:nvSpPr>
          <p:cNvPr id="12" name="Text 8"/>
          <p:cNvSpPr txBox="1"/>
          <p:nvPr/>
        </p:nvSpPr>
        <p:spPr>
          <a:xfrm>
            <a:off x="952805" y="4980737"/>
            <a:ext cx="6286500" cy="609905"/>
          </a:xfrm>
          <a:prstGeom prst="rect">
            <a:avLst/>
          </a:prstGeom>
          <a:noFill/>
          <a:ln/>
        </p:spPr>
        <p:txBody>
          <a:bodyPr wrap="square" lIns="0" tIns="0" rIns="0" bIns="0" rtlCol="0" anchor="t"/>
          <a:lstStyle/>
          <a:p>
            <a:pPr marL="0" indent="0" algn="l">
              <a:buNone/>
            </a:pPr>
            <a:r>
              <a:rPr lang="en-US" sz="1500" kern="0" spc="38" dirty="0">
                <a:solidFill>
                  <a:srgbClr val="555555"/>
                </a:solidFill>
                <a:latin typeface="Noto Sans JP" pitchFamily="34" charset="0"/>
                <a:ea typeface="Noto Sans JP" pitchFamily="34" charset="-122"/>
                <a:cs typeface="Noto Sans JP" pitchFamily="34" charset="-120"/>
              </a:rPr>
              <a:t>Z・α世代女性が最初に推す男性スターを、</a:t>
            </a:r>
            <a:endParaRPr lang="en-US" sz="1500" dirty="0"/>
          </a:p>
          <a:p>
            <a:pPr marL="0" indent="0" algn="l">
              <a:buNone/>
            </a:pPr>
            <a:r>
              <a:rPr lang="en-US" sz="1500" kern="0" spc="38" dirty="0">
                <a:solidFill>
                  <a:srgbClr val="555555"/>
                </a:solidFill>
                <a:latin typeface="Noto Sans JP" pitchFamily="34" charset="0"/>
                <a:ea typeface="Noto Sans JP" pitchFamily="34" charset="-122"/>
                <a:cs typeface="Noto Sans JP" pitchFamily="34" charset="-120"/>
              </a:rPr>
              <a:t>毎年生み出し続ける。</a:t>
            </a:r>
            <a:endParaRPr lang="en-US" sz="1500" dirty="0"/>
          </a:p>
        </p:txBody>
      </p:sp>
      <p:sp>
        <p:nvSpPr>
          <p:cNvPr id="13" name="Shape 9"/>
          <p:cNvSpPr/>
          <p:nvPr/>
        </p:nvSpPr>
        <p:spPr>
          <a:xfrm>
            <a:off x="761695" y="886968"/>
            <a:ext cx="1009498" cy="314554"/>
          </a:xfrm>
          <a:prstGeom prst="roundRect">
            <a:avLst>
              <a:gd name="adj" fmla="val 70472"/>
            </a:avLst>
          </a:prstGeom>
          <a:solidFill>
            <a:srgbClr val="F0F4F8"/>
          </a:solidFill>
          <a:ln/>
        </p:spPr>
        <p:txBody>
          <a:bodyPr/>
          <a:lstStyle/>
          <a:p>
            <a:endParaRPr lang="ja-JP" altLang="en-US"/>
          </a:p>
        </p:txBody>
      </p:sp>
      <p:sp>
        <p:nvSpPr>
          <p:cNvPr id="14" name="Shape 10"/>
          <p:cNvSpPr/>
          <p:nvPr/>
        </p:nvSpPr>
        <p:spPr>
          <a:xfrm>
            <a:off x="761695" y="886968"/>
            <a:ext cx="38405" cy="314554"/>
          </a:xfrm>
          <a:prstGeom prst="roundRect">
            <a:avLst>
              <a:gd name="adj" fmla="val 577198"/>
            </a:avLst>
          </a:prstGeom>
          <a:solidFill>
            <a:srgbClr val="1E8CA6"/>
          </a:solidFill>
          <a:ln w="12700">
            <a:solidFill>
              <a:srgbClr val="1E8CA6">
                <a:alpha val="0"/>
              </a:srgbClr>
            </a:solidFill>
            <a:prstDash val="solid"/>
          </a:ln>
        </p:spPr>
        <p:txBody>
          <a:bodyPr/>
          <a:lstStyle/>
          <a:p>
            <a:endParaRPr lang="ja-JP" altLang="en-US"/>
          </a:p>
        </p:txBody>
      </p:sp>
      <p:sp>
        <p:nvSpPr>
          <p:cNvPr id="15" name="Text 11"/>
          <p:cNvSpPr txBox="1"/>
          <p:nvPr/>
        </p:nvSpPr>
        <p:spPr>
          <a:xfrm>
            <a:off x="761695" y="886968"/>
            <a:ext cx="1067105" cy="314554"/>
          </a:xfrm>
          <a:prstGeom prst="rect">
            <a:avLst/>
          </a:prstGeom>
          <a:solidFill>
            <a:srgbClr val="FFFFFF">
              <a:alpha val="0"/>
            </a:srgbClr>
          </a:solidFill>
          <a:ln>
            <a:solidFill>
              <a:srgbClr val="FFFFFF">
                <a:alpha val="0"/>
              </a:srgbClr>
            </a:solidFill>
          </a:ln>
        </p:spPr>
        <p:txBody>
          <a:bodyPr wrap="square" lIns="152400" tIns="63500" rIns="152400" bIns="63500" rtlCol="0" anchor="t"/>
          <a:lstStyle/>
          <a:p>
            <a:pPr marL="0" indent="0" algn="l">
              <a:buNone/>
            </a:pPr>
            <a:r>
              <a:rPr lang="en-US" sz="1000" b="1" dirty="0">
                <a:solidFill>
                  <a:srgbClr val="1A3A8A"/>
                </a:solidFill>
                <a:latin typeface="Noto Sans JP" pitchFamily="34" charset="0"/>
                <a:ea typeface="Noto Sans JP" pitchFamily="34" charset="-122"/>
                <a:cs typeface="Noto Sans JP" pitchFamily="34" charset="-120"/>
              </a:rPr>
              <a:t>SUMMARY</a:t>
            </a:r>
            <a:endParaRPr lang="en-US" sz="1000" dirty="0"/>
          </a:p>
        </p:txBody>
      </p:sp>
      <p:sp>
        <p:nvSpPr>
          <p:cNvPr id="16" name="Text 12"/>
          <p:cNvSpPr txBox="1"/>
          <p:nvPr/>
        </p:nvSpPr>
        <p:spPr>
          <a:xfrm>
            <a:off x="476402" y="390449"/>
            <a:ext cx="305410" cy="438912"/>
          </a:xfrm>
          <a:prstGeom prst="rect">
            <a:avLst/>
          </a:prstGeom>
          <a:noFill/>
          <a:ln/>
        </p:spPr>
        <p:txBody>
          <a:bodyPr wrap="square" lIns="0" tIns="0" rIns="0" bIns="0" rtlCol="0" anchor="ctr"/>
          <a:lstStyle/>
          <a:p>
            <a:pPr marL="0" indent="0" algn="l">
              <a:buNone/>
            </a:pPr>
            <a:r>
              <a:rPr lang="en-US" sz="2400" b="1" kern="0" spc="-75" dirty="0">
                <a:solidFill>
                  <a:srgbClr val="1E8CA6"/>
                </a:solidFill>
                <a:latin typeface="Noto Sans JP" pitchFamily="34" charset="0"/>
                <a:ea typeface="Noto Sans JP" pitchFamily="34" charset="-122"/>
                <a:cs typeface="Noto Sans JP" pitchFamily="34" charset="-120"/>
              </a:rPr>
              <a:t>H</a:t>
            </a:r>
            <a:endParaRPr lang="en-US" sz="2400" dirty="0"/>
          </a:p>
        </p:txBody>
      </p:sp>
      <p:sp>
        <p:nvSpPr>
          <p:cNvPr id="17" name="Text 13"/>
          <p:cNvSpPr txBox="1"/>
          <p:nvPr/>
        </p:nvSpPr>
        <p:spPr>
          <a:xfrm>
            <a:off x="703174" y="390449"/>
            <a:ext cx="247802" cy="438912"/>
          </a:xfrm>
          <a:prstGeom prst="rect">
            <a:avLst/>
          </a:prstGeom>
          <a:noFill/>
          <a:ln/>
        </p:spPr>
        <p:txBody>
          <a:bodyPr wrap="square" lIns="0" tIns="0" rIns="0" bIns="0" rtlCol="0" anchor="ctr"/>
          <a:lstStyle/>
          <a:p>
            <a:pPr marL="0" indent="0" algn="l">
              <a:buNone/>
            </a:pPr>
            <a:r>
              <a:rPr lang="en-US" sz="2400" b="1" kern="0" spc="-75" dirty="0">
                <a:solidFill>
                  <a:srgbClr val="1A3A8A"/>
                </a:solidFill>
                <a:latin typeface="Noto Sans JP" pitchFamily="34" charset="0"/>
                <a:ea typeface="Noto Sans JP" pitchFamily="34" charset="-122"/>
                <a:cs typeface="Noto Sans JP" pitchFamily="34" charset="-120"/>
              </a:rPr>
              <a:t>J</a:t>
            </a:r>
            <a:endParaRPr lang="en-US" sz="2400" dirty="0"/>
          </a:p>
        </p:txBody>
      </p:sp>
      <p:sp>
        <p:nvSpPr>
          <p:cNvPr id="18" name="Shape 14"/>
          <p:cNvSpPr/>
          <p:nvPr/>
        </p:nvSpPr>
        <p:spPr>
          <a:xfrm>
            <a:off x="476402" y="6324905"/>
            <a:ext cx="1123980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19" name="Text 15"/>
          <p:cNvSpPr txBox="1"/>
          <p:nvPr/>
        </p:nvSpPr>
        <p:spPr>
          <a:xfrm>
            <a:off x="476402" y="6429146"/>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20" name="Text 16"/>
          <p:cNvSpPr txBox="1"/>
          <p:nvPr/>
        </p:nvSpPr>
        <p:spPr>
          <a:xfrm>
            <a:off x="10680192" y="6429146"/>
            <a:ext cx="1038758" cy="143561"/>
          </a:xfrm>
          <a:prstGeom prst="rect">
            <a:avLst/>
          </a:prstGeom>
          <a:noFill/>
          <a:ln/>
        </p:spPr>
        <p:txBody>
          <a:bodyPr wrap="square" lIns="0" tIns="0" rIns="0" bIns="0" rtlCol="0" anchor="ctr"/>
          <a:lstStyle/>
          <a:p>
            <a:pPr marL="0" indent="0" algn="r">
              <a:buNone/>
            </a:pPr>
            <a:r>
              <a:rPr lang="en-US" sz="800" dirty="0">
                <a:solidFill>
                  <a:srgbClr val="FFFFFF">
                    <a:alpha val="70000"/>
                  </a:srgbClr>
                </a:solidFill>
                <a:latin typeface="Noto Sans JP" pitchFamily="34" charset="0"/>
                <a:ea typeface="Noto Sans JP" pitchFamily="34" charset="-122"/>
                <a:cs typeface="Noto Sans JP" pitchFamily="34" charset="-120"/>
              </a:rPr>
              <a:t>SHIBU1 PROJECT</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6705295" y="0"/>
            <a:ext cx="5486400" cy="6858000"/>
          </a:xfrm>
          <a:custGeom>
            <a:avLst/>
            <a:gdLst/>
            <a:ahLst/>
            <a:cxnLst/>
            <a:rect l="l" t="t" r="r" b="b"/>
            <a:pathLst>
              <a:path w="5486400" h="6858000">
                <a:moveTo>
                  <a:pt x="1371600" y="0"/>
                </a:moveTo>
                <a:lnTo>
                  <a:pt x="5486400" y="0"/>
                </a:lnTo>
                <a:lnTo>
                  <a:pt x="5486400" y="6858000"/>
                </a:lnTo>
                <a:lnTo>
                  <a:pt x="0" y="6858000"/>
                </a:lnTo>
                <a:close/>
              </a:path>
            </a:pathLst>
          </a:custGeom>
          <a:solidFill>
            <a:srgbClr val="1A3A8A"/>
          </a:solidFill>
          <a:ln/>
        </p:spPr>
        <p:txBody>
          <a:bodyPr/>
          <a:lstStyle/>
          <a:p>
            <a:endParaRPr lang="ja-JP" altLang="en-US"/>
          </a:p>
        </p:txBody>
      </p:sp>
      <p:sp>
        <p:nvSpPr>
          <p:cNvPr id="4" name="Shape 2"/>
          <p:cNvSpPr/>
          <p:nvPr/>
        </p:nvSpPr>
        <p:spPr>
          <a:xfrm>
            <a:off x="9334195" y="4000500"/>
            <a:ext cx="3810305" cy="3810305"/>
          </a:xfrm>
          <a:prstGeom prst="ellipse">
            <a:avLst/>
          </a:prstGeom>
          <a:noFill/>
          <a:ln w="25400">
            <a:solidFill>
              <a:srgbClr val="FFFFFF">
                <a:alpha val="10000"/>
              </a:srgbClr>
            </a:solidFill>
            <a:prstDash val="solid"/>
          </a:ln>
        </p:spPr>
        <p:txBody>
          <a:bodyPr/>
          <a:lstStyle/>
          <a:p>
            <a:endParaRPr lang="ja-JP" altLang="en-US"/>
          </a:p>
        </p:txBody>
      </p:sp>
      <p:pic>
        <p:nvPicPr>
          <p:cNvPr id="5" name="Image 0" descr="preencoded.png"/>
          <p:cNvPicPr>
            <a:picLocks noChangeAspect="1"/>
          </p:cNvPicPr>
          <p:nvPr/>
        </p:nvPicPr>
        <p:blipFill>
          <a:blip r:embed="rId3"/>
          <a:srcRect l="-400" r="-400"/>
          <a:stretch/>
        </p:blipFill>
        <p:spPr>
          <a:xfrm>
            <a:off x="11350447" y="0"/>
            <a:ext cx="19202" cy="6858000"/>
          </a:xfrm>
          <a:prstGeom prst="rect">
            <a:avLst/>
          </a:prstGeom>
        </p:spPr>
      </p:pic>
      <p:sp>
        <p:nvSpPr>
          <p:cNvPr id="6" name="Text 3"/>
          <p:cNvSpPr txBox="1"/>
          <p:nvPr/>
        </p:nvSpPr>
        <p:spPr>
          <a:xfrm>
            <a:off x="8878824" y="2743200"/>
            <a:ext cx="2744114" cy="1143000"/>
          </a:xfrm>
          <a:prstGeom prst="rect">
            <a:avLst/>
          </a:prstGeom>
          <a:noFill/>
          <a:ln/>
        </p:spPr>
        <p:txBody>
          <a:bodyPr wrap="square" lIns="0" tIns="0" rIns="0" bIns="0" rtlCol="0" anchor="t"/>
          <a:lstStyle/>
          <a:p>
            <a:pPr marL="0" indent="0" algn="r">
              <a:buNone/>
            </a:pPr>
            <a:r>
              <a:rPr lang="en-US" sz="4500" b="1" dirty="0">
                <a:solidFill>
                  <a:srgbClr val="FFFFFF">
                    <a:alpha val="20000"/>
                  </a:srgbClr>
                </a:solidFill>
                <a:latin typeface="Noto Sans JP" pitchFamily="34" charset="0"/>
                <a:ea typeface="Noto Sans JP" pitchFamily="34" charset="-122"/>
                <a:cs typeface="Noto Sans JP" pitchFamily="34" charset="-120"/>
              </a:rPr>
              <a:t>SHIBU1</a:t>
            </a:r>
            <a:endParaRPr lang="en-US" sz="4500" dirty="0"/>
          </a:p>
          <a:p>
            <a:pPr marL="0" indent="0" algn="r">
              <a:buNone/>
            </a:pPr>
            <a:r>
              <a:rPr lang="en-US" sz="4500" b="1" dirty="0">
                <a:solidFill>
                  <a:srgbClr val="FFFFFF">
                    <a:alpha val="20000"/>
                  </a:srgbClr>
                </a:solidFill>
                <a:latin typeface="Noto Sans JP" pitchFamily="34" charset="0"/>
                <a:ea typeface="Noto Sans JP" pitchFamily="34" charset="-122"/>
                <a:cs typeface="Noto Sans JP" pitchFamily="34" charset="-120"/>
              </a:rPr>
              <a:t>PROJECT</a:t>
            </a:r>
            <a:endParaRPr lang="en-US" sz="4500" dirty="0"/>
          </a:p>
        </p:txBody>
      </p:sp>
      <p:sp>
        <p:nvSpPr>
          <p:cNvPr id="7" name="Text 4"/>
          <p:cNvSpPr txBox="1"/>
          <p:nvPr/>
        </p:nvSpPr>
        <p:spPr>
          <a:xfrm>
            <a:off x="761695" y="944575"/>
            <a:ext cx="6572707" cy="1343254"/>
          </a:xfrm>
          <a:prstGeom prst="rect">
            <a:avLst/>
          </a:prstGeom>
          <a:noFill/>
          <a:ln/>
        </p:spPr>
        <p:txBody>
          <a:bodyPr wrap="square" lIns="0" tIns="0" rIns="0" bIns="0" rtlCol="0" anchor="t"/>
          <a:lstStyle/>
          <a:p>
            <a:pPr marL="0" indent="0" algn="l">
              <a:buNone/>
            </a:pPr>
            <a:r>
              <a:rPr lang="en-US" sz="4800" b="1" kern="0" spc="-75" dirty="0">
                <a:solidFill>
                  <a:srgbClr val="1A3A8A"/>
                </a:solidFill>
                <a:latin typeface="Noto Sans JP" pitchFamily="34" charset="0"/>
                <a:ea typeface="Noto Sans JP" pitchFamily="34" charset="-122"/>
                <a:cs typeface="Noto Sans JP" pitchFamily="34" charset="-120"/>
              </a:rPr>
              <a:t>お問い合わせ /</a:t>
            </a:r>
            <a:endParaRPr lang="en-US" sz="4800" dirty="0"/>
          </a:p>
          <a:p>
            <a:pPr marL="0" indent="0" algn="l">
              <a:buNone/>
            </a:pPr>
            <a:r>
              <a:rPr lang="en-US" sz="4800" b="1" kern="0" spc="-75" dirty="0">
                <a:solidFill>
                  <a:srgbClr val="1A3A8A"/>
                </a:solidFill>
                <a:latin typeface="Noto Sans JP" pitchFamily="34" charset="0"/>
                <a:ea typeface="Noto Sans JP" pitchFamily="34" charset="-122"/>
                <a:cs typeface="Noto Sans JP" pitchFamily="34" charset="-120"/>
              </a:rPr>
              <a:t>CONFIDENTIAL</a:t>
            </a:r>
            <a:endParaRPr lang="en-US" sz="4800" dirty="0"/>
          </a:p>
        </p:txBody>
      </p:sp>
      <p:sp>
        <p:nvSpPr>
          <p:cNvPr id="8" name="Text 5"/>
          <p:cNvSpPr txBox="1"/>
          <p:nvPr/>
        </p:nvSpPr>
        <p:spPr>
          <a:xfrm>
            <a:off x="761695" y="2476195"/>
            <a:ext cx="6591910" cy="342900"/>
          </a:xfrm>
          <a:prstGeom prst="rect">
            <a:avLst/>
          </a:prstGeom>
          <a:noFill/>
          <a:ln/>
        </p:spPr>
        <p:txBody>
          <a:bodyPr wrap="square" lIns="0" tIns="0" rIns="0" bIns="0" rtlCol="0" anchor="ctr"/>
          <a:lstStyle/>
          <a:p>
            <a:pPr marL="0" indent="0" algn="l">
              <a:buNone/>
            </a:pPr>
            <a:r>
              <a:rPr lang="en-US" sz="1800" b="1" kern="0" spc="38" dirty="0">
                <a:solidFill>
                  <a:srgbClr val="555555"/>
                </a:solidFill>
                <a:latin typeface="Noto Sans JP" pitchFamily="34" charset="0"/>
                <a:ea typeface="Noto Sans JP" pitchFamily="34" charset="-122"/>
                <a:cs typeface="Noto Sans JP" pitchFamily="34" charset="-120"/>
              </a:rPr>
              <a:t>本資料について</a:t>
            </a:r>
            <a:endParaRPr lang="en-US" sz="1800" dirty="0"/>
          </a:p>
        </p:txBody>
      </p:sp>
      <p:sp>
        <p:nvSpPr>
          <p:cNvPr id="9" name="Shape 6"/>
          <p:cNvSpPr/>
          <p:nvPr/>
        </p:nvSpPr>
        <p:spPr>
          <a:xfrm>
            <a:off x="761695" y="3390595"/>
            <a:ext cx="57607" cy="1742846"/>
          </a:xfrm>
          <a:prstGeom prst="rect">
            <a:avLst/>
          </a:prstGeom>
          <a:solidFill>
            <a:srgbClr val="1E8CA6"/>
          </a:solidFill>
          <a:ln w="12700">
            <a:solidFill>
              <a:srgbClr val="1E8CA6">
                <a:alpha val="0"/>
              </a:srgbClr>
            </a:solidFill>
            <a:prstDash val="solid"/>
          </a:ln>
        </p:spPr>
        <p:txBody>
          <a:bodyPr/>
          <a:lstStyle/>
          <a:p>
            <a:endParaRPr lang="ja-JP" altLang="en-US"/>
          </a:p>
        </p:txBody>
      </p:sp>
      <p:sp>
        <p:nvSpPr>
          <p:cNvPr id="10" name="Text 7"/>
          <p:cNvSpPr txBox="1"/>
          <p:nvPr/>
        </p:nvSpPr>
        <p:spPr>
          <a:xfrm>
            <a:off x="1047902" y="3390595"/>
            <a:ext cx="6191402" cy="933602"/>
          </a:xfrm>
          <a:prstGeom prst="rect">
            <a:avLst/>
          </a:prstGeom>
          <a:noFill/>
          <a:ln/>
        </p:spPr>
        <p:txBody>
          <a:bodyPr wrap="square" lIns="0" tIns="0" rIns="0" bIns="0" rtlCol="0" anchor="t"/>
          <a:lstStyle/>
          <a:p>
            <a:pPr marL="0" indent="0" algn="l">
              <a:buNone/>
            </a:pPr>
            <a:r>
              <a:rPr lang="en-US" sz="1300" dirty="0">
                <a:solidFill>
                  <a:srgbClr val="666666"/>
                </a:solidFill>
                <a:latin typeface="Noto Sans JP" pitchFamily="34" charset="0"/>
                <a:ea typeface="Noto Sans JP" pitchFamily="34" charset="-122"/>
                <a:cs typeface="Noto Sans JP" pitchFamily="34" charset="-120"/>
              </a:rPr>
              <a:t>本資料に記載されている情報は、株式会社エイチジェイの機密情報を含みます。</a:t>
            </a:r>
            <a:endParaRPr lang="en-US" sz="1300" dirty="0"/>
          </a:p>
          <a:p>
            <a:pPr marL="0" indent="0" algn="l">
              <a:buNone/>
            </a:pPr>
            <a:r>
              <a:rPr lang="en-US" sz="1300" dirty="0">
                <a:solidFill>
                  <a:srgbClr val="666666"/>
                </a:solidFill>
                <a:latin typeface="Noto Sans JP" pitchFamily="34" charset="0"/>
                <a:ea typeface="Noto Sans JP" pitchFamily="34" charset="-122"/>
                <a:cs typeface="Noto Sans JP" pitchFamily="34" charset="-120"/>
              </a:rPr>
              <a:t> 許可なく第三者へ開示、複写、転載することを固く禁じます。</a:t>
            </a:r>
            <a:endParaRPr lang="en-US" sz="1300" dirty="0"/>
          </a:p>
        </p:txBody>
      </p:sp>
      <p:sp>
        <p:nvSpPr>
          <p:cNvPr id="11" name="Text 8"/>
          <p:cNvSpPr txBox="1"/>
          <p:nvPr/>
        </p:nvSpPr>
        <p:spPr>
          <a:xfrm>
            <a:off x="1047902" y="4469587"/>
            <a:ext cx="6191402" cy="553212"/>
          </a:xfrm>
          <a:prstGeom prst="rect">
            <a:avLst/>
          </a:prstGeom>
          <a:noFill/>
          <a:ln/>
        </p:spPr>
        <p:txBody>
          <a:bodyPr wrap="square" lIns="0" tIns="0" rIns="0" bIns="0" rtlCol="0" anchor="t"/>
          <a:lstStyle/>
          <a:p>
            <a:pPr marL="0" indent="0" algn="l">
              <a:buNone/>
            </a:pPr>
            <a:r>
              <a:rPr lang="en-US" sz="1200" dirty="0">
                <a:solidFill>
                  <a:srgbClr val="666666"/>
                </a:solidFill>
                <a:latin typeface="Noto Sans JP" pitchFamily="34" charset="0"/>
                <a:ea typeface="Noto Sans JP" pitchFamily="34" charset="-122"/>
                <a:cs typeface="Noto Sans JP" pitchFamily="34" charset="-120"/>
              </a:rPr>
              <a:t> プロジェクト名：SHIBU1（私立渋谷第一高等学校）</a:t>
            </a:r>
            <a:endParaRPr lang="en-US" sz="1200" dirty="0"/>
          </a:p>
          <a:p>
            <a:pPr marL="0" indent="0" algn="l">
              <a:buNone/>
            </a:pPr>
            <a:r>
              <a:rPr lang="en-US" sz="1200" dirty="0">
                <a:solidFill>
                  <a:srgbClr val="666666"/>
                </a:solidFill>
                <a:latin typeface="Noto Sans JP" pitchFamily="34" charset="0"/>
                <a:ea typeface="Noto Sans JP" pitchFamily="34" charset="-122"/>
                <a:cs typeface="Noto Sans JP" pitchFamily="34" charset="-120"/>
              </a:rPr>
              <a:t> Shibuya Ikemen No.1 Project </a:t>
            </a:r>
            <a:endParaRPr lang="en-US" sz="1200" dirty="0"/>
          </a:p>
        </p:txBody>
      </p:sp>
      <p:sp>
        <p:nvSpPr>
          <p:cNvPr id="12" name="Shape 9"/>
          <p:cNvSpPr/>
          <p:nvPr/>
        </p:nvSpPr>
        <p:spPr>
          <a:xfrm>
            <a:off x="761695" y="5512918"/>
            <a:ext cx="6400800" cy="9144"/>
          </a:xfrm>
          <a:prstGeom prst="rect">
            <a:avLst/>
          </a:prstGeom>
          <a:solidFill>
            <a:srgbClr val="DDDDDD"/>
          </a:solidFill>
          <a:ln w="12700">
            <a:solidFill>
              <a:srgbClr val="DDDDDD">
                <a:alpha val="0"/>
              </a:srgbClr>
            </a:solidFill>
            <a:prstDash val="solid"/>
          </a:ln>
        </p:spPr>
        <p:txBody>
          <a:bodyPr/>
          <a:lstStyle/>
          <a:p>
            <a:endParaRPr lang="ja-JP" altLang="en-US"/>
          </a:p>
        </p:txBody>
      </p:sp>
      <p:sp>
        <p:nvSpPr>
          <p:cNvPr id="13" name="Text 10"/>
          <p:cNvSpPr txBox="1"/>
          <p:nvPr/>
        </p:nvSpPr>
        <p:spPr>
          <a:xfrm>
            <a:off x="761695" y="5713171"/>
            <a:ext cx="6591910" cy="200254"/>
          </a:xfrm>
          <a:prstGeom prst="rect">
            <a:avLst/>
          </a:prstGeom>
          <a:noFill/>
          <a:ln/>
        </p:spPr>
        <p:txBody>
          <a:bodyPr wrap="square" lIns="0" tIns="0" rIns="0" bIns="0" rtlCol="0" anchor="ctr"/>
          <a:lstStyle/>
          <a:p>
            <a:pPr marL="0" indent="0" algn="l">
              <a:buNone/>
            </a:pPr>
            <a:r>
              <a:rPr lang="en-US" sz="1000" b="1" dirty="0">
                <a:solidFill>
                  <a:srgbClr val="1A3A8A"/>
                </a:solidFill>
                <a:latin typeface="Noto Sans JP" pitchFamily="34" charset="0"/>
                <a:ea typeface="Noto Sans JP" pitchFamily="34" charset="-122"/>
                <a:cs typeface="Noto Sans JP" pitchFamily="34" charset="-120"/>
              </a:rPr>
              <a:t>お問い合わせ窓口</a:t>
            </a:r>
            <a:endParaRPr lang="en-US" sz="1000" dirty="0"/>
          </a:p>
        </p:txBody>
      </p:sp>
      <p:sp>
        <p:nvSpPr>
          <p:cNvPr id="14" name="Text 11"/>
          <p:cNvSpPr txBox="1"/>
          <p:nvPr/>
        </p:nvSpPr>
        <p:spPr>
          <a:xfrm>
            <a:off x="761695" y="5989320"/>
            <a:ext cx="6591910" cy="228600"/>
          </a:xfrm>
          <a:prstGeom prst="rect">
            <a:avLst/>
          </a:prstGeom>
          <a:noFill/>
          <a:ln/>
        </p:spPr>
        <p:txBody>
          <a:bodyPr wrap="square" lIns="0" tIns="0" rIns="0" bIns="0" rtlCol="0" anchor="ctr"/>
          <a:lstStyle/>
          <a:p>
            <a:pPr marL="0" indent="0" algn="l">
              <a:buNone/>
            </a:pPr>
            <a:r>
              <a:rPr lang="en-US" sz="1200" dirty="0">
                <a:solidFill>
                  <a:srgbClr val="444444"/>
                </a:solidFill>
                <a:latin typeface="Noto Sans JP" pitchFamily="34" charset="0"/>
                <a:ea typeface="Noto Sans JP" pitchFamily="34" charset="-122"/>
                <a:cs typeface="Noto Sans JP" pitchFamily="34" charset="-120"/>
              </a:rPr>
              <a:t>関根 / 垣内 （制作統括）</a:t>
            </a:r>
            <a:endParaRPr lang="en-US" sz="1200" dirty="0"/>
          </a:p>
        </p:txBody>
      </p:sp>
      <p:sp>
        <p:nvSpPr>
          <p:cNvPr id="15" name="Text 12"/>
          <p:cNvSpPr txBox="1"/>
          <p:nvPr/>
        </p:nvSpPr>
        <p:spPr>
          <a:xfrm>
            <a:off x="761695" y="6504127"/>
            <a:ext cx="6515100" cy="200254"/>
          </a:xfrm>
          <a:prstGeom prst="rect">
            <a:avLst/>
          </a:prstGeom>
          <a:noFill/>
          <a:ln/>
        </p:spPr>
        <p:txBody>
          <a:bodyPr wrap="square" lIns="0" tIns="0" rIns="0" bIns="0" rtlCol="0" anchor="ctr"/>
          <a:lstStyle/>
          <a:p>
            <a:pPr marL="0" indent="0" algn="l">
              <a:buNone/>
            </a:pPr>
            <a:r>
              <a:rPr lang="en-US" sz="1000" dirty="0">
                <a:solidFill>
                  <a:srgbClr val="999999"/>
                </a:solidFill>
                <a:latin typeface="Noto Sans JP" pitchFamily="34" charset="0"/>
                <a:ea typeface="Noto Sans JP" pitchFamily="34" charset="-122"/>
                <a:cs typeface="Noto Sans JP" pitchFamily="34" charset="-120"/>
              </a:rPr>
              <a:t>© HJ Inc. All Rights Reserved.</a:t>
            </a:r>
            <a:endParaRPr lang="en-US" sz="1000" dirty="0"/>
          </a:p>
        </p:txBody>
      </p:sp>
      <p:sp>
        <p:nvSpPr>
          <p:cNvPr id="16" name="Shape 13"/>
          <p:cNvSpPr/>
          <p:nvPr/>
        </p:nvSpPr>
        <p:spPr>
          <a:xfrm>
            <a:off x="761695" y="154534"/>
            <a:ext cx="1619402" cy="314554"/>
          </a:xfrm>
          <a:prstGeom prst="roundRect">
            <a:avLst>
              <a:gd name="adj" fmla="val 70472"/>
            </a:avLst>
          </a:prstGeom>
          <a:solidFill>
            <a:srgbClr val="F0F4F8"/>
          </a:solidFill>
          <a:ln w="12700">
            <a:solidFill>
              <a:srgbClr val="FFFFFF">
                <a:alpha val="0"/>
              </a:srgbClr>
            </a:solidFill>
            <a:prstDash val="solid"/>
          </a:ln>
        </p:spPr>
        <p:txBody>
          <a:bodyPr/>
          <a:lstStyle/>
          <a:p>
            <a:endParaRPr lang="ja-JP" altLang="en-US"/>
          </a:p>
        </p:txBody>
      </p:sp>
      <p:sp>
        <p:nvSpPr>
          <p:cNvPr id="17" name="Text 14"/>
          <p:cNvSpPr txBox="1"/>
          <p:nvPr/>
        </p:nvSpPr>
        <p:spPr>
          <a:xfrm>
            <a:off x="761695" y="154534"/>
            <a:ext cx="1684325" cy="314554"/>
          </a:xfrm>
          <a:prstGeom prst="rect">
            <a:avLst/>
          </a:prstGeom>
          <a:solidFill>
            <a:srgbClr val="FFFFFF">
              <a:alpha val="0"/>
            </a:srgbClr>
          </a:solidFill>
          <a:ln>
            <a:solidFill>
              <a:srgbClr val="FFFFFF">
                <a:alpha val="0"/>
              </a:srgbClr>
            </a:solidFill>
          </a:ln>
        </p:spPr>
        <p:txBody>
          <a:bodyPr wrap="square" lIns="152400" tIns="63500" rIns="152400" bIns="63500" rtlCol="0" anchor="t"/>
          <a:lstStyle/>
          <a:p>
            <a:pPr marL="0" indent="0" algn="l">
              <a:buNone/>
            </a:pPr>
            <a:r>
              <a:rPr lang="en-US" sz="1000" b="1" dirty="0">
                <a:solidFill>
                  <a:srgbClr val="1A3A8A"/>
                </a:solidFill>
                <a:latin typeface="Noto Sans JP" pitchFamily="34" charset="0"/>
                <a:ea typeface="Noto Sans JP" pitchFamily="34" charset="-122"/>
                <a:cs typeface="Noto Sans JP" pitchFamily="34" charset="-120"/>
              </a:rPr>
              <a:t>IMPORTANT NOTICE</a:t>
            </a:r>
            <a:endParaRPr lang="en-US" sz="1000" dirty="0"/>
          </a:p>
        </p:txBody>
      </p:sp>
      <p:sp>
        <p:nvSpPr>
          <p:cNvPr id="18" name="Text 15"/>
          <p:cNvSpPr txBox="1"/>
          <p:nvPr/>
        </p:nvSpPr>
        <p:spPr>
          <a:xfrm>
            <a:off x="476402" y="381305"/>
            <a:ext cx="476402" cy="457200"/>
          </a:xfrm>
          <a:prstGeom prst="rect">
            <a:avLst/>
          </a:prstGeom>
          <a:noFill/>
          <a:ln/>
        </p:spPr>
        <p:txBody>
          <a:bodyPr wrap="square" lIns="0" tIns="0" rIns="0" bIns="0" rtlCol="0" anchor="ctr"/>
          <a:lstStyle/>
          <a:p>
            <a:pPr marL="0" indent="0" algn="l">
              <a:buNone/>
            </a:pPr>
            <a:r>
              <a:rPr lang="en-US" sz="2400" b="1" kern="0" spc="-75" dirty="0">
                <a:solidFill>
                  <a:srgbClr val="1E8CA6"/>
                </a:solidFill>
                <a:latin typeface="Noto Sans JP" pitchFamily="34" charset="0"/>
                <a:ea typeface="Noto Sans JP" pitchFamily="34" charset="-122"/>
                <a:cs typeface="Noto Sans JP" pitchFamily="34" charset="-120"/>
              </a:rPr>
              <a:t>H</a:t>
            </a:r>
            <a:r>
              <a:rPr lang="en-US" sz="2400" b="1" kern="0" spc="-75" dirty="0">
                <a:solidFill>
                  <a:srgbClr val="1A3A8A"/>
                </a:solidFill>
                <a:latin typeface="Noto Sans JP" pitchFamily="34" charset="0"/>
                <a:ea typeface="Noto Sans JP" pitchFamily="34" charset="-122"/>
                <a:cs typeface="Noto Sans JP" pitchFamily="34" charset="-120"/>
              </a:rPr>
              <a:t>J</a:t>
            </a:r>
            <a:endParaRPr lang="en-US" sz="2400" dirty="0"/>
          </a:p>
        </p:txBody>
      </p:sp>
      <p:sp>
        <p:nvSpPr>
          <p:cNvPr id="19" name="Shape 16"/>
          <p:cNvSpPr/>
          <p:nvPr/>
        </p:nvSpPr>
        <p:spPr>
          <a:xfrm>
            <a:off x="476402" y="6324905"/>
            <a:ext cx="11239805" cy="9144"/>
          </a:xfrm>
          <a:prstGeom prst="rect">
            <a:avLst/>
          </a:prstGeom>
          <a:solidFill>
            <a:srgbClr val="E0E0E0"/>
          </a:solidFill>
          <a:ln w="12700">
            <a:solidFill>
              <a:srgbClr val="E0E0E0">
                <a:alpha val="0"/>
              </a:srgbClr>
            </a:solidFill>
            <a:prstDash val="solid"/>
          </a:ln>
        </p:spPr>
        <p:txBody>
          <a:bodyPr/>
          <a:lstStyle/>
          <a:p>
            <a:endParaRPr lang="ja-JP" altLang="en-US"/>
          </a:p>
        </p:txBody>
      </p:sp>
      <p:sp>
        <p:nvSpPr>
          <p:cNvPr id="20" name="Text 17"/>
          <p:cNvSpPr txBox="1"/>
          <p:nvPr/>
        </p:nvSpPr>
        <p:spPr>
          <a:xfrm>
            <a:off x="476402" y="6429146"/>
            <a:ext cx="2358238" cy="143561"/>
          </a:xfrm>
          <a:prstGeom prst="rect">
            <a:avLst/>
          </a:prstGeom>
          <a:noFill/>
          <a:ln/>
        </p:spPr>
        <p:txBody>
          <a:bodyPr wrap="square" lIns="0" tIns="0" rIns="0" bIns="0" rtlCol="0" anchor="ctr"/>
          <a:lstStyle/>
          <a:p>
            <a:pPr marL="0" indent="0" algn="l">
              <a:buNone/>
            </a:pPr>
            <a:r>
              <a:rPr lang="en-US" sz="800" dirty="0">
                <a:solidFill>
                  <a:srgbClr val="999999"/>
                </a:solidFill>
                <a:latin typeface="Noto Sans JP" pitchFamily="34" charset="0"/>
                <a:ea typeface="Noto Sans JP" pitchFamily="34" charset="-122"/>
                <a:cs typeface="Noto Sans JP" pitchFamily="34" charset="-120"/>
              </a:rPr>
              <a:t>CONFIDENTIAL © HJ Inc. All Rights Reserved.</a:t>
            </a:r>
            <a:endParaRPr lang="en-US" sz="800" dirty="0"/>
          </a:p>
        </p:txBody>
      </p:sp>
      <p:sp>
        <p:nvSpPr>
          <p:cNvPr id="21" name="Text 18"/>
          <p:cNvSpPr txBox="1"/>
          <p:nvPr/>
        </p:nvSpPr>
        <p:spPr>
          <a:xfrm>
            <a:off x="10680192" y="6429146"/>
            <a:ext cx="1038758" cy="143561"/>
          </a:xfrm>
          <a:prstGeom prst="rect">
            <a:avLst/>
          </a:prstGeom>
          <a:noFill/>
          <a:ln/>
        </p:spPr>
        <p:txBody>
          <a:bodyPr wrap="square" lIns="0" tIns="0" rIns="0" bIns="0" rtlCol="0" anchor="ctr"/>
          <a:lstStyle/>
          <a:p>
            <a:pPr marL="0" indent="0" algn="r">
              <a:buNone/>
            </a:pPr>
            <a:r>
              <a:rPr lang="en-US" sz="800" dirty="0">
                <a:solidFill>
                  <a:srgbClr val="FFFFFF">
                    <a:alpha val="70000"/>
                  </a:srgbClr>
                </a:solidFill>
                <a:latin typeface="Noto Sans JP" pitchFamily="34" charset="0"/>
                <a:ea typeface="Noto Sans JP" pitchFamily="34" charset="-122"/>
                <a:cs typeface="Noto Sans JP" pitchFamily="34" charset="-120"/>
              </a:rPr>
              <a:t>SHIBU1 PROJECT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1366</Words>
  <Application>Microsoft Macintosh PowerPoint</Application>
  <PresentationFormat>ワイド画面</PresentationFormat>
  <Paragraphs>366</Paragraphs>
  <Slides>19</Slides>
  <Notes>19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19</vt:i4>
      </vt:variant>
    </vt:vector>
  </HeadingPairs>
  <TitlesOfParts>
    <vt:vector size="22"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関根 貴大</cp:lastModifiedBy>
  <cp:revision>3</cp:revision>
  <dcterms:created xsi:type="dcterms:W3CDTF">2026-02-27T10:20:53Z</dcterms:created>
  <dcterms:modified xsi:type="dcterms:W3CDTF">2026-04-11T19:22:51Z</dcterms:modified>
</cp:coreProperties>
</file>