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4630400" cy="82296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0E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29200" y="2926080"/>
            <a:ext cx="4572000" cy="76200"/>
          </a:xfrm>
          <a:prstGeom prst="round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828800" y="137160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888888"/>
                </a:solidFill>
                <a:latin typeface="Helvetica Neue"/>
              </a:defRPr>
            </a:pPr>
            <a:r>
              <a:t>2026 PROJECT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28800" y="2011680"/>
            <a:ext cx="10972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6000" b="1">
                <a:solidFill>
                  <a:srgbClr val="FFFFFF"/>
                </a:solidFill>
                <a:latin typeface="Hiragino Kaku Gothic ProN"/>
              </a:defRPr>
            </a:pPr>
            <a:r>
              <a:t>渋一（シブワン）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828800" y="347472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CCCCCC"/>
                </a:solidFill>
                <a:latin typeface="Hiragino Kaku Gothic ProN"/>
              </a:defRPr>
            </a:pPr>
            <a:r>
              <a:t>渋谷発メンズIP創出プロジェクト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800" y="420624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888888"/>
                </a:solidFill>
                <a:latin typeface="Hiragino Kaku Gothic ProN"/>
              </a:defRPr>
            </a:pPr>
            <a:r>
              <a:t>Shibuya Ikemen No.1 Project × ストーリーコンテンツ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0" y="4754880"/>
            <a:ext cx="4572000" cy="76200"/>
          </a:xfrm>
          <a:prstGeom prst="round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28800" y="594360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888888"/>
                </a:solidFill>
                <a:latin typeface="Hiragino Kaku Gothic ProN"/>
              </a:defRPr>
            </a:pPr>
            <a:r>
              <a:t>企画書 プロジェクト概要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28800" y="658368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555555"/>
                </a:solidFill>
                <a:latin typeface="Hiragino Kaku Gothic ProN"/>
              </a:defRPr>
            </a:pPr>
            <a:r>
              <a:t>CONFIDENTIAL © HJ Inc. All Rights Reserved.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0E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457200"/>
            <a:ext cx="12801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CC0000"/>
                </a:solidFill>
                <a:latin typeface="Helvetica Neue"/>
              </a:defRPr>
            </a:pPr>
            <a:r>
              <a:t>01  MISSION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914400"/>
            <a:ext cx="12801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Hiragino Kaku Gothic ProN"/>
              </a:defRPr>
            </a:pPr>
            <a:r>
              <a:t>Z・α世代女性が「最初に推した男性スター」を</a:t>
            </a:r>
            <a:br/>
            <a:r>
              <a:t>毎年生み出し続ける、日本最大のメンズIP創出装置。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14400" y="3200400"/>
            <a:ext cx="3840480" cy="2743200"/>
          </a:xfrm>
          <a:prstGeom prst="roundRect">
            <a:avLst/>
          </a:prstGeom>
          <a:solidFill>
            <a:srgbClr val="18181E"/>
          </a:solidFill>
          <a:ln w="12700">
            <a:solidFill>
              <a:srgbClr val="CC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88720" y="3474720"/>
            <a:ext cx="32918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CC0000"/>
                </a:solidFill>
                <a:latin typeface="Hiragino Kaku Gothic ProN"/>
              </a:defRPr>
            </a:pPr>
            <a:r>
              <a:t>No.1 ポジション確立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4114800"/>
            <a:ext cx="32918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CCCCCC"/>
                </a:solidFill>
                <a:latin typeface="Hiragino Kaku Gothic ProN"/>
              </a:defRPr>
            </a:pPr>
            <a:r>
              <a:t>メンズアイドル市場における</a:t>
            </a:r>
            <a:br/>
            <a:r>
              <a:t>圧倒的シェアを獲得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303520" y="3200400"/>
            <a:ext cx="3840480" cy="2743200"/>
          </a:xfrm>
          <a:prstGeom prst="roundRect">
            <a:avLst/>
          </a:prstGeom>
          <a:solidFill>
            <a:srgbClr val="18181E"/>
          </a:solidFill>
          <a:ln w="12700">
            <a:solidFill>
              <a:srgbClr val="CC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577840" y="3474720"/>
            <a:ext cx="32918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CC0000"/>
                </a:solidFill>
                <a:latin typeface="Hiragino Kaku Gothic ProN"/>
              </a:defRPr>
            </a:pPr>
            <a:r>
              <a:t>圧倒的な話題性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577840" y="4114800"/>
            <a:ext cx="32918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CCCCCC"/>
                </a:solidFill>
                <a:latin typeface="Hiragino Kaku Gothic ProN"/>
              </a:defRPr>
            </a:pPr>
            <a:r>
              <a:t>SNSバズ、メディア露出、</a:t>
            </a:r>
            <a:br/>
            <a:r>
              <a:t>トレンド入りを常態化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692640" y="3200400"/>
            <a:ext cx="3840480" cy="2743200"/>
          </a:xfrm>
          <a:prstGeom prst="roundRect">
            <a:avLst/>
          </a:prstGeom>
          <a:solidFill>
            <a:srgbClr val="18181E"/>
          </a:solidFill>
          <a:ln w="12700">
            <a:solidFill>
              <a:srgbClr val="CC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966960" y="3474720"/>
            <a:ext cx="32918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CC0000"/>
                </a:solidFill>
                <a:latin typeface="Hiragino Kaku Gothic ProN"/>
              </a:defRPr>
            </a:pPr>
            <a:r>
              <a:t>最強のファンダム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966960" y="4114800"/>
            <a:ext cx="32918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CCCCCC"/>
                </a:solidFill>
                <a:latin typeface="Hiragino Kaku Gothic ProN"/>
              </a:defRPr>
            </a:pPr>
            <a:r>
              <a:t>熱量の高いファンコミュニティと</a:t>
            </a:r>
            <a:br/>
            <a:r>
              <a:t>継続的な経済圏を創出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6858000"/>
            <a:ext cx="1280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D4A845"/>
                </a:solidFill>
                <a:latin typeface="Hiragino Kaku Gothic ProN"/>
              </a:defRPr>
            </a:pPr>
            <a:r>
              <a:t>目標: 2028年 メンズ芸能部門1位 ＝ 100億円IPの実現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0E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457200"/>
            <a:ext cx="12801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CC0000"/>
                </a:solidFill>
                <a:latin typeface="Helvetica Neue"/>
              </a:defRPr>
            </a:pPr>
            <a:r>
              <a:t>02  CONCEPT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914400"/>
            <a:ext cx="12801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Hiragino Kaku Gothic ProN"/>
              </a:defRPr>
            </a:pPr>
            <a:r>
              <a:t>「放課後演技派クラブ」― ストーリー × アイドル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011680"/>
            <a:ext cx="12801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CCCCCC"/>
                </a:solidFill>
                <a:latin typeface="Hiragino Kaku Gothic ProN"/>
              </a:defRPr>
            </a:pPr>
            <a:r>
              <a:t>渋谷の10の架空高校を舞台に、各校がメンズボーカルユニットを結成。</a:t>
            </a:r>
            <a:br/>
            <a:r>
              <a:t>ショートドラマで描く青春ストーリーと、リアルのパフォーマンスが交差する新世代エンタメ。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14400" y="3657600"/>
            <a:ext cx="5943600" cy="3657600"/>
          </a:xfrm>
          <a:prstGeom prst="roundRect">
            <a:avLst/>
          </a:prstGeom>
          <a:solidFill>
            <a:srgbClr val="18181E"/>
          </a:solidFill>
          <a:ln w="12700">
            <a:solidFill>
              <a:srgbClr val="1E6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80160" y="3931920"/>
            <a:ext cx="5029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1E6FBF"/>
                </a:solidFill>
                <a:latin typeface="Hiragino Kaku Gothic ProN"/>
              </a:defRPr>
            </a:pPr>
            <a:r>
              <a:t>親近感 軸（コムドット的）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63040" y="457200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CCCCCC"/>
                </a:solidFill>
                <a:latin typeface="Hiragino Kaku Gothic ProN"/>
              </a:defRPr>
            </a:pPr>
            <a:r>
              <a:t>● 日常・バラエティ企画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63040" y="507492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CCCCCC"/>
                </a:solidFill>
                <a:latin typeface="Hiragino Kaku Gothic ProN"/>
              </a:defRPr>
            </a:pPr>
            <a:r>
              <a:t>● オフショット・素の表情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63040" y="557784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CCCCCC"/>
                </a:solidFill>
                <a:latin typeface="Hiragino Kaku Gothic ProN"/>
              </a:defRPr>
            </a:pPr>
            <a:r>
              <a:t>● メンバー間の関係性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63040" y="608076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CCCCCC"/>
                </a:solidFill>
                <a:latin typeface="Hiragino Kaku Gothic ProN"/>
              </a:defRPr>
            </a:pPr>
            <a:r>
              <a:t>● 切り抜き拡散・ショート動画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0" y="3657600"/>
            <a:ext cx="5943600" cy="3657600"/>
          </a:xfrm>
          <a:prstGeom prst="roundRect">
            <a:avLst/>
          </a:prstGeom>
          <a:solidFill>
            <a:srgbClr val="18181E"/>
          </a:solidFill>
          <a:ln w="12700">
            <a:solidFill>
              <a:srgbClr val="CC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138160" y="3931920"/>
            <a:ext cx="5029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CC0000"/>
                </a:solidFill>
                <a:latin typeface="Hiragino Kaku Gothic ProN"/>
              </a:defRPr>
            </a:pPr>
            <a:r>
              <a:t>アイドル 軸（スター性確立）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21040" y="457200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CCCCCC"/>
                </a:solidFill>
                <a:latin typeface="Hiragino Kaku Gothic ProN"/>
              </a:defRPr>
            </a:pPr>
            <a:r>
              <a:t>● 楽曲・ダンスパフォーマンス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21040" y="507492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CCCCCC"/>
                </a:solidFill>
                <a:latin typeface="Hiragino Kaku Gothic ProN"/>
              </a:defRPr>
            </a:pPr>
            <a:r>
              <a:t>● ドラマ・ストーリーへの感情移入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21040" y="557784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CCCCCC"/>
                </a:solidFill>
                <a:latin typeface="Hiragino Kaku Gothic ProN"/>
              </a:defRPr>
            </a:pPr>
            <a:r>
              <a:t>● ビジュアル重視の高品質コンテンツ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21040" y="608076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CCCCCC"/>
                </a:solidFill>
                <a:latin typeface="Hiragino Kaku Gothic ProN"/>
              </a:defRPr>
            </a:pPr>
            <a:r>
              <a:t>● ファン交流イベント・ライブ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0E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457200"/>
            <a:ext cx="12801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CC0000"/>
                </a:solidFill>
                <a:latin typeface="Helvetica Neue"/>
              </a:defRPr>
            </a:pPr>
            <a:r>
              <a:t>03  WORLD BUILDING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914400"/>
            <a:ext cx="12801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Hiragino Kaku Gothic ProN"/>
              </a:defRPr>
            </a:pPr>
            <a:r>
              <a:t>渋谷10校 — 各エリアに根ざした個性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2103120"/>
            <a:ext cx="2560320" cy="635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57200" y="2166620"/>
            <a:ext cx="2560320" cy="2377440"/>
          </a:xfrm>
          <a:prstGeom prst="roundRect">
            <a:avLst/>
          </a:prstGeom>
          <a:solidFill>
            <a:srgbClr val="1818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225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CC0000"/>
                </a:solidFill>
                <a:latin typeface="Hiragino Kaku Gothic ProN"/>
              </a:defRPr>
            </a:pPr>
            <a:r>
              <a:t>渋谷第一高等学校</a:t>
            </a:r>
            <a:br/>
            <a:r>
              <a:t>（渋一）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292608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888888"/>
                </a:solidFill>
                <a:latin typeface="Hiragino Kaku Gothic ProN"/>
              </a:defRPr>
            </a:pPr>
            <a:r>
              <a:t>📍 宇田川町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329184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CCCCCC"/>
                </a:solidFill>
                <a:latin typeface="Hiragino Kaku Gothic ProN"/>
              </a:defRPr>
            </a:pPr>
            <a:r>
              <a:t>グラフィティ・ストリート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365760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FFFFFF"/>
                </a:solidFill>
                <a:latin typeface="Hiragino Kaku Gothic ProN"/>
              </a:defRPr>
            </a:pPr>
            <a:r>
              <a:t>👤 るい（主人公）</a:t>
            </a:r>
          </a:p>
        </p:txBody>
      </p:sp>
      <p:sp>
        <p:nvSpPr>
          <p:cNvPr id="10" name="Rectangle 9"/>
          <p:cNvSpPr/>
          <p:nvPr/>
        </p:nvSpPr>
        <p:spPr>
          <a:xfrm>
            <a:off x="3200400" y="2103120"/>
            <a:ext cx="2560320" cy="63500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200400" y="2166620"/>
            <a:ext cx="2560320" cy="2377440"/>
          </a:xfrm>
          <a:prstGeom prst="roundRect">
            <a:avLst/>
          </a:prstGeom>
          <a:solidFill>
            <a:srgbClr val="1818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337560" y="225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333333"/>
                </a:solidFill>
                <a:latin typeface="Hiragino Kaku Gothic ProN"/>
              </a:defRPr>
            </a:pPr>
            <a:r>
              <a:t>百軒実業高校</a:t>
            </a:r>
            <a:br/>
            <a:r>
              <a:t>（百実）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337560" y="292608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888888"/>
                </a:solidFill>
                <a:latin typeface="Hiragino Kaku Gothic ProN"/>
              </a:defRPr>
            </a:pPr>
            <a:r>
              <a:t>📍 百軒店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337560" y="329184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CCCCCC"/>
                </a:solidFill>
                <a:latin typeface="Hiragino Kaku Gothic ProN"/>
              </a:defRPr>
            </a:pPr>
            <a:r>
              <a:t>アングラ・夜の掟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337560" y="365760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FFFFFF"/>
                </a:solidFill>
                <a:latin typeface="Hiragino Kaku Gothic ProN"/>
              </a:defRPr>
            </a:pPr>
            <a:r>
              <a:t>👤 ゆうすけ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943600" y="2103120"/>
            <a:ext cx="2560320" cy="63500"/>
          </a:xfrm>
          <a:prstGeom prst="rect">
            <a:avLst/>
          </a:prstGeom>
          <a:solidFill>
            <a:srgbClr val="6B2D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5943600" y="2166620"/>
            <a:ext cx="2560320" cy="2377440"/>
          </a:xfrm>
          <a:prstGeom prst="roundRect">
            <a:avLst/>
          </a:prstGeom>
          <a:solidFill>
            <a:srgbClr val="1818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080760" y="225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6B2D8B"/>
                </a:solidFill>
                <a:latin typeface="Hiragino Kaku Gothic ProN"/>
              </a:defRPr>
            </a:pPr>
            <a:r>
              <a:t>ファイヤー通り</a:t>
            </a:r>
            <a:br/>
            <a:r>
              <a:t>高等学院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080760" y="292608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888888"/>
                </a:solidFill>
                <a:latin typeface="Hiragino Kaku Gothic ProN"/>
              </a:defRPr>
            </a:pPr>
            <a:r>
              <a:t>📍 ファイヤー通り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080760" y="329184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CCCCCC"/>
                </a:solidFill>
                <a:latin typeface="Hiragino Kaku Gothic ProN"/>
              </a:defRPr>
            </a:pPr>
            <a:r>
              <a:t>一匹狼・沈黙の最強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080760" y="365760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FFFFFF"/>
                </a:solidFill>
                <a:latin typeface="Hiragino Kaku Gothic ProN"/>
              </a:defRPr>
            </a:pPr>
            <a:r>
              <a:t>👤 一王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686800" y="2103120"/>
            <a:ext cx="2560320" cy="63500"/>
          </a:xfrm>
          <a:prstGeom prst="rect">
            <a:avLst/>
          </a:prstGeom>
          <a:solidFill>
            <a:srgbClr val="1E6F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8686800" y="2166620"/>
            <a:ext cx="2560320" cy="2377440"/>
          </a:xfrm>
          <a:prstGeom prst="roundRect">
            <a:avLst/>
          </a:prstGeom>
          <a:solidFill>
            <a:srgbClr val="1818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823960" y="225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1E6FBF"/>
                </a:solidFill>
                <a:latin typeface="Hiragino Kaku Gothic ProN"/>
              </a:defRPr>
            </a:pPr>
            <a:r>
              <a:t>宮下パーク高校</a:t>
            </a:r>
            <a:br/>
            <a:r>
              <a:t>（ミヤシタ）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23960" y="292608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888888"/>
                </a:solidFill>
                <a:latin typeface="Hiragino Kaku Gothic ProN"/>
              </a:defRPr>
            </a:pPr>
            <a:r>
              <a:t>📍 宮下公園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823960" y="329184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CCCCCC"/>
                </a:solidFill>
                <a:latin typeface="Hiragino Kaku Gothic ProN"/>
              </a:defRPr>
            </a:pPr>
            <a:r>
              <a:t>スケーター・BMX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823960" y="365760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FFFFFF"/>
                </a:solidFill>
                <a:latin typeface="Hiragino Kaku Gothic ProN"/>
              </a:defRPr>
            </a:pPr>
            <a:r>
              <a:t>👤 カイ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430000" y="2103120"/>
            <a:ext cx="2560320" cy="63500"/>
          </a:xfrm>
          <a:prstGeom prst="rect">
            <a:avLst/>
          </a:prstGeom>
          <a:solidFill>
            <a:srgbClr val="1A5C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11430000" y="2166620"/>
            <a:ext cx="2560320" cy="2377440"/>
          </a:xfrm>
          <a:prstGeom prst="roundRect">
            <a:avLst/>
          </a:prstGeom>
          <a:solidFill>
            <a:srgbClr val="1818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1567160" y="225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1A5C30"/>
                </a:solidFill>
                <a:latin typeface="Hiragino Kaku Gothic ProN"/>
              </a:defRPr>
            </a:pPr>
            <a:r>
              <a:t>奥渋附属高校</a:t>
            </a:r>
            <a:br/>
            <a:r>
              <a:t>（オクシブ）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567160" y="292608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888888"/>
                </a:solidFill>
                <a:latin typeface="Hiragino Kaku Gothic ProN"/>
              </a:defRPr>
            </a:pPr>
            <a:r>
              <a:t>📍 奥渋谷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567160" y="329184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CCCCCC"/>
                </a:solidFill>
                <a:latin typeface="Hiragino Kaku Gothic ProN"/>
              </a:defRPr>
            </a:pPr>
            <a:r>
              <a:t>エリート・管理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567160" y="365760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FFFFFF"/>
                </a:solidFill>
                <a:latin typeface="Hiragino Kaku Gothic ProN"/>
              </a:defRPr>
            </a:pPr>
            <a:r>
              <a:t>👤 大橋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57200" y="5029200"/>
            <a:ext cx="2560320" cy="63500"/>
          </a:xfrm>
          <a:prstGeom prst="rect">
            <a:avLst/>
          </a:prstGeom>
          <a:solidFill>
            <a:srgbClr val="8B69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457200" y="5092700"/>
            <a:ext cx="2560320" cy="2377440"/>
          </a:xfrm>
          <a:prstGeom prst="roundRect">
            <a:avLst/>
          </a:prstGeom>
          <a:solidFill>
            <a:srgbClr val="1818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94360" y="5181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8B6914"/>
                </a:solidFill>
                <a:latin typeface="Hiragino Kaku Gothic ProN"/>
              </a:defRPr>
            </a:pPr>
            <a:r>
              <a:t>桜ヶ丘インター</a:t>
            </a:r>
            <a:br/>
            <a:r>
              <a:t>ナショナルスクール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94360" y="585216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888888"/>
                </a:solidFill>
                <a:latin typeface="Hiragino Kaku Gothic ProN"/>
              </a:defRPr>
            </a:pPr>
            <a:r>
              <a:t>📍 桜ヶ丘町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94360" y="621792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CCCCCC"/>
                </a:solidFill>
                <a:latin typeface="Hiragino Kaku Gothic ProN"/>
              </a:defRPr>
            </a:pPr>
            <a:r>
              <a:t>高貴・巨大資本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94360" y="658368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FFFFFF"/>
                </a:solidFill>
                <a:latin typeface="Hiragino Kaku Gothic ProN"/>
              </a:defRPr>
            </a:pPr>
            <a:r>
              <a:t>👤 ツヨシ＆ヒトミ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200400" y="5029200"/>
            <a:ext cx="2560320" cy="63500"/>
          </a:xfrm>
          <a:prstGeom prst="rect">
            <a:avLst/>
          </a:prstGeom>
          <a:solidFill>
            <a:srgbClr val="FF14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3200400" y="5092700"/>
            <a:ext cx="2560320" cy="2377440"/>
          </a:xfrm>
          <a:prstGeom prst="roundRect">
            <a:avLst/>
          </a:prstGeom>
          <a:solidFill>
            <a:srgbClr val="1818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3337560" y="5181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FF1493"/>
                </a:solidFill>
                <a:latin typeface="Hiragino Kaku Gothic ProN"/>
              </a:defRPr>
            </a:pPr>
            <a:r>
              <a:t>円山町学園</a:t>
            </a:r>
            <a:br/>
            <a:r>
              <a:t>（マルヤマ）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337560" y="585216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888888"/>
                </a:solidFill>
                <a:latin typeface="Hiragino Kaku Gothic ProN"/>
              </a:defRPr>
            </a:pPr>
            <a:r>
              <a:t>📍 円山町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37560" y="621792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CCCCCC"/>
                </a:solidFill>
                <a:latin typeface="Hiragino Kaku Gothic ProN"/>
              </a:defRPr>
            </a:pPr>
            <a:r>
              <a:t>クラブ・ナイトカルチャー【S2】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337560" y="658368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FFFFFF"/>
                </a:solidFill>
                <a:latin typeface="Hiragino Kaku Gothic ProN"/>
              </a:defRPr>
            </a:pPr>
            <a:r>
              <a:t>👤 ナオ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943600" y="5029200"/>
            <a:ext cx="2560320" cy="63500"/>
          </a:xfrm>
          <a:prstGeom prst="rect">
            <a:avLst/>
          </a:prstGeom>
          <a:solidFill>
            <a:srgbClr val="D474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ounded Rectangle 46"/>
          <p:cNvSpPr/>
          <p:nvPr/>
        </p:nvSpPr>
        <p:spPr>
          <a:xfrm>
            <a:off x="5943600" y="5092700"/>
            <a:ext cx="2560320" cy="2377440"/>
          </a:xfrm>
          <a:prstGeom prst="roundRect">
            <a:avLst/>
          </a:prstGeom>
          <a:solidFill>
            <a:srgbClr val="1818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080760" y="5181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D4742D"/>
                </a:solidFill>
                <a:latin typeface="Hiragino Kaku Gothic ProN"/>
              </a:defRPr>
            </a:pPr>
            <a:r>
              <a:t>道玄坂総合高校</a:t>
            </a:r>
            <a:br/>
            <a:r>
              <a:t>（ドウゲン）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080760" y="585216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888888"/>
                </a:solidFill>
                <a:latin typeface="Hiragino Kaku Gothic ProN"/>
              </a:defRPr>
            </a:pPr>
            <a:r>
              <a:t>📍 道玄坂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080760" y="621792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CCCCCC"/>
                </a:solidFill>
                <a:latin typeface="Hiragino Kaku Gothic ProN"/>
              </a:defRPr>
            </a:pPr>
            <a:r>
              <a:t>カオス・サバイバル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080760" y="658368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FFFFFF"/>
                </a:solidFill>
                <a:latin typeface="Hiragino Kaku Gothic ProN"/>
              </a:defRPr>
            </a:pPr>
            <a:r>
              <a:t>👤 テツ</a:t>
            </a:r>
          </a:p>
        </p:txBody>
      </p:sp>
      <p:sp>
        <p:nvSpPr>
          <p:cNvPr id="52" name="Rectangle 51"/>
          <p:cNvSpPr/>
          <p:nvPr/>
        </p:nvSpPr>
        <p:spPr>
          <a:xfrm>
            <a:off x="8686800" y="5029200"/>
            <a:ext cx="2560320" cy="63500"/>
          </a:xfrm>
          <a:prstGeom prst="rect">
            <a:avLst/>
          </a:prstGeom>
          <a:solidFill>
            <a:srgbClr val="8888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ounded Rectangle 52"/>
          <p:cNvSpPr/>
          <p:nvPr/>
        </p:nvSpPr>
        <p:spPr>
          <a:xfrm>
            <a:off x="8686800" y="5092700"/>
            <a:ext cx="2560320" cy="2377440"/>
          </a:xfrm>
          <a:prstGeom prst="roundRect">
            <a:avLst/>
          </a:prstGeom>
          <a:solidFill>
            <a:srgbClr val="1818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8823960" y="5181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888888"/>
                </a:solidFill>
                <a:latin typeface="Hiragino Kaku Gothic ProN"/>
              </a:defRPr>
            </a:pPr>
            <a:r>
              <a:t>公園通り学院</a:t>
            </a:r>
            <a:br/>
            <a:r>
              <a:t>（コウエン）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823960" y="585216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888888"/>
                </a:solidFill>
                <a:latin typeface="Hiragino Kaku Gothic ProN"/>
              </a:defRPr>
            </a:pPr>
            <a:r>
              <a:t>📍 公園通り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823960" y="621792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CCCCCC"/>
                </a:solidFill>
                <a:latin typeface="Hiragino Kaku Gothic ProN"/>
              </a:defRPr>
            </a:pPr>
            <a:r>
              <a:t>アート・演劇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823960" y="658368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FFFFFF"/>
                </a:solidFill>
                <a:latin typeface="Hiragino Kaku Gothic ProN"/>
              </a:defRPr>
            </a:pPr>
            <a:r>
              <a:t>👤 レン</a:t>
            </a:r>
          </a:p>
        </p:txBody>
      </p:sp>
      <p:sp>
        <p:nvSpPr>
          <p:cNvPr id="58" name="Rectangle 57"/>
          <p:cNvSpPr/>
          <p:nvPr/>
        </p:nvSpPr>
        <p:spPr>
          <a:xfrm>
            <a:off x="11430000" y="5029200"/>
            <a:ext cx="2560320" cy="63500"/>
          </a:xfrm>
          <a:prstGeom prst="rect">
            <a:avLst/>
          </a:prstGeom>
          <a:solidFill>
            <a:srgbClr val="C4A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ounded Rectangle 58"/>
          <p:cNvSpPr/>
          <p:nvPr/>
        </p:nvSpPr>
        <p:spPr>
          <a:xfrm>
            <a:off x="11430000" y="5092700"/>
            <a:ext cx="2560320" cy="2377440"/>
          </a:xfrm>
          <a:prstGeom prst="roundRect">
            <a:avLst/>
          </a:prstGeom>
          <a:solidFill>
            <a:srgbClr val="1818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11567160" y="5181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C4A800"/>
                </a:solidFill>
                <a:latin typeface="Hiragino Kaku Gothic ProN"/>
              </a:defRPr>
            </a:pPr>
            <a:r>
              <a:t>MIYAMAS Tech</a:t>
            </a:r>
            <a:br/>
            <a:r>
              <a:t>High School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1567160" y="585216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888888"/>
                </a:solidFill>
                <a:latin typeface="Hiragino Kaku Gothic ProN"/>
              </a:defRPr>
            </a:pPr>
            <a:r>
              <a:t>📍 宮益坂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1567160" y="621792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CCCCCC"/>
                </a:solidFill>
                <a:latin typeface="Hiragino Kaku Gothic ProN"/>
              </a:defRPr>
            </a:pPr>
            <a:r>
              <a:t>テック・データ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1567160" y="658368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FFFFFF"/>
                </a:solidFill>
                <a:latin typeface="Hiragino Kaku Gothic ProN"/>
              </a:defRPr>
            </a:pPr>
            <a:r>
              <a:t>👤 シュン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0E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457200"/>
            <a:ext cx="12801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CC0000"/>
                </a:solidFill>
                <a:latin typeface="Helvetica Neue"/>
              </a:defRPr>
            </a:pPr>
            <a:r>
              <a:t>04  FIRST SEASON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914400"/>
            <a:ext cx="12801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Hiragino Kaku Gothic ProN"/>
              </a:defRPr>
            </a:pPr>
            <a:r>
              <a:t>ファーストシーズン全20話「始まりの炎」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12801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D4A845"/>
                </a:solidFill>
                <a:latin typeface="Hiragino Kaku Gothic ProN"/>
              </a:defRPr>
            </a:pPr>
            <a:r>
              <a:t>〜 あらすじ 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286000"/>
            <a:ext cx="128016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CCCCCC"/>
                </a:solidFill>
                <a:latin typeface="Hiragino Kaku Gothic ProN"/>
              </a:defRPr>
            </a:pPr>
            <a:r>
              <a:t>喧嘩最弱の主人公・るい（渋谷第一）は転校生リンに惹かれる。だが彼女はS1敵校・百実のリーダー・りょうすけの元カノだった。りょうすけは「リンを返せ」と宣戦布告。るいはゆうすけや西小路と共に徹底抗戦を誓う。</a:t>
            </a:r>
            <a:br/>
            <a:br/>
            <a:r>
              <a:t>キャットストリートで渋一vs百実が激突。渋谷最強・一王（ファイヤー）が静かに介入し、オクシブの大橋は「管理」を掲げ渋谷全体を支配下に置こうとする。一方、るいの参謀・ゆうたは劣等感から百実の江畑に接触。裏切りの芽が育ち始める。</a:t>
            </a:r>
            <a:br/>
            <a:br/>
            <a:r>
              <a:t>ゆうたが裏切り、しおんも同調。渋一は崩壊。絶望の底でるいは伝説のOB・Mr.K（O.K.thanks）と出会い「渋谷はな、誰かが守ろうとする限り、死なねぇよ」という言葉に再起。ゆうすけと二人で仲間を再集結させる。</a:t>
            </a:r>
            <a:br/>
            <a:br/>
            <a:r>
              <a:t>全5校がキャットストリートに集結する大乱戦。るいはりょうすけとの一騎打ちに勝利。ゆうたとしおんが帰還。日常を取り戻すも、S2の脅威となる「円山」のナオ率いるイケメン集団が静かに姿を現す。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5486400"/>
            <a:ext cx="3108960" cy="635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57200" y="5549900"/>
            <a:ext cx="3108960" cy="2286000"/>
          </a:xfrm>
          <a:prstGeom prst="roundRect">
            <a:avLst/>
          </a:prstGeom>
          <a:solidFill>
            <a:srgbClr val="1818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66928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CC0000"/>
                </a:solidFill>
                <a:latin typeface="Hiragino Kaku Gothic ProN"/>
              </a:defRPr>
            </a:pPr>
            <a:r>
              <a:t>第一幕（1〜5話）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94360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Hiragino Kaku Gothic ProN"/>
              </a:defRPr>
            </a:pPr>
            <a:r>
              <a:t>均衡と出会い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6400800"/>
            <a:ext cx="27432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CCCCCC"/>
                </a:solidFill>
                <a:latin typeface="Hiragino Kaku Gothic ProN"/>
              </a:defRPr>
            </a:pPr>
            <a:r>
              <a:t>るいとリンの出会い。百実のゆうすけが</a:t>
            </a:r>
            <a:br/>
            <a:r>
              <a:t>リンの奪還を宣言し、冷戦が崩れる。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931920" y="5486400"/>
            <a:ext cx="3108960" cy="63500"/>
          </a:xfrm>
          <a:prstGeom prst="rect">
            <a:avLst/>
          </a:prstGeom>
          <a:solidFill>
            <a:srgbClr val="D474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3931920" y="5549900"/>
            <a:ext cx="3108960" cy="2286000"/>
          </a:xfrm>
          <a:prstGeom prst="roundRect">
            <a:avLst/>
          </a:prstGeom>
          <a:solidFill>
            <a:srgbClr val="1818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114800" y="566928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D4742D"/>
                </a:solidFill>
                <a:latin typeface="Hiragino Kaku Gothic ProN"/>
              </a:defRPr>
            </a:pPr>
            <a:r>
              <a:t>第二幕（6〜10話）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14800" y="594360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Hiragino Kaku Gothic ProN"/>
              </a:defRPr>
            </a:pPr>
            <a:r>
              <a:t>激突と拡大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14800" y="6400800"/>
            <a:ext cx="27432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CCCCCC"/>
                </a:solidFill>
                <a:latin typeface="Hiragino Kaku Gothic ProN"/>
              </a:defRPr>
            </a:pPr>
            <a:r>
              <a:t>キャットストリートで渋一vs百実が激突。</a:t>
            </a:r>
            <a:br/>
            <a:r>
              <a:t>一王参戦。ゆうたの裏切りの種が芽生える。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406640" y="5486400"/>
            <a:ext cx="3108960" cy="63500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7406640" y="5549900"/>
            <a:ext cx="3108960" cy="2286000"/>
          </a:xfrm>
          <a:prstGeom prst="roundRect">
            <a:avLst/>
          </a:prstGeom>
          <a:solidFill>
            <a:srgbClr val="1818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589520" y="566928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333333"/>
                </a:solidFill>
                <a:latin typeface="Hiragino Kaku Gothic ProN"/>
              </a:defRPr>
            </a:pPr>
            <a:r>
              <a:t>第三幕（11〜15話）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589520" y="594360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Hiragino Kaku Gothic ProN"/>
              </a:defRPr>
            </a:pPr>
            <a:r>
              <a:t>崩壊と絶望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589520" y="6400800"/>
            <a:ext cx="27432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CCCCCC"/>
                </a:solidFill>
                <a:latin typeface="Hiragino Kaku Gothic ProN"/>
              </a:defRPr>
            </a:pPr>
            <a:r>
              <a:t>ゆうたの裏切りで渋一崩壊。Mr.Kとの</a:t>
            </a:r>
            <a:br/>
            <a:r>
              <a:t>邂逅でるいが再起。O.K.thanks新曲が流れる。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0881359" y="5486400"/>
            <a:ext cx="3108960" cy="63500"/>
          </a:xfrm>
          <a:prstGeom prst="rect">
            <a:avLst/>
          </a:prstGeom>
          <a:solidFill>
            <a:srgbClr val="6B2D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10881359" y="5549900"/>
            <a:ext cx="3108960" cy="2286000"/>
          </a:xfrm>
          <a:prstGeom prst="roundRect">
            <a:avLst/>
          </a:prstGeom>
          <a:solidFill>
            <a:srgbClr val="1818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1064239" y="566928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6B2D8B"/>
                </a:solidFill>
                <a:latin typeface="Hiragino Kaku Gothic ProN"/>
              </a:defRPr>
            </a:pPr>
            <a:r>
              <a:t>第四幕（16〜20話）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064239" y="594360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Hiragino Kaku Gothic ProN"/>
              </a:defRPr>
            </a:pPr>
            <a:r>
              <a:t>最終決戦と未来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64239" y="6400800"/>
            <a:ext cx="27432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CCCCCC"/>
                </a:solidFill>
                <a:latin typeface="Hiragino Kaku Gothic ProN"/>
              </a:defRPr>
            </a:pPr>
            <a:r>
              <a:t>全面戦争。るいvsりょうすけ最終決戦で勝利。</a:t>
            </a:r>
            <a:br/>
            <a:r>
              <a:t>マルヤマが次なる脅威として登場。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0E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457200"/>
            <a:ext cx="12801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CC0000"/>
                </a:solidFill>
                <a:latin typeface="Helvetica Neue"/>
              </a:defRPr>
            </a:pPr>
            <a:r>
              <a:t>05  CAST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914400"/>
            <a:ext cx="12801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Hiragino Kaku Gothic ProN"/>
              </a:defRPr>
            </a:pPr>
            <a:r>
              <a:t>S1主要キャスト × キャラクター配置</a:t>
            </a:r>
          </a:p>
        </p:txBody>
      </p:sp>
      <p:sp>
        <p:nvSpPr>
          <p:cNvPr id="4" name="Rectangle 3"/>
          <p:cNvSpPr/>
          <p:nvPr/>
        </p:nvSpPr>
        <p:spPr>
          <a:xfrm>
            <a:off x="274320" y="2103120"/>
            <a:ext cx="50800" cy="164592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325120" y="2103120"/>
            <a:ext cx="2560320" cy="1645920"/>
          </a:xfrm>
          <a:prstGeom prst="roundRect">
            <a:avLst/>
          </a:prstGeom>
          <a:solidFill>
            <a:srgbClr val="1818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2194560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Hiragino Kaku Gothic ProN"/>
              </a:defRPr>
            </a:pPr>
            <a:r>
              <a:t>るい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2606040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CC0000"/>
                </a:solidFill>
                <a:latin typeface="Hiragino Kaku Gothic ProN"/>
              </a:defRPr>
            </a:pPr>
            <a:r>
              <a:t>渋一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2926080"/>
            <a:ext cx="23774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CCCCCC"/>
                </a:solidFill>
                <a:latin typeface="Hiragino Kaku Gothic ProN"/>
              </a:defRPr>
            </a:pPr>
            <a:r>
              <a:t>主人公 / 不屈の精神</a:t>
            </a:r>
          </a:p>
        </p:txBody>
      </p:sp>
      <p:sp>
        <p:nvSpPr>
          <p:cNvPr id="9" name="Rectangle 8"/>
          <p:cNvSpPr/>
          <p:nvPr/>
        </p:nvSpPr>
        <p:spPr>
          <a:xfrm>
            <a:off x="3108960" y="2103120"/>
            <a:ext cx="50800" cy="164592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3159760" y="2103120"/>
            <a:ext cx="2560320" cy="1645920"/>
          </a:xfrm>
          <a:prstGeom prst="roundRect">
            <a:avLst/>
          </a:prstGeom>
          <a:solidFill>
            <a:srgbClr val="1818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246120" y="2194560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Hiragino Kaku Gothic ProN"/>
              </a:defRPr>
            </a:pPr>
            <a:r>
              <a:t>ゆうすけ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46120" y="2606040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CC0000"/>
                </a:solidFill>
                <a:latin typeface="Hiragino Kaku Gothic ProN"/>
              </a:defRPr>
            </a:pPr>
            <a:r>
              <a:t>渋一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46120" y="2926080"/>
            <a:ext cx="23774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CCCCCC"/>
                </a:solidFill>
                <a:latin typeface="Hiragino Kaku Gothic ProN"/>
              </a:defRPr>
            </a:pPr>
            <a:r>
              <a:t>カリスマ / りょうすけと幼馴染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43600" y="2103120"/>
            <a:ext cx="50800" cy="164592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994400" y="2103120"/>
            <a:ext cx="2560320" cy="1645920"/>
          </a:xfrm>
          <a:prstGeom prst="roundRect">
            <a:avLst/>
          </a:prstGeom>
          <a:solidFill>
            <a:srgbClr val="1818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080760" y="2194560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Hiragino Kaku Gothic ProN"/>
              </a:defRPr>
            </a:pPr>
            <a:r>
              <a:t>西小路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80760" y="2606040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CC0000"/>
                </a:solidFill>
                <a:latin typeface="Hiragino Kaku Gothic ProN"/>
              </a:defRPr>
            </a:pPr>
            <a:r>
              <a:t>渋一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080760" y="2926080"/>
            <a:ext cx="23774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CCCCCC"/>
                </a:solidFill>
                <a:latin typeface="Hiragino Kaku Gothic ProN"/>
              </a:defRPr>
            </a:pPr>
            <a:r>
              <a:t>頭脳派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778240" y="2103120"/>
            <a:ext cx="50800" cy="164592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8829040" y="2103120"/>
            <a:ext cx="2560320" cy="1645920"/>
          </a:xfrm>
          <a:prstGeom prst="roundRect">
            <a:avLst/>
          </a:prstGeom>
          <a:solidFill>
            <a:srgbClr val="1818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915400" y="2194560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Hiragino Kaku Gothic ProN"/>
              </a:defRPr>
            </a:pPr>
            <a:r>
              <a:t>しおん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15400" y="2606040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CC0000"/>
                </a:solidFill>
                <a:latin typeface="Hiragino Kaku Gothic ProN"/>
              </a:defRPr>
            </a:pPr>
            <a:r>
              <a:t>渋一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915400" y="2926080"/>
            <a:ext cx="23774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CCCCCC"/>
                </a:solidFill>
                <a:latin typeface="Hiragino Kaku Gothic ProN"/>
              </a:defRPr>
            </a:pPr>
            <a:r>
              <a:t>兄貴肌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1612880" y="2103120"/>
            <a:ext cx="50800" cy="1645920"/>
          </a:xfrm>
          <a:prstGeom prst="rect">
            <a:avLst/>
          </a:prstGeom>
          <a:solidFill>
            <a:srgbClr val="6B2D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11663680" y="2103120"/>
            <a:ext cx="2560320" cy="1645920"/>
          </a:xfrm>
          <a:prstGeom prst="roundRect">
            <a:avLst/>
          </a:prstGeom>
          <a:solidFill>
            <a:srgbClr val="1818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1750040" y="2194560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Hiragino Kaku Gothic ProN"/>
              </a:defRPr>
            </a:pPr>
            <a:r>
              <a:t>一王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750040" y="2606040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6B2D8B"/>
                </a:solidFill>
                <a:latin typeface="Hiragino Kaku Gothic ProN"/>
              </a:defRPr>
            </a:pPr>
            <a:r>
              <a:t>ファイヤー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750040" y="2926080"/>
            <a:ext cx="23774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CCCCCC"/>
                </a:solidFill>
                <a:latin typeface="Hiragino Kaku Gothic ProN"/>
              </a:defRPr>
            </a:pPr>
            <a:r>
              <a:t>渋谷最強</a:t>
            </a:r>
          </a:p>
        </p:txBody>
      </p:sp>
      <p:sp>
        <p:nvSpPr>
          <p:cNvPr id="29" name="Rectangle 28"/>
          <p:cNvSpPr/>
          <p:nvPr/>
        </p:nvSpPr>
        <p:spPr>
          <a:xfrm>
            <a:off x="274320" y="4023360"/>
            <a:ext cx="50800" cy="1645920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325120" y="4023360"/>
            <a:ext cx="2560320" cy="1645920"/>
          </a:xfrm>
          <a:prstGeom prst="roundRect">
            <a:avLst/>
          </a:prstGeom>
          <a:solidFill>
            <a:srgbClr val="1818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11480" y="4114800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Hiragino Kaku Gothic ProN"/>
              </a:defRPr>
            </a:pPr>
            <a:r>
              <a:t>りょうすけ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11480" y="4526280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333333"/>
                </a:solidFill>
                <a:latin typeface="Hiragino Kaku Gothic ProN"/>
              </a:defRPr>
            </a:pPr>
            <a:r>
              <a:t>百実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11480" y="4846320"/>
            <a:ext cx="23774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CCCCCC"/>
                </a:solidFill>
                <a:latin typeface="Hiragino Kaku Gothic ProN"/>
              </a:defRPr>
            </a:pPr>
            <a:r>
              <a:t>リーダー / ゆうすけと幼馴染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108960" y="4023360"/>
            <a:ext cx="50800" cy="1645920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3159760" y="4023360"/>
            <a:ext cx="2560320" cy="1645920"/>
          </a:xfrm>
          <a:prstGeom prst="roundRect">
            <a:avLst/>
          </a:prstGeom>
          <a:solidFill>
            <a:srgbClr val="1818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246120" y="4114800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Hiragino Kaku Gothic ProN"/>
              </a:defRPr>
            </a:pPr>
            <a:r>
              <a:t>はる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246120" y="4526280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333333"/>
                </a:solidFill>
                <a:latin typeface="Hiragino Kaku Gothic ProN"/>
              </a:defRPr>
            </a:pPr>
            <a:r>
              <a:t>百実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246120" y="4846320"/>
            <a:ext cx="23774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CCCCCC"/>
                </a:solidFill>
                <a:latin typeface="Hiragino Kaku Gothic ProN"/>
              </a:defRPr>
            </a:pPr>
            <a:r>
              <a:t>特攻隊長（一王と激突）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943600" y="4023360"/>
            <a:ext cx="50800" cy="1645920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5994400" y="4023360"/>
            <a:ext cx="2560320" cy="1645920"/>
          </a:xfrm>
          <a:prstGeom prst="roundRect">
            <a:avLst/>
          </a:prstGeom>
          <a:solidFill>
            <a:srgbClr val="1818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080760" y="4114800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Hiragino Kaku Gothic ProN"/>
              </a:defRPr>
            </a:pPr>
            <a:r>
              <a:t>江畑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080760" y="4526280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333333"/>
                </a:solidFill>
                <a:latin typeface="Hiragino Kaku Gothic ProN"/>
              </a:defRPr>
            </a:pPr>
            <a:r>
              <a:t>百実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080760" y="4846320"/>
            <a:ext cx="23774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CCCCCC"/>
                </a:solidFill>
                <a:latin typeface="Hiragino Kaku Gothic ProN"/>
              </a:defRPr>
            </a:pPr>
            <a:r>
              <a:t>実戦担当</a:t>
            </a:r>
          </a:p>
        </p:txBody>
      </p:sp>
      <p:sp>
        <p:nvSpPr>
          <p:cNvPr id="44" name="Rectangle 43"/>
          <p:cNvSpPr/>
          <p:nvPr/>
        </p:nvSpPr>
        <p:spPr>
          <a:xfrm>
            <a:off x="8778240" y="4023360"/>
            <a:ext cx="50800" cy="1645920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ounded Rectangle 44"/>
          <p:cNvSpPr/>
          <p:nvPr/>
        </p:nvSpPr>
        <p:spPr>
          <a:xfrm>
            <a:off x="8829040" y="4023360"/>
            <a:ext cx="2560320" cy="1645920"/>
          </a:xfrm>
          <a:prstGeom prst="roundRect">
            <a:avLst/>
          </a:prstGeom>
          <a:solidFill>
            <a:srgbClr val="1818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915400" y="4114800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Hiragino Kaku Gothic ProN"/>
              </a:defRPr>
            </a:pPr>
            <a:r>
              <a:t>吹澤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915400" y="4526280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333333"/>
                </a:solidFill>
                <a:latin typeface="Hiragino Kaku Gothic ProN"/>
              </a:defRPr>
            </a:pPr>
            <a:r>
              <a:t>百実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915400" y="4846320"/>
            <a:ext cx="23774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CCCCCC"/>
                </a:solidFill>
                <a:latin typeface="Hiragino Kaku Gothic ProN"/>
              </a:defRPr>
            </a:pPr>
            <a:r>
              <a:t>実力者</a:t>
            </a:r>
          </a:p>
        </p:txBody>
      </p:sp>
      <p:sp>
        <p:nvSpPr>
          <p:cNvPr id="49" name="Rectangle 48"/>
          <p:cNvSpPr/>
          <p:nvPr/>
        </p:nvSpPr>
        <p:spPr>
          <a:xfrm>
            <a:off x="11612880" y="4023360"/>
            <a:ext cx="50800" cy="1645920"/>
          </a:xfrm>
          <a:prstGeom prst="rect">
            <a:avLst/>
          </a:prstGeom>
          <a:solidFill>
            <a:srgbClr val="1A5C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ounded Rectangle 49"/>
          <p:cNvSpPr/>
          <p:nvPr/>
        </p:nvSpPr>
        <p:spPr>
          <a:xfrm>
            <a:off x="11663680" y="4023360"/>
            <a:ext cx="2560320" cy="1645920"/>
          </a:xfrm>
          <a:prstGeom prst="roundRect">
            <a:avLst/>
          </a:prstGeom>
          <a:solidFill>
            <a:srgbClr val="1818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11750040" y="4114800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Hiragino Kaku Gothic ProN"/>
              </a:defRPr>
            </a:pPr>
            <a:r>
              <a:t>大橋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1750040" y="4526280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1A5C30"/>
                </a:solidFill>
                <a:latin typeface="Hiragino Kaku Gothic ProN"/>
              </a:defRPr>
            </a:pPr>
            <a:r>
              <a:t>オクシブ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1750040" y="4846320"/>
            <a:ext cx="23774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CCCCCC"/>
                </a:solidFill>
                <a:latin typeface="Hiragino Kaku Gothic ProN"/>
              </a:defRPr>
            </a:pPr>
            <a:r>
              <a:t>管理者リーダー</a:t>
            </a:r>
          </a:p>
        </p:txBody>
      </p:sp>
      <p:sp>
        <p:nvSpPr>
          <p:cNvPr id="54" name="Rectangle 53"/>
          <p:cNvSpPr/>
          <p:nvPr/>
        </p:nvSpPr>
        <p:spPr>
          <a:xfrm>
            <a:off x="274320" y="5943600"/>
            <a:ext cx="50800" cy="1645920"/>
          </a:xfrm>
          <a:prstGeom prst="rect">
            <a:avLst/>
          </a:prstGeom>
          <a:solidFill>
            <a:srgbClr val="1A5C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ounded Rectangle 54"/>
          <p:cNvSpPr/>
          <p:nvPr/>
        </p:nvSpPr>
        <p:spPr>
          <a:xfrm>
            <a:off x="325120" y="5943600"/>
            <a:ext cx="2560320" cy="1645920"/>
          </a:xfrm>
          <a:prstGeom prst="roundRect">
            <a:avLst/>
          </a:prstGeom>
          <a:solidFill>
            <a:srgbClr val="1818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411480" y="6035040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Hiragino Kaku Gothic ProN"/>
              </a:defRPr>
            </a:pPr>
            <a:r>
              <a:t>小川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11480" y="6446520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1A5C30"/>
                </a:solidFill>
                <a:latin typeface="Hiragino Kaku Gothic ProN"/>
              </a:defRPr>
            </a:pPr>
            <a:r>
              <a:t>オクシブ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11480" y="6766560"/>
            <a:ext cx="23774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CCCCCC"/>
                </a:solidFill>
                <a:latin typeface="Hiragino Kaku Gothic ProN"/>
              </a:defRPr>
            </a:pPr>
            <a:r>
              <a:t>参謀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0E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457200"/>
            <a:ext cx="12801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CC0000"/>
                </a:solidFill>
                <a:latin typeface="Helvetica Neue"/>
              </a:defRPr>
            </a:pPr>
            <a:r>
              <a:t>06  LEGEND &amp; SPONSOR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914400"/>
            <a:ext cx="12801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D4A845"/>
                </a:solidFill>
                <a:latin typeface="Hiragino Kaku Gothic ProN"/>
              </a:defRPr>
            </a:pPr>
            <a:r>
              <a:t>伝説の存在 O.K.thanks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011680"/>
            <a:ext cx="12801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CCCCCC"/>
                </a:solidFill>
                <a:latin typeface="Hiragino Kaku Gothic ProN"/>
              </a:defRPr>
            </a:pPr>
            <a:r>
              <a:t>かつて渋谷を統一したチームと対等に渡り合った、もう一つの伝説的存在。</a:t>
            </a:r>
            <a:br/>
            <a:r>
              <a:t>物語の中では「スペシャルサンクス」的に登場し、主人公るいの心に火を灯す。</a:t>
            </a:r>
            <a:br/>
            <a:r>
              <a:t>リアルではプロジェクトのスポンサーとして、新曲がファーストシーズンのテーマ曲に。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14400" y="4114800"/>
            <a:ext cx="5486400" cy="2743200"/>
          </a:xfrm>
          <a:prstGeom prst="roundRect">
            <a:avLst/>
          </a:prstGeom>
          <a:solidFill>
            <a:srgbClr val="18181E"/>
          </a:solidFill>
          <a:ln w="12700">
            <a:solidFill>
              <a:srgbClr val="D4A8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88720" y="438912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D4A845"/>
                </a:solidFill>
                <a:latin typeface="Hiragino Kaku Gothic ProN"/>
              </a:defRPr>
            </a:pPr>
            <a:r>
              <a:t>Mr.K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88720" y="493776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FFFF"/>
                </a:solidFill>
                <a:latin typeface="Hiragino Kaku Gothic ProN"/>
              </a:defRPr>
            </a:pPr>
            <a:r>
              <a:t>火を灯す者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5486400"/>
            <a:ext cx="49377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CCCCCC"/>
                </a:solidFill>
                <a:latin typeface="Hiragino Kaku Gothic ProN"/>
              </a:defRPr>
            </a:pPr>
            <a:r>
              <a:t>第14話でるいが絶望の底にいるとき、路地裏で出会う。</a:t>
            </a:r>
            <a:br/>
            <a:r>
              <a:t>「渋谷はな、誰かが守ろうとする限り、死なねぇよ」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0" y="4114800"/>
            <a:ext cx="5486400" cy="2743200"/>
          </a:xfrm>
          <a:prstGeom prst="roundRect">
            <a:avLst/>
          </a:prstGeom>
          <a:solidFill>
            <a:srgbClr val="18181E"/>
          </a:solidFill>
          <a:ln w="12700">
            <a:solidFill>
              <a:srgbClr val="D4A8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589520" y="438912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D4A845"/>
                </a:solidFill>
                <a:latin typeface="Hiragino Kaku Gothic ProN"/>
              </a:defRPr>
            </a:pPr>
            <a:r>
              <a:t>Mr.O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589520" y="493776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FFFF"/>
                </a:solidFill>
                <a:latin typeface="Hiragino Kaku Gothic ProN"/>
              </a:defRPr>
            </a:pPr>
            <a:r>
              <a:t>風を送る者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589520" y="5486400"/>
            <a:ext cx="49377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CCCCCC"/>
                </a:solidFill>
                <a:latin typeface="Hiragino Kaku Gothic ProN"/>
              </a:defRPr>
            </a:pPr>
            <a:r>
              <a:t>第15話でるいの再起を後押し。カフェの前で</a:t>
            </a:r>
            <a:br/>
            <a:r>
              <a:t>「いい顔してんな」と一言だけ呟いて去る。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7315200"/>
            <a:ext cx="1280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D4A845"/>
                </a:solidFill>
                <a:latin typeface="Hiragino Kaku Gothic ProN"/>
              </a:defRPr>
            </a:pPr>
            <a:r>
              <a:t>♪ テーマ曲: O.K.thanks 新曲  ―  第14話のクライマックスシーンで初披露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0E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457200"/>
            <a:ext cx="12801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CC0000"/>
                </a:solidFill>
                <a:latin typeface="Helvetica Neue"/>
              </a:defRPr>
            </a:pPr>
            <a:r>
              <a:t>07  ROADMAP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914400"/>
            <a:ext cx="12801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Hiragino Kaku Gothic ProN"/>
              </a:defRPr>
            </a:pPr>
            <a:r>
              <a:t>2026-2028 3フェーズ展開計画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2286000"/>
            <a:ext cx="4114800" cy="5029200"/>
          </a:xfrm>
          <a:prstGeom prst="roundRect">
            <a:avLst/>
          </a:prstGeom>
          <a:solidFill>
            <a:srgbClr val="18181E"/>
          </a:solidFill>
          <a:ln w="12700">
            <a:solidFill>
              <a:srgbClr val="CC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246888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CC0000"/>
                </a:solidFill>
                <a:latin typeface="Helvetica Neue"/>
              </a:defRPr>
            </a:pPr>
            <a:r>
              <a:t>PHASE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283464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Helvetica Neue"/>
              </a:defRPr>
            </a:pPr>
            <a:r>
              <a:t>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347472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CC0000"/>
                </a:solidFill>
                <a:latin typeface="Hiragino Kaku Gothic ProN"/>
              </a:defRPr>
            </a:pPr>
            <a:r>
              <a:t>SNS始動・認知拡大</a:t>
            </a:r>
          </a:p>
        </p:txBody>
      </p:sp>
      <p:sp>
        <p:nvSpPr>
          <p:cNvPr id="8" name="Rectangle 7"/>
          <p:cNvSpPr/>
          <p:nvPr/>
        </p:nvSpPr>
        <p:spPr>
          <a:xfrm>
            <a:off x="1005840" y="4023360"/>
            <a:ext cx="3474720" cy="127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4206240"/>
            <a:ext cx="36576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CCCCCC"/>
                </a:solidFill>
                <a:latin typeface="Hiragino Kaku Gothic ProN"/>
              </a:defRPr>
            </a:pPr>
            <a:r>
              <a:t>「学園」ショートムービーを軸にキャラクターを定着。</a:t>
            </a:r>
            <a:br/>
            <a:r>
              <a:t>TGC TEENでデビューお披露目。</a:t>
            </a:r>
            <a:br/>
            <a:r>
              <a:t>SNSオーガニック拡散でコアファン獲得。</a:t>
            </a:r>
            <a:br/>
            <a:r>
              <a:t>ファーストシーズン全20話を展開。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0" y="411480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0">
                <a:solidFill>
                  <a:srgbClr val="888888"/>
                </a:solidFill>
                <a:latin typeface="Helvetica Neue"/>
              </a:defRPr>
            </a:pPr>
            <a:r>
              <a:t>→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303520" y="2286000"/>
            <a:ext cx="4114800" cy="5029200"/>
          </a:xfrm>
          <a:prstGeom prst="roundRect">
            <a:avLst/>
          </a:prstGeom>
          <a:solidFill>
            <a:srgbClr val="18181E"/>
          </a:solidFill>
          <a:ln w="12700">
            <a:solidFill>
              <a:srgbClr val="D4A8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577840" y="246888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D4A845"/>
                </a:solidFill>
                <a:latin typeface="Helvetica Neue"/>
              </a:defRPr>
            </a:pPr>
            <a:r>
              <a:t>PHASE 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77840" y="283464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Helvetica Neue"/>
              </a:defRPr>
            </a:pPr>
            <a:r>
              <a:t>2026-27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577840" y="347472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D4A845"/>
                </a:solidFill>
                <a:latin typeface="Hiragino Kaku Gothic ProN"/>
              </a:defRPr>
            </a:pPr>
            <a:r>
              <a:t>短編映画・メディア連携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577840" y="4023360"/>
            <a:ext cx="3474720" cy="12700"/>
          </a:xfrm>
          <a:prstGeom prst="rect">
            <a:avLst/>
          </a:prstGeom>
          <a:solidFill>
            <a:srgbClr val="D4A8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577840" y="4206240"/>
            <a:ext cx="36576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CCCCCC"/>
                </a:solidFill>
                <a:latin typeface="Hiragino Kaku Gothic ProN"/>
              </a:defRPr>
            </a:pPr>
            <a:r>
              <a:t>渋谷を舞台にした短編映画制作・公開。</a:t>
            </a:r>
            <a:br/>
            <a:r>
              <a:t>地上波番組との連動企画スタート。</a:t>
            </a:r>
            <a:br/>
            <a:r>
              <a:t>ミスターコンテストとの相互送客強化。</a:t>
            </a:r>
            <a:br/>
            <a:r>
              <a:t>ファンクラブ設立。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01200" y="411480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0">
                <a:solidFill>
                  <a:srgbClr val="888888"/>
                </a:solidFill>
                <a:latin typeface="Helvetica Neue"/>
              </a:defRPr>
            </a:pPr>
            <a:r>
              <a:t>→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875520" y="2286000"/>
            <a:ext cx="4114800" cy="5029200"/>
          </a:xfrm>
          <a:prstGeom prst="roundRect">
            <a:avLst/>
          </a:prstGeom>
          <a:solidFill>
            <a:srgbClr val="18181E"/>
          </a:solidFill>
          <a:ln w="12700">
            <a:solidFill>
              <a:srgbClr val="6B2D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149840" y="246888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6B2D8B"/>
                </a:solidFill>
                <a:latin typeface="Helvetica Neue"/>
              </a:defRPr>
            </a:pPr>
            <a:r>
              <a:t>PHASE 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149840" y="283464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Helvetica Neue"/>
              </a:defRPr>
            </a:pPr>
            <a:r>
              <a:t>2027-28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149840" y="347472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6B2D8B"/>
                </a:solidFill>
                <a:latin typeface="Hiragino Kaku Gothic ProN"/>
              </a:defRPr>
            </a:pPr>
            <a:r>
              <a:t>IP確立・No.1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0149840" y="4023360"/>
            <a:ext cx="3474720" cy="12700"/>
          </a:xfrm>
          <a:prstGeom prst="rect">
            <a:avLst/>
          </a:prstGeom>
          <a:solidFill>
            <a:srgbClr val="6B2D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149840" y="4206240"/>
            <a:ext cx="36576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CCCCCC"/>
                </a:solidFill>
                <a:latin typeface="Hiragino Kaku Gothic ProN"/>
              </a:defRPr>
            </a:pPr>
            <a:r>
              <a:t>地上波レギュラー番組放送開始。</a:t>
            </a:r>
            <a:br/>
            <a:r>
              <a:t>大手サブスクPFでの独占配信。</a:t>
            </a:r>
            <a:br/>
            <a:r>
              <a:t>メンズ芸能部門シェア1位獲得。</a:t>
            </a:r>
            <a:br/>
            <a:r>
              <a:t>100億円規模のIP価値創出。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0E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457200"/>
            <a:ext cx="12801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CC0000"/>
                </a:solidFill>
                <a:latin typeface="Helvetica Neue"/>
              </a:defRPr>
            </a:pPr>
            <a:r>
              <a:t>08  KPI &amp; BUDGET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914400"/>
            <a:ext cx="12801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Hiragino Kaku Gothic ProN"/>
              </a:defRPr>
            </a:pPr>
            <a:r>
              <a:t>KPI・成功指標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2286000"/>
            <a:ext cx="3108960" cy="3200400"/>
          </a:xfrm>
          <a:prstGeom prst="roundRect">
            <a:avLst/>
          </a:prstGeom>
          <a:solidFill>
            <a:srgbClr val="18181E"/>
          </a:solidFill>
          <a:ln w="12700">
            <a:solidFill>
              <a:srgbClr val="CC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2560320"/>
            <a:ext cx="2743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800" b="1">
                <a:solidFill>
                  <a:srgbClr val="CC0000"/>
                </a:solidFill>
                <a:latin typeface="Helvetica Neue"/>
              </a:defRPr>
            </a:pPr>
            <a:r>
              <a:t>¥100億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65760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Hiragino Kaku Gothic ProN"/>
              </a:defRPr>
            </a:pPr>
            <a:r>
              <a:t>IP VALUE TARGET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20624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888888"/>
                </a:solidFill>
                <a:latin typeface="Hiragino Kaku Gothic ProN"/>
              </a:defRPr>
            </a:pPr>
            <a:r>
              <a:t>2028年のIP価値目標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931920" y="2286000"/>
            <a:ext cx="3108960" cy="3200400"/>
          </a:xfrm>
          <a:prstGeom prst="roundRect">
            <a:avLst/>
          </a:prstGeom>
          <a:solidFill>
            <a:srgbClr val="18181E"/>
          </a:solidFill>
          <a:ln w="12700">
            <a:solidFill>
              <a:srgbClr val="CC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114800" y="2560320"/>
            <a:ext cx="2743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800" b="1">
                <a:solidFill>
                  <a:srgbClr val="CC0000"/>
                </a:solidFill>
                <a:latin typeface="Helvetica Neue"/>
              </a:defRPr>
            </a:pPr>
            <a:r>
              <a:t>100万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0" y="365760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Hiragino Kaku Gothic ProN"/>
              </a:defRPr>
            </a:pPr>
            <a:r>
              <a:t>YouTube登録者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0" y="420624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888888"/>
                </a:solidFill>
                <a:latin typeface="Hiragino Kaku Gothic ProN"/>
              </a:defRPr>
            </a:pPr>
            <a:r>
              <a:t>チャンネル登録者数目標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406640" y="2286000"/>
            <a:ext cx="3108960" cy="3200400"/>
          </a:xfrm>
          <a:prstGeom prst="roundRect">
            <a:avLst/>
          </a:prstGeom>
          <a:solidFill>
            <a:srgbClr val="18181E"/>
          </a:solidFill>
          <a:ln w="12700">
            <a:solidFill>
              <a:srgbClr val="CC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589520" y="2560320"/>
            <a:ext cx="2743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800" b="1">
                <a:solidFill>
                  <a:srgbClr val="CC0000"/>
                </a:solidFill>
                <a:latin typeface="Helvetica Neue"/>
              </a:defRPr>
            </a:pPr>
            <a:r>
              <a:t>No.1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589520" y="365760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Hiragino Kaku Gothic ProN"/>
              </a:defRPr>
            </a:pPr>
            <a:r>
              <a:t>メンズ芸能部門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589520" y="420624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888888"/>
                </a:solidFill>
                <a:latin typeface="Hiragino Kaku Gothic ProN"/>
              </a:defRPr>
            </a:pPr>
            <a:r>
              <a:t>2028年シェア1位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0881359" y="2286000"/>
            <a:ext cx="3108960" cy="3200400"/>
          </a:xfrm>
          <a:prstGeom prst="roundRect">
            <a:avLst/>
          </a:prstGeom>
          <a:solidFill>
            <a:srgbClr val="18181E"/>
          </a:solidFill>
          <a:ln w="12700">
            <a:solidFill>
              <a:srgbClr val="CC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064239" y="2560320"/>
            <a:ext cx="2743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800" b="1">
                <a:solidFill>
                  <a:srgbClr val="CC0000"/>
                </a:solidFill>
                <a:latin typeface="Helvetica Neue"/>
              </a:defRPr>
            </a:pPr>
            <a:r>
              <a:t>300万/月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064239" y="365760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Hiragino Kaku Gothic ProN"/>
              </a:defRPr>
            </a:pPr>
            <a:r>
              <a:t>月次制作予算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064239" y="420624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888888"/>
                </a:solidFill>
                <a:latin typeface="Hiragino Kaku Gothic ProN"/>
              </a:defRPr>
            </a:pPr>
            <a:r>
              <a:t>コンテンツ制作費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4400" y="5943600"/>
            <a:ext cx="1280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Hiragino Kaku Gothic ProN"/>
              </a:defRPr>
            </a:pPr>
            <a:r>
              <a:t>競合優位性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88720" y="6492240"/>
            <a:ext cx="1188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CCCCC"/>
                </a:solidFill>
                <a:latin typeface="Hiragino Kaku Gothic ProN"/>
              </a:defRPr>
            </a:pPr>
            <a:r>
              <a:t>① 渋谷という圧倒的ブランド — 若者文化の聖地、国内外への訴求力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88720" y="6903720"/>
            <a:ext cx="1188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CCCCC"/>
                </a:solidFill>
                <a:latin typeface="Hiragino Kaku Gothic ProN"/>
              </a:defRPr>
            </a:pPr>
            <a:r>
              <a:t>② Z・α世代女性の消費行動 — 「推し」への課金文化、LTV最大化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88720" y="7315200"/>
            <a:ext cx="1188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CCCCC"/>
                </a:solidFill>
                <a:latin typeface="Hiragino Kaku Gothic ProN"/>
              </a:defRPr>
            </a:pPr>
            <a:r>
              <a:t>③ HJの独自ネットワーク — ミスコン × TGC TEEN × 地上波の唯一無二の組み合わせ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0E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29200" y="2926080"/>
            <a:ext cx="4572000" cy="76200"/>
          </a:xfrm>
          <a:prstGeom prst="round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828800" y="182880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CC0000"/>
                </a:solidFill>
                <a:latin typeface="Helvetica Neue"/>
              </a:defRPr>
            </a:pPr>
            <a:r>
              <a:t>2028 GOAL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28800" y="3200400"/>
            <a:ext cx="10972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5400" b="1">
                <a:solidFill>
                  <a:srgbClr val="FFFFFF"/>
                </a:solidFill>
                <a:latin typeface="Hiragino Kaku Gothic ProN"/>
              </a:defRPr>
            </a:pPr>
            <a:r>
              <a:t>渋一（シブワン）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828800" y="457200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0">
                <a:solidFill>
                  <a:srgbClr val="CCCCCC"/>
                </a:solidFill>
                <a:latin typeface="Hiragino Kaku Gothic ProN"/>
              </a:defRPr>
            </a:pPr>
            <a:r>
              <a:t>日本最大のメンズIP創出装置へ。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0" y="5303520"/>
            <a:ext cx="4572000" cy="76200"/>
          </a:xfrm>
          <a:prstGeom prst="round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828800" y="594360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D4A845"/>
                </a:solidFill>
                <a:latin typeface="Hiragino Kaku Gothic ProN"/>
              </a:defRPr>
            </a:pPr>
            <a:r>
              <a:t>テーマ曲: O.K.thanks 新曲  |  スポンサー: O.K.thanks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8800" y="68580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555555"/>
                </a:solidFill>
                <a:latin typeface="Hiragino Kaku Gothic ProN"/>
              </a:defRPr>
            </a:pPr>
            <a:r>
              <a:t>CONFIDENTIAL © HJ Inc. All Rights Reserved.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